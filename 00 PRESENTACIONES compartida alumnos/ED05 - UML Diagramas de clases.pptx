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6" r:id="rId1"/>
  </p:sldMasterIdLst>
  <p:notesMasterIdLst>
    <p:notesMasterId r:id="rId25"/>
  </p:notesMasterIdLst>
  <p:handoutMasterIdLst>
    <p:handoutMasterId r:id="rId26"/>
  </p:handoutMasterIdLst>
  <p:sldIdLst>
    <p:sldId id="256" r:id="rId2"/>
    <p:sldId id="314" r:id="rId3"/>
    <p:sldId id="363" r:id="rId4"/>
    <p:sldId id="347" r:id="rId5"/>
    <p:sldId id="364" r:id="rId6"/>
    <p:sldId id="350" r:id="rId7"/>
    <p:sldId id="354" r:id="rId8"/>
    <p:sldId id="355" r:id="rId9"/>
    <p:sldId id="351" r:id="rId10"/>
    <p:sldId id="361" r:id="rId11"/>
    <p:sldId id="327" r:id="rId12"/>
    <p:sldId id="367" r:id="rId13"/>
    <p:sldId id="328" r:id="rId14"/>
    <p:sldId id="329" r:id="rId15"/>
    <p:sldId id="330" r:id="rId16"/>
    <p:sldId id="332" r:id="rId17"/>
    <p:sldId id="362" r:id="rId18"/>
    <p:sldId id="368" r:id="rId19"/>
    <p:sldId id="366" r:id="rId20"/>
    <p:sldId id="348" r:id="rId21"/>
    <p:sldId id="365" r:id="rId22"/>
    <p:sldId id="369" r:id="rId23"/>
    <p:sldId id="302" r:id="rId24"/>
  </p:sldIdLst>
  <p:sldSz cx="9144000" cy="6858000" type="screen4x3"/>
  <p:notesSz cx="10234613" cy="7104063"/>
  <p:embeddedFontLst>
    <p:embeddedFont>
      <p:font typeface="Trebuchet MS" panose="020B0603020202020204" pitchFamily="34" charset="0"/>
      <p:regular r:id="rId27"/>
      <p:bold r:id="rId28"/>
      <p:italic r:id="rId29"/>
      <p:boldItalic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47385B8-8C62-4854-B1B9-CD5033358939}">
          <p14:sldIdLst>
            <p14:sldId id="256"/>
          </p14:sldIdLst>
        </p14:section>
        <p14:section name="CONTENIDO" id="{A7719EAC-2FEC-43A1-A51F-3CEBCD789471}">
          <p14:sldIdLst>
            <p14:sldId id="314"/>
            <p14:sldId id="363"/>
            <p14:sldId id="347"/>
            <p14:sldId id="364"/>
            <p14:sldId id="350"/>
            <p14:sldId id="354"/>
            <p14:sldId id="355"/>
            <p14:sldId id="351"/>
            <p14:sldId id="361"/>
          </p14:sldIdLst>
        </p14:section>
        <p14:section name="Diagramas de clases" id="{3F1832EB-7067-408E-A7FD-A7A96844D2A7}">
          <p14:sldIdLst>
            <p14:sldId id="327"/>
            <p14:sldId id="367"/>
            <p14:sldId id="328"/>
            <p14:sldId id="329"/>
            <p14:sldId id="330"/>
            <p14:sldId id="332"/>
            <p14:sldId id="362"/>
            <p14:sldId id="368"/>
            <p14:sldId id="366"/>
            <p14:sldId id="348"/>
            <p14:sldId id="365"/>
            <p14:sldId id="369"/>
          </p14:sldIdLst>
        </p14:section>
        <p14:section name="RECURSOS" id="{5A9A2E12-7646-41F5-A12A-BD84E5FDFE69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18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3F3F8B-DCA6-FAF0-4A92-A6BBBBCD913E}" name="Miguel" initials="M" userId="Miguel" providerId="None"/>
  <p188:author id="{977F47D7-07F1-85A1-7633-049FB299B8FA}" name="MIGUEL TRIGUEROS MUÑOZ" initials="MT" userId="S::MIGUEL.TRIGUEROS@aulaxxi.murciaeduca.es::a4ee0321-97d7-430f-98a8-7ed13ff9a4b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guel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1D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461E6-2C25-869D-4C9A-1017D71EFFF2}" v="42" dt="2026-02-15T11:49:53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32" autoAdjust="0"/>
    <p:restoredTop sz="71822" autoAdjust="0"/>
  </p:normalViewPr>
  <p:slideViewPr>
    <p:cSldViewPr snapToGrid="0">
      <p:cViewPr varScale="1">
        <p:scale>
          <a:sx n="51" d="100"/>
          <a:sy n="51" d="100"/>
        </p:scale>
        <p:origin x="250" y="269"/>
      </p:cViewPr>
      <p:guideLst>
        <p:guide orient="horz" pos="3168"/>
        <p:guide pos="1836"/>
      </p:guideLst>
    </p:cSldViewPr>
  </p:slideViewPr>
  <p:outlineViewPr>
    <p:cViewPr>
      <p:scale>
        <a:sx n="33" d="100"/>
        <a:sy n="33" d="100"/>
      </p:scale>
      <p:origin x="0" y="-1835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179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TRIGUEROS MUÑOZ" userId="S::miguel.trigueros@aulaxxi.murciaeduca.es::a4ee0321-97d7-430f-98a8-7ed13ff9a4bf" providerId="AD" clId="Web-{C32461E6-2C25-869D-4C9A-1017D71EFFF2}"/>
    <pc:docChg chg="modSld">
      <pc:chgData name="MIGUEL TRIGUEROS MUÑOZ" userId="S::miguel.trigueros@aulaxxi.murciaeduca.es::a4ee0321-97d7-430f-98a8-7ed13ff9a4bf" providerId="AD" clId="Web-{C32461E6-2C25-869D-4C9A-1017D71EFFF2}" dt="2026-02-15T11:49:53.620" v="146" actId="20577"/>
      <pc:docMkLst>
        <pc:docMk/>
      </pc:docMkLst>
      <pc:sldChg chg="modSp modNotes">
        <pc:chgData name="MIGUEL TRIGUEROS MUÑOZ" userId="S::miguel.trigueros@aulaxxi.murciaeduca.es::a4ee0321-97d7-430f-98a8-7ed13ff9a4bf" providerId="AD" clId="Web-{C32461E6-2C25-869D-4C9A-1017D71EFFF2}" dt="2026-02-15T11:49:53.620" v="146" actId="20577"/>
        <pc:sldMkLst>
          <pc:docMk/>
          <pc:sldMk cId="1498135890" sldId="329"/>
        </pc:sldMkLst>
        <pc:spChg chg="mod">
          <ac:chgData name="MIGUEL TRIGUEROS MUÑOZ" userId="S::miguel.trigueros@aulaxxi.murciaeduca.es::a4ee0321-97d7-430f-98a8-7ed13ff9a4bf" providerId="AD" clId="Web-{C32461E6-2C25-869D-4C9A-1017D71EFFF2}" dt="2026-02-15T11:49:53.620" v="146" actId="20577"/>
          <ac:spMkLst>
            <pc:docMk/>
            <pc:sldMk cId="1498135890" sldId="329"/>
            <ac:spMk id="3" creationId="{BBD2C6B3-99D2-B9CC-5F50-ADD31ADFF127}"/>
          </ac:spMkLst>
        </pc:spChg>
        <pc:picChg chg="mod">
          <ac:chgData name="MIGUEL TRIGUEROS MUÑOZ" userId="S::miguel.trigueros@aulaxxi.murciaeduca.es::a4ee0321-97d7-430f-98a8-7ed13ff9a4bf" providerId="AD" clId="Web-{C32461E6-2C25-869D-4C9A-1017D71EFFF2}" dt="2026-02-15T11:48:07.584" v="32" actId="1076"/>
          <ac:picMkLst>
            <pc:docMk/>
            <pc:sldMk cId="1498135890" sldId="329"/>
            <ac:picMk id="6" creationId="{A1A97C83-3A42-486E-E145-16C2A4B77FBB}"/>
          </ac:picMkLst>
        </pc:picChg>
      </pc:sldChg>
    </pc:docChg>
  </pc:docChgLst>
  <pc:docChgLst>
    <pc:chgData name="MIGUEL TRIGUEROS MUÑOZ" userId="S::miguel.trigueros@aulaxxi.murciaeduca.es::a4ee0321-97d7-430f-98a8-7ed13ff9a4bf" providerId="AD" clId="Web-{64D2F8E1-2E23-A18C-16A4-DF1CAE15C94F}"/>
    <pc:docChg chg="modSld addSection delSection">
      <pc:chgData name="MIGUEL TRIGUEROS MUÑOZ" userId="S::miguel.trigueros@aulaxxi.murciaeduca.es::a4ee0321-97d7-430f-98a8-7ed13ff9a4bf" providerId="AD" clId="Web-{64D2F8E1-2E23-A18C-16A4-DF1CAE15C94F}" dt="2026-02-02T09:19:35.767" v="42" actId="20577"/>
      <pc:docMkLst>
        <pc:docMk/>
      </pc:docMkLst>
      <pc:sldChg chg="modSp">
        <pc:chgData name="MIGUEL TRIGUEROS MUÑOZ" userId="S::miguel.trigueros@aulaxxi.murciaeduca.es::a4ee0321-97d7-430f-98a8-7ed13ff9a4bf" providerId="AD" clId="Web-{64D2F8E1-2E23-A18C-16A4-DF1CAE15C94F}" dt="2026-02-02T09:14:31.117" v="10" actId="20577"/>
        <pc:sldMkLst>
          <pc:docMk/>
          <pc:sldMk cId="1662085430" sldId="302"/>
        </pc:sldMkLst>
        <pc:spChg chg="mod">
          <ac:chgData name="MIGUEL TRIGUEROS MUÑOZ" userId="S::miguel.trigueros@aulaxxi.murciaeduca.es::a4ee0321-97d7-430f-98a8-7ed13ff9a4bf" providerId="AD" clId="Web-{64D2F8E1-2E23-A18C-16A4-DF1CAE15C94F}" dt="2026-02-02T09:14:31.117" v="10" actId="20577"/>
          <ac:spMkLst>
            <pc:docMk/>
            <pc:sldMk cId="1662085430" sldId="302"/>
            <ac:spMk id="5" creationId="{2E672CE3-414F-1E3C-9928-F4B6B7568735}"/>
          </ac:spMkLst>
        </pc:spChg>
      </pc:sldChg>
      <pc:sldChg chg="modSp">
        <pc:chgData name="MIGUEL TRIGUEROS MUÑOZ" userId="S::miguel.trigueros@aulaxxi.murciaeduca.es::a4ee0321-97d7-430f-98a8-7ed13ff9a4bf" providerId="AD" clId="Web-{64D2F8E1-2E23-A18C-16A4-DF1CAE15C94F}" dt="2026-02-02T09:19:35.767" v="42" actId="20577"/>
        <pc:sldMkLst>
          <pc:docMk/>
          <pc:sldMk cId="692600546" sldId="367"/>
        </pc:sldMkLst>
        <pc:spChg chg="mod">
          <ac:chgData name="MIGUEL TRIGUEROS MUÑOZ" userId="S::miguel.trigueros@aulaxxi.murciaeduca.es::a4ee0321-97d7-430f-98a8-7ed13ff9a4bf" providerId="AD" clId="Web-{64D2F8E1-2E23-A18C-16A4-DF1CAE15C94F}" dt="2026-02-02T09:19:16.955" v="23" actId="20577"/>
          <ac:spMkLst>
            <pc:docMk/>
            <pc:sldMk cId="692600546" sldId="367"/>
            <ac:spMk id="2" creationId="{A470792D-9AB3-0D96-3133-F32280B9759B}"/>
          </ac:spMkLst>
        </pc:spChg>
        <pc:spChg chg="mod">
          <ac:chgData name="MIGUEL TRIGUEROS MUÑOZ" userId="S::miguel.trigueros@aulaxxi.murciaeduca.es::a4ee0321-97d7-430f-98a8-7ed13ff9a4bf" providerId="AD" clId="Web-{64D2F8E1-2E23-A18C-16A4-DF1CAE15C94F}" dt="2026-02-02T09:19:35.767" v="42" actId="20577"/>
          <ac:spMkLst>
            <pc:docMk/>
            <pc:sldMk cId="692600546" sldId="367"/>
            <ac:spMk id="9" creationId="{6E43A624-A297-B505-0E9E-A974120BB17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081A56-CC7C-E6A3-8C00-AB421FDCFD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4E5AF2-5A5A-3388-D92E-DA016151F9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6949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FAE3-5837-4C1B-BC4B-90063F16532C}" type="datetimeFigureOut">
              <a:rPr lang="es-ES" smtClean="0"/>
              <a:t>15/02/2026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263E9F-C8DC-1F97-AA62-4AAB5BD36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E984C9-C433-F37D-714F-A22D319DF6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6949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2C0DB-E44F-4629-AD09-AAD10AC79FD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26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796949" y="0"/>
            <a:ext cx="4434999" cy="3568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425FF-1B7F-4E8F-BB9C-39A442C619BF}" type="datetimeFigureOut">
              <a:rPr lang="es-ES" smtClean="0"/>
              <a:t>15/02/2026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519488" y="887413"/>
            <a:ext cx="3195637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23462" y="3418831"/>
            <a:ext cx="8187690" cy="279722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796949" y="6747216"/>
            <a:ext cx="4434999" cy="3568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87428-8AF8-455B-BDC9-B299B46AA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47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00" dirty="0"/>
              <a:t>Antes de los cimientos, hacemos los </a:t>
            </a:r>
            <a:r>
              <a:rPr lang="es-ES" sz="4400" dirty="0"/>
              <a:t>planos</a:t>
            </a:r>
            <a:r>
              <a:rPr lang="es-ES" sz="800" dirty="0"/>
              <a:t>: para transmitir el diseño a quien lo va a construir, pero también para reflexionar sobre lo que se quiere (los planos se pueden rehacer más fácilmente)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84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Buscar en la web ejemplos de diagramas de clases y compartir con los compañeros las características extraídas por cada alumno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5423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orden nombre: Tipo o Tipo: nombre no está en el UML, solo es importante ser consistente</a:t>
            </a:r>
          </a:p>
          <a:p>
            <a:r>
              <a:rPr lang="es-ES" dirty="0"/>
              <a:t>Sin embargo, considero que la notación </a:t>
            </a:r>
            <a:r>
              <a:rPr lang="es-ES" b="1" i="1" dirty="0"/>
              <a:t>nombre: Tipo y hacer(): Tipo </a:t>
            </a:r>
            <a:r>
              <a:rPr lang="es-ES" dirty="0"/>
              <a:t>es lo más natural y comprensible.</a:t>
            </a:r>
          </a:p>
          <a:p>
            <a:r>
              <a:rPr lang="es-ES" dirty="0"/>
              <a:t>Es importante seguir las convenciones del equipo y estas son nuestras convenciones.</a:t>
            </a:r>
          </a:p>
          <a:p>
            <a:r>
              <a:rPr lang="es-ES" dirty="0"/>
              <a:t>Tb podemos ver </a:t>
            </a:r>
            <a:r>
              <a:rPr lang="es-ES" dirty="0" err="1"/>
              <a:t>metodo</a:t>
            </a:r>
            <a:r>
              <a:rPr lang="es-ES" dirty="0"/>
              <a:t>(</a:t>
            </a:r>
            <a:r>
              <a:rPr lang="es-ES" dirty="0" err="1"/>
              <a:t>int:edad</a:t>
            </a:r>
            <a:r>
              <a:rPr lang="es-ES" dirty="0"/>
              <a:t>), es aceptado. </a:t>
            </a:r>
            <a:r>
              <a:rPr lang="es-ES"/>
              <a:t>Se prefiere metodo</a:t>
            </a:r>
            <a:r>
              <a:rPr lang="es-ES" dirty="0"/>
              <a:t>(</a:t>
            </a:r>
            <a:r>
              <a:rPr lang="es-ES" dirty="0" err="1"/>
              <a:t>int</a:t>
            </a:r>
            <a:r>
              <a:rPr lang="es-ES" dirty="0"/>
              <a:t>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178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0175-3412-BD9A-F2FE-CB0BDFE1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E0D263-C736-EF23-09BD-64ED1684D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E6065C-8F3D-884F-DF0B-FE34A5491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96562-9766-2A90-1B51-ECA8EC1AE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647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¿Qué implica en el código una asociación?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1214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s-ES" dirty="0"/>
              <a:t>¿Qué implica en el código una Agregación? En la </a:t>
            </a:r>
            <a:r>
              <a:rPr lang="es-ES" dirty="0" err="1"/>
              <a:t>diapsitiva</a:t>
            </a:r>
            <a:r>
              <a:rPr lang="es-ES" dirty="0"/>
              <a:t> se muestra el código creando las instancias en el </a:t>
            </a:r>
            <a:r>
              <a:rPr lang="es-ES" dirty="0" err="1"/>
              <a:t>Main</a:t>
            </a:r>
            <a:r>
              <a:rPr lang="es-ES" dirty="0"/>
              <a:t>, es interesante ver cómo afectan las relaciones de agregación y composición a los Constructores() o a métodos del tipo </a:t>
            </a:r>
            <a:r>
              <a:rPr lang="es-ES" dirty="0" err="1"/>
              <a:t>añadirBarco</a:t>
            </a:r>
            <a:r>
              <a:rPr lang="es-ES" dirty="0"/>
              <a:t>()...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029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¿Qué implica en el código una Composición?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474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¿Qué ventajas tiene el lápiz frente al boli?</a:t>
            </a:r>
          </a:p>
          <a:p>
            <a:r>
              <a:rPr lang="es-ES" dirty="0"/>
              <a:t>¿Y un anuncio publicitario en una web o impreso?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4545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B5C9-6419-9046-BFFE-A38E578B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44014B-FACB-87E8-6F22-2DC96E871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1613F7-0544-0DD8-A44A-AD1AF2DA0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7E97AF-A482-36AF-D6FA-88AD0F816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0303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3339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347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516D-8E3E-2BAF-9EBD-CFD14680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49D23C-8B06-5DE1-3BC0-0138ABF66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575F11-B38B-22A6-7B0C-FE1E9F649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ADD981-C29E-4056-4289-45F3D828D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428-8AF8-455B-BDC9-B299B46AA1EA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6538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452" y="6318780"/>
            <a:ext cx="51263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982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448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i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8707438" cy="5710555"/>
          </a:xfrm>
        </p:spPr>
        <p:txBody>
          <a:bodyPr/>
          <a:lstStyle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7623363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042BE952-E59C-5FD1-133D-D2CA76C441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5" y="738161"/>
            <a:ext cx="8980860" cy="337025"/>
          </a:xfrm>
          <a:solidFill>
            <a:srgbClr val="99C63D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sz="16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1147763"/>
            <a:ext cx="8707438" cy="5446712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056809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rPr lang="es-ES" dirty="0"/>
              <a:t>TAREA X</a:t>
            </a:r>
            <a:endParaRPr lang="en-US" dirty="0"/>
          </a:p>
        </p:txBody>
      </p:sp>
      <p:pic>
        <p:nvPicPr>
          <p:cNvPr id="3" name="Gráfico 2" descr="Bandeja de entrada marcada contorno">
            <a:extLst>
              <a:ext uri="{FF2B5EF4-FFF2-40B4-BE49-F238E27FC236}">
                <a16:creationId xmlns:a16="http://schemas.microsoft.com/office/drawing/2014/main" id="{6B4C136E-AFD5-F617-9436-896E0EA7B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636" y="152399"/>
            <a:ext cx="1149927" cy="114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4722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F3DA8F42-B3BB-41A1-AB4E-8617CD9BC17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897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EC685CC9-6004-4391-A195-A2D4DFB5034A}" type="datetime1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6395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2DED-1971-464D-AC83-85410DCF904F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437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1FF4-63D7-4E0C-B192-FD104AB33BF2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3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AE3049DF-A480-77B0-C1C9-F6A157F3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ACB1A6C2-4497-4021-B992-BC7E2DD17ECA}" type="datetime1">
              <a:rPr lang="en-US" smtClean="0"/>
              <a:t>2/15/2026</a:t>
            </a:fld>
            <a:endParaRPr lang="en-US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100B48C-AFC7-6B3E-350F-D289CA0F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2A13A0AB-4612-F620-3EED-C60DF995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A1E5D97F-AFB0-796F-E6AF-47B0045F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5170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82" y="1"/>
            <a:ext cx="8032580" cy="7019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8222" y="615677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589B1CF-02D4-4456-3BF5-4299A2F5FF62}"/>
              </a:ext>
            </a:extLst>
          </p:cNvPr>
          <p:cNvSpPr txBox="1">
            <a:spLocks/>
          </p:cNvSpPr>
          <p:nvPr/>
        </p:nvSpPr>
        <p:spPr>
          <a:xfrm>
            <a:off x="-10311" y="6677891"/>
            <a:ext cx="8209431" cy="188576"/>
          </a:xfrm>
          <a:prstGeom prst="rect">
            <a:avLst/>
          </a:prstGeom>
          <a:solidFill>
            <a:srgbClr val="8CBF2D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800" dirty="0"/>
              <a:t>05 UML</a:t>
            </a:r>
            <a:endParaRPr lang="en-US" sz="800" dirty="0"/>
          </a:p>
        </p:txBody>
      </p:sp>
      <p:pic>
        <p:nvPicPr>
          <p:cNvPr id="4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2AB01679-01BB-FAD3-19FD-315CB7440E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372" y="6396288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0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69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stackoverflow.com/questions/40449691/where-to-put-aggregation-and-composition-symbols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quitecturaacademica.com/planos-arquitectonicos/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innaturale.com/casa-ecologica-i-nuovi-trend-in-arrivo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naturale.com/casa-ecologica-i-nuovi-trend-in-arrivo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quitecturaacademica.com/planos-arquitectonicos/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mlet.com/" TargetMode="External"/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ruml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B5ACD-B995-716B-F5F7-1C14289F14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s-ES" dirty="0"/>
              <a:t>08: UML DIAGRAMAS DE ESTADO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64605AA8-6BF8-6FAF-96AB-AEA8903E1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D5F8D1-79D3-855C-8A68-4E565138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163AF1D7-99DA-EAC5-BC03-9B1BE7C81353}"/>
              </a:ext>
            </a:extLst>
          </p:cNvPr>
          <p:cNvSpPr txBox="1"/>
          <p:nvPr/>
        </p:nvSpPr>
        <p:spPr>
          <a:xfrm>
            <a:off x="1130595" y="5606236"/>
            <a:ext cx="3912449" cy="1057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4"/>
              </a:lnSpc>
            </a:pPr>
            <a:r>
              <a:rPr lang="es-ES" sz="1400" dirty="0">
                <a:solidFill>
                  <a:schemeClr val="accent4"/>
                </a:solidFill>
                <a:latin typeface="MDUHDN+Century Gothic"/>
                <a:cs typeface="MDUHDN+Century Gothic"/>
              </a:rPr>
              <a:t>Miguel Trigueros Muñoz</a:t>
            </a:r>
          </a:p>
          <a:p>
            <a:pPr>
              <a:lnSpc>
                <a:spcPts val="2144"/>
              </a:lnSpc>
            </a:pPr>
            <a:r>
              <a:rPr lang="es-ES" sz="1400" dirty="0">
                <a:solidFill>
                  <a:schemeClr val="accent4"/>
                </a:solidFill>
                <a:latin typeface="MDUHDN+Century Gothic"/>
                <a:cs typeface="MDUHDN+Century Gothic"/>
              </a:rPr>
              <a:t>Versión 25</a:t>
            </a:r>
          </a:p>
          <a:p>
            <a:pPr>
              <a:lnSpc>
                <a:spcPts val="2144"/>
              </a:lnSpc>
            </a:pPr>
            <a:r>
              <a:rPr lang="es-ES" sz="1400" dirty="0">
                <a:solidFill>
                  <a:schemeClr val="accent4"/>
                </a:solidFill>
                <a:latin typeface="MDUHDN+Century Gothic"/>
                <a:cs typeface="MDUHDN+Century Gothic"/>
              </a:rPr>
              <a:t>Licencia CC BY NC SA 4.0</a:t>
            </a:r>
          </a:p>
          <a:p>
            <a:pPr>
              <a:lnSpc>
                <a:spcPts val="2144"/>
              </a:lnSpc>
            </a:pPr>
            <a:endParaRPr sz="1400" dirty="0">
              <a:solidFill>
                <a:schemeClr val="accent4"/>
              </a:solidFill>
              <a:latin typeface="MDUHDN+Century Gothic"/>
              <a:cs typeface="MDUHDN+Century Gothic"/>
            </a:endParaRPr>
          </a:p>
        </p:txBody>
      </p:sp>
      <p:pic>
        <p:nvPicPr>
          <p:cNvPr id="3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B4540A4D-DE5D-DF8E-FCB1-EB54AB7AC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12" y="6134875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 descr="Diagrama&#10;&#10;Descripción generada automáticamente">
            <a:extLst>
              <a:ext uri="{FF2B5EF4-FFF2-40B4-BE49-F238E27FC236}">
                <a16:creationId xmlns:a16="http://schemas.microsoft.com/office/drawing/2014/main" id="{ADF63C5B-BE0F-E937-B8B1-A9FA65EE01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400800" y="1"/>
            <a:ext cx="2743200" cy="19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C1A339-732B-8D83-F81F-7922540B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E806B4-64A7-7098-4FE2-E40610F1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810F6F-DB2A-ED7D-6A72-27AB303FFA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067040" cy="5972683"/>
          </a:xfrm>
        </p:spPr>
        <p:txBody>
          <a:bodyPr/>
          <a:lstStyle/>
          <a:p>
            <a:r>
              <a:rPr lang="es-ES" dirty="0"/>
              <a:t>LO QUE TENEMOS QUE SABER</a:t>
            </a:r>
          </a:p>
          <a:p>
            <a:pPr lvl="1"/>
            <a:r>
              <a:rPr lang="es-ES" dirty="0"/>
              <a:t>5.b	Se han utilizado herramientas para la elaboración de diagramas de clases.</a:t>
            </a:r>
          </a:p>
          <a:p>
            <a:pPr lvl="1"/>
            <a:r>
              <a:rPr lang="es-ES" dirty="0"/>
              <a:t>5.c	Se ha interpretado el significado de diagramas de clases.</a:t>
            </a:r>
          </a:p>
          <a:p>
            <a:pPr lvl="1"/>
            <a:r>
              <a:rPr lang="es-ES" dirty="0"/>
              <a:t>5.d	Se han trazado diagramas de clases a partir de las especificaciones de estas.</a:t>
            </a:r>
          </a:p>
          <a:p>
            <a:pPr lvl="1"/>
            <a:r>
              <a:rPr lang="es-ES" dirty="0"/>
              <a:t>5.e	Se ha generado código a partir de un diagrama de clases.</a:t>
            </a:r>
          </a:p>
          <a:p>
            <a:pPr lvl="1"/>
            <a:r>
              <a:rPr lang="es-ES" dirty="0"/>
              <a:t>5.f	Se ha generado un diagrama de clases mediante ingeniería inversa.</a:t>
            </a:r>
          </a:p>
          <a:p>
            <a:endParaRPr lang="es-ES" dirty="0"/>
          </a:p>
          <a:p>
            <a:r>
              <a:rPr lang="es-ES" dirty="0"/>
              <a:t>PARA ESO TENEMOS QUE SABER CÓMO SE DIBUJAN LOS DIAGRAMAS DE CLASES</a:t>
            </a:r>
          </a:p>
        </p:txBody>
      </p:sp>
    </p:spTree>
    <p:extLst>
      <p:ext uri="{BB962C8B-B14F-4D97-AF65-F5344CB8AC3E}">
        <p14:creationId xmlns:p14="http://schemas.microsoft.com/office/powerpoint/2010/main" val="745458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90D7F-8495-E9E0-E3B4-A0371B43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DE08A4-98F8-00AB-DECB-9810D4ECF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0FB7DB-CD59-FAEB-19A8-4EAB6340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145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305DA4-FF2F-7AC4-FA80-320A1411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2CF12D-988F-B563-F1F6-C481FD993F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Modelizar es simplificar la realidad</a:t>
            </a:r>
          </a:p>
          <a:p>
            <a:pPr lvl="1"/>
            <a:r>
              <a:rPr lang="es-ES"/>
              <a:t>Abstracción: elegir elementos </a:t>
            </a:r>
            <a:r>
              <a:rPr lang="es-ES" b="1">
                <a:solidFill>
                  <a:schemeClr val="accent2"/>
                </a:solidFill>
              </a:rPr>
              <a:t>relevantes</a:t>
            </a:r>
          </a:p>
          <a:p>
            <a:pPr lvl="1"/>
            <a:r>
              <a:rPr lang="es-ES"/>
              <a:t>Planos	</a:t>
            </a:r>
          </a:p>
          <a:p>
            <a:pPr lvl="2"/>
            <a:r>
              <a:rPr lang="es-ES"/>
              <a:t>Generales</a:t>
            </a:r>
          </a:p>
          <a:p>
            <a:pPr lvl="2"/>
            <a:r>
              <a:rPr lang="es-ES"/>
              <a:t>Detallados</a:t>
            </a:r>
          </a:p>
          <a:p>
            <a:pPr lvl="2"/>
            <a:r>
              <a:rPr lang="es-ES"/>
              <a:t>Nos guían en la construcción</a:t>
            </a:r>
          </a:p>
          <a:p>
            <a:pPr lvl="1"/>
            <a:r>
              <a:rPr lang="es-ES"/>
              <a:t>Funciones:</a:t>
            </a:r>
          </a:p>
          <a:p>
            <a:pPr lvl="2"/>
            <a:r>
              <a:rPr lang="es-ES"/>
              <a:t>Cómo es o queremos que sea nuestro sistema o producto</a:t>
            </a:r>
          </a:p>
          <a:p>
            <a:pPr lvl="2"/>
            <a:r>
              <a:rPr lang="es-ES"/>
              <a:t>Mostrar estructura o comportamiento</a:t>
            </a:r>
          </a:p>
          <a:p>
            <a:pPr lvl="2"/>
            <a:r>
              <a:rPr lang="es-ES"/>
              <a:t>Documentar las decisiones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7B4903-AC98-F31D-0610-6FD4789F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 dirty="0"/>
              <a:t>1. Modelización</a:t>
            </a:r>
          </a:p>
        </p:txBody>
      </p:sp>
      <p:pic>
        <p:nvPicPr>
          <p:cNvPr id="8" name="Imagen 7" descr="Casa de piedra&#10;&#10;Descripción generada automáticamente con confianza media">
            <a:extLst>
              <a:ext uri="{FF2B5EF4-FFF2-40B4-BE49-F238E27FC236}">
                <a16:creationId xmlns:a16="http://schemas.microsoft.com/office/drawing/2014/main" id="{9CAB4FD1-2285-8E75-9E33-7ACBB3CE53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2007" y="4567959"/>
            <a:ext cx="3177618" cy="1668249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E36E1281-15EF-206A-0466-18B42DDF26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770774" y="3872442"/>
            <a:ext cx="3799862" cy="29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04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8571-E9F0-F0AD-7853-22BEE410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FF578B-67C7-44ED-E287-756D1D82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04599B-8565-5A1D-441B-5DC432399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ES" dirty="0"/>
              <a:t>Razones para modelar:</a:t>
            </a:r>
          </a:p>
          <a:p>
            <a:pPr marL="400050" lvl="1" indent="0">
              <a:buNone/>
            </a:pPr>
            <a:r>
              <a:rPr lang="es-ES" dirty="0"/>
              <a:t>1. Clarificación de Requisitos</a:t>
            </a:r>
          </a:p>
          <a:p>
            <a:pPr marL="400050" lvl="1" indent="0">
              <a:buNone/>
            </a:pPr>
            <a:r>
              <a:rPr lang="es-ES" dirty="0"/>
              <a:t>2. Visualización del Diseño</a:t>
            </a:r>
          </a:p>
          <a:p>
            <a:pPr marL="400050" lvl="1" indent="0">
              <a:buNone/>
            </a:pPr>
            <a:r>
              <a:rPr lang="es-ES" dirty="0"/>
              <a:t>3. Identificación de Problemas de Diseño</a:t>
            </a:r>
          </a:p>
          <a:p>
            <a:pPr marL="400050" lvl="1" indent="0">
              <a:buNone/>
            </a:pPr>
            <a:r>
              <a:rPr lang="es-ES" dirty="0"/>
              <a:t>4. Facilita la Toma de Decisiones</a:t>
            </a:r>
          </a:p>
          <a:p>
            <a:pPr marL="400050" lvl="1" indent="0">
              <a:buNone/>
            </a:pPr>
            <a:r>
              <a:rPr lang="es-ES" dirty="0"/>
              <a:t>5. Alineación con Objetivos del Negocio</a:t>
            </a:r>
          </a:p>
          <a:p>
            <a:pPr marL="400050" lvl="1" indent="0">
              <a:buNone/>
            </a:pPr>
            <a:r>
              <a:rPr lang="es-ES" dirty="0"/>
              <a:t>6. Ahorro de Recursos</a:t>
            </a:r>
          </a:p>
          <a:p>
            <a:pPr marL="400050" lvl="1" indent="0">
              <a:buNone/>
            </a:pPr>
            <a:r>
              <a:rPr lang="es-ES" dirty="0"/>
              <a:t>7. Documentación Efectiva</a:t>
            </a:r>
          </a:p>
          <a:p>
            <a:pPr marL="400050" lvl="1" indent="0">
              <a:buNone/>
            </a:pPr>
            <a:r>
              <a:rPr lang="es-ES" dirty="0"/>
              <a:t>8. Mejora la Colaboración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B77FBD-40D9-1826-4C74-AD6947C6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 dirty="0"/>
              <a:t>1. Modelización</a:t>
            </a:r>
          </a:p>
        </p:txBody>
      </p:sp>
      <p:pic>
        <p:nvPicPr>
          <p:cNvPr id="8" name="Imagen 7" descr="Casa de piedra&#10;&#10;Descripción generada automáticamente con confianza media">
            <a:extLst>
              <a:ext uri="{FF2B5EF4-FFF2-40B4-BE49-F238E27FC236}">
                <a16:creationId xmlns:a16="http://schemas.microsoft.com/office/drawing/2014/main" id="{3B44E0D2-D516-AB17-D083-F95DD91093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7480" y="4525625"/>
            <a:ext cx="3177618" cy="1668249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59D4B801-FD3B-F2BF-59B5-E031CDB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764037" y="3793567"/>
            <a:ext cx="3799862" cy="29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41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CF907E-7AB2-8F2A-BD75-C657AC90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6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3DADBF-3FE8-E3AA-5846-D7251D9577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En cada etapa del proceso de desarrollo de software se producen documentos:</a:t>
            </a:r>
          </a:p>
          <a:p>
            <a:r>
              <a:rPr lang="es-ES" dirty="0"/>
              <a:t>En la etapa de ANÁLISIS diagramas de CASOS DE USO, ESPECIFICACIÓN DE REQUISITOS</a:t>
            </a:r>
          </a:p>
          <a:p>
            <a:r>
              <a:rPr lang="es-ES" dirty="0"/>
              <a:t>En la etapa de DISEÑO diagramas </a:t>
            </a:r>
            <a:r>
              <a:rPr lang="es-ES" b="1" dirty="0">
                <a:solidFill>
                  <a:srgbClr val="FF0000"/>
                </a:solidFill>
              </a:rPr>
              <a:t>CLASES</a:t>
            </a:r>
            <a:r>
              <a:rPr lang="es-ES" dirty="0"/>
              <a:t> y SECUENCIA</a:t>
            </a:r>
          </a:p>
          <a:p>
            <a:r>
              <a:rPr lang="es-ES" b="1" u="sng" dirty="0"/>
              <a:t>Diagramas de estado:</a:t>
            </a:r>
          </a:p>
          <a:p>
            <a:pPr lvl="1"/>
            <a:r>
              <a:rPr lang="es-ES" b="1" u="sng" dirty="0"/>
              <a:t>De Clases</a:t>
            </a:r>
          </a:p>
          <a:p>
            <a:r>
              <a:rPr lang="es-ES" dirty="0"/>
              <a:t>Diagramas de comportamiento:</a:t>
            </a:r>
          </a:p>
          <a:p>
            <a:pPr lvl="1"/>
            <a:r>
              <a:rPr lang="es-ES" dirty="0">
                <a:solidFill>
                  <a:schemeClr val="tx1"/>
                </a:solidFill>
              </a:rPr>
              <a:t>De Casos De Uso</a:t>
            </a:r>
          </a:p>
          <a:p>
            <a:pPr lvl="1"/>
            <a:r>
              <a:rPr lang="es-ES" dirty="0">
                <a:solidFill>
                  <a:schemeClr val="tx1"/>
                </a:solidFill>
              </a:rPr>
              <a:t>De Secuencia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1DB947-0B0F-ECCD-FB36-8DD217B3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2.  Desarrollo de software:</a:t>
            </a:r>
            <a:r>
              <a:rPr lang="es-ES" baseline="0" dirty="0"/>
              <a:t> documentos y diagramas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6530EB5-9F4B-2769-FD30-EB82D7599CB6}"/>
              </a:ext>
            </a:extLst>
          </p:cNvPr>
          <p:cNvSpPr/>
          <p:nvPr/>
        </p:nvSpPr>
        <p:spPr>
          <a:xfrm>
            <a:off x="1048256" y="4210919"/>
            <a:ext cx="58384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¿qué pinta tienen?</a:t>
            </a:r>
          </a:p>
        </p:txBody>
      </p:sp>
    </p:spTree>
    <p:extLst>
      <p:ext uri="{BB962C8B-B14F-4D97-AF65-F5344CB8AC3E}">
        <p14:creationId xmlns:p14="http://schemas.microsoft.com/office/powerpoint/2010/main" val="75957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D1D8-11F6-C705-6AA1-CAF0A9BEA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6CFCAB-4941-C8F4-5742-E41494A0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284DEF-C7AB-674E-B8F2-E0234B1CA2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EFA270-4326-5E2E-1518-E366E407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Ejemplos: Casa</a:t>
            </a:r>
          </a:p>
        </p:txBody>
      </p:sp>
      <p:pic>
        <p:nvPicPr>
          <p:cNvPr id="3074" name="Picture 2" descr="Diagram de clases parcial de una casa">
            <a:extLst>
              <a:ext uri="{FF2B5EF4-FFF2-40B4-BE49-F238E27FC236}">
                <a16:creationId xmlns:a16="http://schemas.microsoft.com/office/drawing/2014/main" id="{630CEB0B-C961-C84F-B0BD-4371460C7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" y="1267873"/>
            <a:ext cx="6872662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80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A8A3-B1BA-67F6-136E-BC58EC59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7BC08A-594D-3198-0EBE-3ADDADC9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E9D3CB-8C9C-C893-332F-DDE223000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D07636-A412-2DF8-A778-D3B920E5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Ejemplos: Aerolínea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48168D-19D3-0167-110A-D2C84DC4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70" y="1003772"/>
            <a:ext cx="7444130" cy="51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76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0E1E0F-6A7C-2D52-B5AD-69650EEE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54803E-848B-CABB-316C-BF66325F9D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073A3C-57BD-E7BF-9D1E-939AD312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Ejemplos: Banco</a:t>
            </a:r>
          </a:p>
        </p:txBody>
      </p:sp>
      <p:pic>
        <p:nvPicPr>
          <p:cNvPr id="9" name="Imagen 8" descr="Una captura de pantalla de un celular con texto e imágenes&#10;&#10;El contenido generado por IA puede ser incorrecto.">
            <a:extLst>
              <a:ext uri="{FF2B5EF4-FFF2-40B4-BE49-F238E27FC236}">
                <a16:creationId xmlns:a16="http://schemas.microsoft.com/office/drawing/2014/main" id="{78F524DD-91CD-B3B0-18CA-7DD1CE387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2" b="20877"/>
          <a:stretch>
            <a:fillRect/>
          </a:stretch>
        </p:blipFill>
        <p:spPr>
          <a:xfrm>
            <a:off x="1198437" y="749508"/>
            <a:ext cx="6148391" cy="540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23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15C69D4-5ECC-D001-5369-E01D0DC3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UML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15CC01-6E46-17BE-45F5-49343A408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3EE945-ED2D-31F1-C5D5-9BDD0F92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56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B9C005-4FE3-FE33-442E-A725D026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2">
            <a:normAutofit/>
          </a:bodyPr>
          <a:lstStyle/>
          <a:p>
            <a:r>
              <a:rPr lang="es-ES" dirty="0"/>
              <a:t>Tabla para la clase con tres celdas:</a:t>
            </a:r>
            <a:endParaRPr lang="es-ES" dirty="0">
              <a:highlight>
                <a:srgbClr val="FFFF00"/>
              </a:highlight>
            </a:endParaRPr>
          </a:p>
          <a:p>
            <a:pPr lvl="1"/>
            <a:r>
              <a:rPr lang="es-ES" dirty="0"/>
              <a:t>Nombre</a:t>
            </a:r>
          </a:p>
          <a:p>
            <a:pPr lvl="1"/>
            <a:r>
              <a:rPr lang="es-ES" dirty="0"/>
              <a:t>Atributos </a:t>
            </a:r>
          </a:p>
          <a:p>
            <a:pPr lvl="2"/>
            <a:r>
              <a:rPr lang="es-ES" dirty="0">
                <a:solidFill>
                  <a:schemeClr val="accent4"/>
                </a:solidFill>
              </a:rPr>
              <a:t>Visibilidad</a:t>
            </a:r>
          </a:p>
          <a:p>
            <a:pPr lvl="2"/>
            <a:r>
              <a:rPr lang="es-ES" dirty="0"/>
              <a:t>:</a:t>
            </a:r>
            <a:r>
              <a:rPr lang="es-ES" dirty="0">
                <a:solidFill>
                  <a:srgbClr val="00B0F0"/>
                </a:solidFill>
              </a:rPr>
              <a:t>tipo</a:t>
            </a:r>
          </a:p>
          <a:p>
            <a:pPr lvl="2"/>
            <a:r>
              <a:rPr lang="es-ES" dirty="0"/>
              <a:t>[</a:t>
            </a:r>
            <a:r>
              <a:rPr lang="es-ES" dirty="0">
                <a:solidFill>
                  <a:schemeClr val="accent1"/>
                </a:solidFill>
              </a:rPr>
              <a:t>multiplicidad</a:t>
            </a:r>
            <a:r>
              <a:rPr lang="es-ES" dirty="0"/>
              <a:t>]</a:t>
            </a:r>
          </a:p>
          <a:p>
            <a:pPr lvl="2"/>
            <a:r>
              <a:rPr lang="es-ES" dirty="0"/>
              <a:t>=</a:t>
            </a:r>
            <a:r>
              <a:rPr lang="es-ES" dirty="0">
                <a:solidFill>
                  <a:srgbClr val="FF0000"/>
                </a:solidFill>
              </a:rPr>
              <a:t>valor inicial</a:t>
            </a:r>
          </a:p>
          <a:p>
            <a:pPr lvl="1"/>
            <a:r>
              <a:rPr lang="es-ES" dirty="0"/>
              <a:t>Métodos</a:t>
            </a:r>
          </a:p>
          <a:p>
            <a:pPr lvl="2"/>
            <a:r>
              <a:rPr lang="es-ES" dirty="0">
                <a:solidFill>
                  <a:schemeClr val="accent4"/>
                </a:solidFill>
              </a:rPr>
              <a:t>Visibilidad</a:t>
            </a:r>
          </a:p>
          <a:p>
            <a:pPr lvl="2"/>
            <a:r>
              <a:rPr lang="es-ES" dirty="0"/>
              <a:t>parámetros(tipo)</a:t>
            </a:r>
          </a:p>
          <a:p>
            <a:pPr lvl="2"/>
            <a:r>
              <a:rPr lang="es-ES" dirty="0"/>
              <a:t>:</a:t>
            </a:r>
            <a:r>
              <a:rPr lang="es-ES" dirty="0">
                <a:solidFill>
                  <a:srgbClr val="00B0F0"/>
                </a:solidFill>
              </a:rPr>
              <a:t>tipo retorno</a:t>
            </a:r>
          </a:p>
          <a:p>
            <a:pPr lvl="1"/>
            <a:r>
              <a:rPr lang="es-ES" dirty="0"/>
              <a:t>Clases</a:t>
            </a:r>
          </a:p>
          <a:p>
            <a:pPr lvl="2"/>
            <a:r>
              <a:rPr lang="es-ES" dirty="0"/>
              <a:t>Se deben nombrar con la notación </a:t>
            </a:r>
            <a:r>
              <a:rPr lang="es-ES" dirty="0" err="1"/>
              <a:t>CamelCase</a:t>
            </a:r>
            <a:r>
              <a:rPr lang="es-ES" dirty="0"/>
              <a:t> en mayúsculas</a:t>
            </a:r>
          </a:p>
          <a:p>
            <a:pPr lvl="3"/>
            <a:r>
              <a:rPr lang="es-ES" i="1" dirty="0"/>
              <a:t>Casa, Coche, Fichero</a:t>
            </a:r>
          </a:p>
          <a:p>
            <a:pPr lvl="2"/>
            <a:r>
              <a:rPr lang="es-ES" dirty="0"/>
              <a:t>En Java, el nombre de la clase debe ser el mismo que el nombre del fichero</a:t>
            </a:r>
          </a:p>
          <a:p>
            <a:pPr lvl="2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Atributos: suelen ser privados</a:t>
            </a:r>
          </a:p>
          <a:p>
            <a:pPr lvl="2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Métodos: suelen ser públicos</a:t>
            </a:r>
          </a:p>
          <a:p>
            <a:pPr lvl="3"/>
            <a:r>
              <a:rPr lang="es-ES" b="1" dirty="0" err="1"/>
              <a:t>camelCase</a:t>
            </a:r>
            <a:r>
              <a:rPr lang="es-ES" b="1" dirty="0"/>
              <a:t>: abrir(), sumar()</a:t>
            </a:r>
          </a:p>
          <a:p>
            <a:pPr lvl="1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DIAGRAMAS DE CLASES UML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4FFF690E-CA42-972C-ECDC-714DEF060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908209"/>
              </p:ext>
            </p:extLst>
          </p:nvPr>
        </p:nvGraphicFramePr>
        <p:xfrm>
          <a:off x="3380172" y="2306209"/>
          <a:ext cx="1390041" cy="1122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041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181598">
                <a:tc>
                  <a:txBody>
                    <a:bodyPr/>
                    <a:lstStyle/>
                    <a:p>
                      <a:r>
                        <a:rPr lang="es-ES" sz="20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s-E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ombre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319411">
                <a:tc>
                  <a:txBody>
                    <a:bodyPr/>
                    <a:lstStyle/>
                    <a:p>
                      <a:r>
                        <a:rPr lang="es-E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atributos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407140"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métodos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B25C18A-E3D8-24A2-BFBE-0EF56ABA1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31491"/>
              </p:ext>
            </p:extLst>
          </p:nvPr>
        </p:nvGraphicFramePr>
        <p:xfrm>
          <a:off x="5224064" y="2250227"/>
          <a:ext cx="2797631" cy="2137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7631">
                  <a:extLst>
                    <a:ext uri="{9D8B030D-6E8A-4147-A177-3AD203B41FA5}">
                      <a16:colId xmlns:a16="http://schemas.microsoft.com/office/drawing/2014/main" val="1436542043"/>
                    </a:ext>
                  </a:extLst>
                </a:gridCol>
              </a:tblGrid>
              <a:tr h="565830">
                <a:tc>
                  <a:txBody>
                    <a:bodyPr/>
                    <a:lstStyle/>
                    <a:p>
                      <a:r>
                        <a:rPr lang="es-E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Nombre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832672"/>
                  </a:ext>
                </a:extLst>
              </a:tr>
              <a:tr h="658836">
                <a:tc>
                  <a:txBody>
                    <a:bodyPr/>
                    <a:lstStyle/>
                    <a:p>
                      <a:r>
                        <a:rPr lang="es-ES" sz="1400" b="1" dirty="0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s-E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atributo: </a:t>
                      </a:r>
                      <a:r>
                        <a:rPr lang="es-ES" sz="1400" b="1" dirty="0" err="1">
                          <a:solidFill>
                            <a:srgbClr val="00B0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  <a:r>
                        <a:rPr lang="es-E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s-ES" sz="1400" b="1" dirty="0">
                          <a:solidFill>
                            <a:schemeClr val="accent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0…n</a:t>
                      </a:r>
                      <a:r>
                        <a:rPr lang="es-E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]=</a:t>
                      </a:r>
                      <a:r>
                        <a:rPr lang="es-ES" sz="14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inicial</a:t>
                      </a:r>
                    </a:p>
                    <a:p>
                      <a:r>
                        <a:rPr lang="es-E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~ atributo2: </a:t>
                      </a:r>
                      <a:r>
                        <a:rPr lang="es-E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s-E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[0…1]=3</a:t>
                      </a: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07362"/>
                  </a:ext>
                </a:extLst>
              </a:tr>
              <a:tr h="839791">
                <a:tc>
                  <a:txBody>
                    <a:bodyPr/>
                    <a:lstStyle/>
                    <a:p>
                      <a:r>
                        <a:rPr lang="es-ES" sz="1400" b="1" dirty="0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s-E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método(</a:t>
                      </a:r>
                      <a:r>
                        <a:rPr lang="es-ES" sz="1400" b="1" dirty="0">
                          <a:solidFill>
                            <a:srgbClr val="92D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parámetros</a:t>
                      </a:r>
                      <a:r>
                        <a:rPr lang="es-E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 </a:t>
                      </a:r>
                      <a:r>
                        <a:rPr lang="es-ES" sz="1400" b="1" dirty="0" err="1">
                          <a:solidFill>
                            <a:srgbClr val="00B0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  <a:endParaRPr lang="es-ES" sz="1400" b="1" dirty="0">
                        <a:solidFill>
                          <a:srgbClr val="00B0F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s-E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método2(): </a:t>
                      </a:r>
                      <a:r>
                        <a:rPr lang="es-E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endParaRPr lang="es-E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28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085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88F87-6CC1-B244-20D4-7A4E216F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F1485F-C814-3E28-1E63-4515F249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70792D-9AB3-0D96-3133-F32280B9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TAREA ED5b0800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E43A624-A297-B505-0E9E-A974120BB1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21214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Enunciado en el repositorio</a:t>
            </a:r>
          </a:p>
          <a:p>
            <a:r>
              <a:rPr lang="es-ES" dirty="0"/>
              <a:t>Investiga Herramientas para realizar diagramas UML</a:t>
            </a:r>
          </a:p>
          <a:p>
            <a:r>
              <a:rPr lang="es-ES" dirty="0"/>
              <a:t>Crea un videotutorial con OBS</a:t>
            </a:r>
          </a:p>
        </p:txBody>
      </p:sp>
    </p:spTree>
    <p:extLst>
      <p:ext uri="{BB962C8B-B14F-4D97-AF65-F5344CB8AC3E}">
        <p14:creationId xmlns:p14="http://schemas.microsoft.com/office/powerpoint/2010/main" val="692600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C666CF-C564-FE93-658F-3E1EC5C6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r>
              <a:rPr lang="es-ES" dirty="0"/>
              <a:t>Relaciones entre clases</a:t>
            </a:r>
          </a:p>
          <a:p>
            <a:pPr lvl="1"/>
            <a:r>
              <a:rPr lang="es-ES" b="1" u="sng" dirty="0">
                <a:solidFill>
                  <a:schemeClr val="accent4"/>
                </a:solidFill>
              </a:rPr>
              <a:t>Asociación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relación semántica entre los objetos</a:t>
            </a:r>
          </a:p>
          <a:p>
            <a:pPr lvl="2"/>
            <a:r>
              <a:rPr lang="es-ES" dirty="0"/>
              <a:t>Nombre</a:t>
            </a:r>
          </a:p>
          <a:p>
            <a:pPr lvl="2"/>
            <a:r>
              <a:rPr lang="es-ES" dirty="0"/>
              <a:t>Multiplicidad </a:t>
            </a:r>
          </a:p>
          <a:p>
            <a:pPr lvl="2"/>
            <a:r>
              <a:rPr lang="es-ES" dirty="0"/>
              <a:t>Navegabilidad</a:t>
            </a:r>
          </a:p>
          <a:p>
            <a:pPr lvl="2"/>
            <a:r>
              <a:rPr lang="es-ES" dirty="0"/>
              <a:t>No hay pertenencia</a:t>
            </a:r>
          </a:p>
          <a:p>
            <a:pPr lvl="2"/>
            <a:r>
              <a:rPr lang="es-ES" dirty="0"/>
              <a:t>Una depende </a:t>
            </a:r>
            <a:r>
              <a:rPr lang="es-ES"/>
              <a:t>de otra</a:t>
            </a: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4BF684-4E6A-763D-C75D-AB6E00719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301" y="1649723"/>
            <a:ext cx="3527366" cy="42812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BB27A8A-313F-475E-E4DC-998C76FFF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64" y="4404410"/>
            <a:ext cx="4572000" cy="170378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6D9DB5B-E3F6-C206-1CCA-5073B2B3497E}"/>
              </a:ext>
            </a:extLst>
          </p:cNvPr>
          <p:cNvSpPr txBox="1"/>
          <p:nvPr/>
        </p:nvSpPr>
        <p:spPr>
          <a:xfrm>
            <a:off x="2231356" y="4882241"/>
            <a:ext cx="10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*      </a:t>
            </a:r>
            <a:r>
              <a:rPr lang="es-ES" sz="1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112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7DEA42-03ED-1170-3212-1DD71F37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numCol="1" rtlCol="0" anchor="t">
            <a:normAutofit/>
          </a:bodyPr>
          <a:lstStyle/>
          <a:p>
            <a:r>
              <a:rPr lang="es-ES"/>
              <a:t>Relaciones entre clases</a:t>
            </a:r>
          </a:p>
          <a:p>
            <a:pPr lvl="1"/>
            <a:r>
              <a:rPr lang="es-ES" b="1" u="sng">
                <a:solidFill>
                  <a:schemeClr val="accent4"/>
                </a:solidFill>
              </a:rPr>
              <a:t>Agregación</a:t>
            </a:r>
            <a:r>
              <a:rPr lang="es-ES"/>
              <a:t>:</a:t>
            </a:r>
          </a:p>
          <a:p>
            <a:pPr lvl="1"/>
            <a:r>
              <a:rPr lang="es-ES"/>
              <a:t>un objeto del todo tiene objetos de la parte</a:t>
            </a:r>
          </a:p>
          <a:p>
            <a:pPr lvl="2"/>
            <a:r>
              <a:rPr lang="es-ES"/>
              <a:t>Nombre</a:t>
            </a:r>
          </a:p>
          <a:p>
            <a:pPr lvl="2"/>
            <a:r>
              <a:rPr lang="es-ES"/>
              <a:t>Multiplicidad </a:t>
            </a:r>
          </a:p>
          <a:p>
            <a:pPr lvl="2"/>
            <a:r>
              <a:rPr lang="es-ES"/>
              <a:t>Navegabilidad</a:t>
            </a:r>
          </a:p>
          <a:p>
            <a:pPr lvl="2"/>
            <a:endParaRPr lang="es-ES"/>
          </a:p>
          <a:p>
            <a:pPr lvl="2"/>
            <a:r>
              <a:rPr lang="es-ES"/>
              <a:t>Pertenencia </a:t>
            </a:r>
            <a:r>
              <a:rPr lang="es-ES" b="1"/>
              <a:t>no muy fuerte</a:t>
            </a:r>
          </a:p>
          <a:p>
            <a:pPr lvl="2"/>
            <a:r>
              <a:rPr lang="es-ES" b="1"/>
              <a:t>La parte puede existir sin el todo</a:t>
            </a:r>
          </a:p>
          <a:p>
            <a:pPr lvl="2"/>
            <a:r>
              <a:rPr lang="es-ES"/>
              <a:t>El todo puede dejar de tener una de las partes</a:t>
            </a:r>
          </a:p>
          <a:p>
            <a:pPr lvl="2"/>
            <a:endParaRPr lang="es-ES" dirty="0"/>
          </a:p>
          <a:p>
            <a:pPr lvl="2"/>
            <a:r>
              <a:rPr lang="es-ES" dirty="0"/>
              <a:t>Pensemos el código con constructores, en lugar del </a:t>
            </a:r>
            <a:r>
              <a:rPr lang="es-ES" dirty="0" err="1"/>
              <a:t>Main</a:t>
            </a:r>
          </a:p>
          <a:p>
            <a:pPr lvl="3"/>
            <a:r>
              <a:rPr lang="es-ES">
                <a:solidFill>
                  <a:srgbClr val="54A021"/>
                </a:solidFill>
              </a:rPr>
              <a:t>(ver notas)</a:t>
            </a:r>
            <a:endParaRPr lang="es-ES" dirty="0">
              <a:solidFill>
                <a:srgbClr val="54A02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6CF4E8-0286-1698-9F2D-EEFB2B182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" y="5157192"/>
            <a:ext cx="6304712" cy="121244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A97C83-3A42-486E-E145-16C2A4B77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242" y="1209448"/>
            <a:ext cx="2701079" cy="387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35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DA6007-635C-ECEE-879C-BED52A23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r>
              <a:rPr lang="es-ES"/>
              <a:t>Relaciones entre clases</a:t>
            </a:r>
          </a:p>
          <a:p>
            <a:pPr lvl="1"/>
            <a:r>
              <a:rPr lang="es-ES" b="1" u="sng">
                <a:solidFill>
                  <a:schemeClr val="accent4"/>
                </a:solidFill>
              </a:rPr>
              <a:t>Composición</a:t>
            </a:r>
            <a:r>
              <a:rPr lang="es-ES"/>
              <a:t>:</a:t>
            </a:r>
          </a:p>
          <a:p>
            <a:pPr lvl="1"/>
            <a:r>
              <a:rPr lang="es-ES"/>
              <a:t>La parte tiene que formar parte del todo</a:t>
            </a:r>
          </a:p>
          <a:p>
            <a:pPr lvl="2"/>
            <a:r>
              <a:rPr lang="es-ES"/>
              <a:t>Nombre</a:t>
            </a:r>
          </a:p>
          <a:p>
            <a:pPr lvl="2"/>
            <a:r>
              <a:rPr lang="es-ES"/>
              <a:t>Multiplicidad </a:t>
            </a:r>
          </a:p>
          <a:p>
            <a:pPr lvl="2"/>
            <a:r>
              <a:rPr lang="es-ES"/>
              <a:t>Navegabilidad</a:t>
            </a:r>
          </a:p>
          <a:p>
            <a:pPr lvl="2"/>
            <a:endParaRPr lang="es-ES"/>
          </a:p>
          <a:p>
            <a:pPr lvl="2"/>
            <a:r>
              <a:rPr lang="es-ES"/>
              <a:t>Pertenencia </a:t>
            </a:r>
            <a:r>
              <a:rPr lang="es-ES" b="1"/>
              <a:t>muy fuerte</a:t>
            </a:r>
          </a:p>
          <a:p>
            <a:pPr lvl="2"/>
            <a:r>
              <a:rPr lang="es-ES" b="1"/>
              <a:t>La parte no puede existir sin el todo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F336BE5-848C-E720-A0E4-51AEA98C3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23" y="4904016"/>
            <a:ext cx="5893256" cy="12612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612780D-2874-386D-A4F6-F828494EB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852" y="1509417"/>
            <a:ext cx="3157848" cy="311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4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3A20CB-8D5B-9B45-070B-43B812FA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C6B3-99D2-B9CC-5F50-ADD31ADFF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1">
            <a:normAutofit/>
          </a:bodyPr>
          <a:lstStyle/>
          <a:p>
            <a:r>
              <a:rPr lang="es-ES"/>
              <a:t>Relaciones entre clases</a:t>
            </a:r>
          </a:p>
          <a:p>
            <a:pPr lvl="1"/>
            <a:r>
              <a:rPr lang="es-ES" b="1" u="sng">
                <a:solidFill>
                  <a:schemeClr val="accent4"/>
                </a:solidFill>
              </a:rPr>
              <a:t>Herencia</a:t>
            </a:r>
            <a:r>
              <a:rPr lang="es-ES"/>
              <a:t>:</a:t>
            </a:r>
          </a:p>
          <a:p>
            <a:pPr lvl="2"/>
            <a:r>
              <a:rPr lang="es-ES"/>
              <a:t>La subclase tiene los elementos de la superclase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07BB-B390-514F-F117-3F51A96C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8A9E1E-E532-24AE-1C1A-75BDB3B95E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778" t="36402"/>
          <a:stretch/>
        </p:blipFill>
        <p:spPr>
          <a:xfrm>
            <a:off x="2123728" y="2708920"/>
            <a:ext cx="3690078" cy="31707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3A372CD-D219-03D2-B4D0-7D1AD964E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659" y="1649473"/>
            <a:ext cx="3143592" cy="23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72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AC6E-E0A1-D037-03CC-33DF08374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DDF7B6-5A15-1F57-C29F-EC3025DB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C53F51-8B47-3772-A24A-5DA81B6EF0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6009833" cy="5972683"/>
          </a:xfrm>
        </p:spPr>
        <p:txBody>
          <a:bodyPr numCol="1">
            <a:normAutofit/>
          </a:bodyPr>
          <a:lstStyle/>
          <a:p>
            <a:r>
              <a:rPr lang="es-ES" dirty="0"/>
              <a:t>Relaciones entre clases</a:t>
            </a:r>
          </a:p>
          <a:p>
            <a:pPr lvl="1"/>
            <a:r>
              <a:rPr lang="es-ES" b="1" u="sng" dirty="0">
                <a:solidFill>
                  <a:schemeClr val="accent4"/>
                </a:solidFill>
              </a:rPr>
              <a:t>Realización</a:t>
            </a:r>
            <a:r>
              <a:rPr lang="es-ES" dirty="0"/>
              <a:t>:</a:t>
            </a:r>
          </a:p>
          <a:p>
            <a:pPr lvl="2"/>
            <a:r>
              <a:rPr lang="es-ES" dirty="0"/>
              <a:t>Es una especie de herencia</a:t>
            </a:r>
          </a:p>
          <a:p>
            <a:pPr lvl="2"/>
            <a:r>
              <a:rPr lang="es-ES" dirty="0"/>
              <a:t>La clase (“subclase”) que realiza la interfaz (“superclase”) debe implementar los métodos que presenta el contrato de la interfaz</a:t>
            </a:r>
          </a:p>
          <a:p>
            <a:r>
              <a:rPr lang="es-ES" dirty="0"/>
              <a:t>Interfaces</a:t>
            </a:r>
          </a:p>
          <a:p>
            <a:pPr lvl="1"/>
            <a:r>
              <a:rPr lang="es-ES" dirty="0"/>
              <a:t>Clases totalmente </a:t>
            </a:r>
            <a:r>
              <a:rPr lang="es-ES" i="1" dirty="0"/>
              <a:t>abstractas</a:t>
            </a:r>
          </a:p>
          <a:p>
            <a:pPr lvl="1"/>
            <a:r>
              <a:rPr lang="es-ES" dirty="0"/>
              <a:t>Solo tienen métodos</a:t>
            </a:r>
          </a:p>
          <a:p>
            <a:pPr lvl="1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F05BDB-9640-3FA7-1745-A55A0494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CBAEA9B-801C-F642-1EE1-058270C00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50" y="3928300"/>
            <a:ext cx="3505200" cy="24110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DDBE8C-7EED-253A-BA5D-409280579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246" y="843471"/>
            <a:ext cx="2483295" cy="505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61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EEFB-44C6-4391-2152-624BDCA4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FE67B4-59AB-277D-0704-731304EF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537EC2-557B-28C1-B9F0-D130A133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TAREA ED5ce0802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B008C99-BD9D-DA57-86F0-312B64509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1282929"/>
          </a:xfrm>
        </p:spPr>
        <p:txBody>
          <a:bodyPr/>
          <a:lstStyle/>
          <a:p>
            <a:r>
              <a:rPr lang="es-ES" dirty="0"/>
              <a:t>Describe diagramas UML y escribe el código correspondiente</a:t>
            </a:r>
          </a:p>
          <a:p>
            <a:r>
              <a:rPr lang="es-ES" dirty="0"/>
              <a:t>Enunciado en el repositorio</a:t>
            </a:r>
          </a:p>
        </p:txBody>
      </p:sp>
    </p:spTree>
    <p:extLst>
      <p:ext uri="{BB962C8B-B14F-4D97-AF65-F5344CB8AC3E}">
        <p14:creationId xmlns:p14="http://schemas.microsoft.com/office/powerpoint/2010/main" val="3099558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D7D9-ADB7-BBBE-EADD-63B3000E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749749-5682-3890-F69D-5BBECC75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19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807BD4-9B29-4076-45C9-B5B65A3B60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Modificadores habituales</a:t>
            </a:r>
          </a:p>
          <a:p>
            <a:pPr lvl="1"/>
            <a:r>
              <a:rPr lang="es-ES" i="1" dirty="0" err="1"/>
              <a:t>abstract</a:t>
            </a:r>
            <a:endParaRPr lang="es-ES" i="1" dirty="0"/>
          </a:p>
          <a:p>
            <a:pPr lvl="2"/>
            <a:r>
              <a:rPr lang="es-ES" dirty="0"/>
              <a:t>Método que no se implementa en la superclase</a:t>
            </a:r>
          </a:p>
          <a:p>
            <a:pPr lvl="2"/>
            <a:r>
              <a:rPr lang="es-ES" dirty="0"/>
              <a:t>Debe implementarse en la subclase</a:t>
            </a:r>
          </a:p>
          <a:p>
            <a:pPr lvl="3"/>
            <a:r>
              <a:rPr lang="es-ES" dirty="0"/>
              <a:t>(se debe </a:t>
            </a:r>
            <a:r>
              <a:rPr lang="es-ES" i="1" dirty="0"/>
              <a:t>sobrescribir</a:t>
            </a:r>
            <a:r>
              <a:rPr lang="es-ES" dirty="0"/>
              <a:t>)</a:t>
            </a:r>
          </a:p>
          <a:p>
            <a:pPr lvl="2"/>
            <a:r>
              <a:rPr lang="es-ES" dirty="0"/>
              <a:t>La </a:t>
            </a:r>
            <a:r>
              <a:rPr lang="es-ES" b="1" dirty="0"/>
              <a:t>clase</a:t>
            </a:r>
            <a:r>
              <a:rPr lang="es-ES" dirty="0"/>
              <a:t> que contiene un método abstracto debe declararse también abstracta</a:t>
            </a:r>
          </a:p>
          <a:p>
            <a:pPr lvl="2"/>
            <a:r>
              <a:rPr lang="es-ES" dirty="0"/>
              <a:t>En UML, se suele representar en cursiva</a:t>
            </a:r>
          </a:p>
          <a:p>
            <a:pPr lvl="2"/>
            <a:r>
              <a:rPr lang="es-ES" dirty="0"/>
              <a:t>Si no podemos hacerlo, se puede declarar</a:t>
            </a:r>
          </a:p>
          <a:p>
            <a:pPr lvl="3"/>
            <a:r>
              <a:rPr lang="es-ES" dirty="0"/>
              <a:t>explícitamente {</a:t>
            </a:r>
            <a:r>
              <a:rPr lang="es-ES" dirty="0" err="1"/>
              <a:t>abstract</a:t>
            </a:r>
            <a:r>
              <a:rPr lang="es-ES" dirty="0"/>
              <a:t>} por ejemplo comer() {</a:t>
            </a:r>
            <a:r>
              <a:rPr lang="es-ES" dirty="0" err="1"/>
              <a:t>abstract</a:t>
            </a:r>
            <a:r>
              <a:rPr lang="es-ES" dirty="0"/>
              <a:t>}</a:t>
            </a:r>
          </a:p>
          <a:p>
            <a:pPr lvl="3"/>
            <a:r>
              <a:rPr lang="es-ES" dirty="0"/>
              <a:t>con &lt;&lt;&gt;&gt; por ejemplo: &lt;&lt;comer()&gt;&gt;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F59E39-D913-6AA3-D797-1985C1E6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A8BF2E-9033-CD1F-51D0-F6174896E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75" y="4556001"/>
            <a:ext cx="5973009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52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6120E-6F25-DFF6-1B52-5D1B71C7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1DA2E-D4A4-ABDF-392A-CD71104D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20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D17A23-B7AA-B5D1-84CB-FCA914AB37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Modificadores habituales</a:t>
            </a:r>
          </a:p>
          <a:p>
            <a:pPr lvl="1"/>
            <a:r>
              <a:rPr lang="es-ES" u="sng" dirty="0" err="1"/>
              <a:t>Static</a:t>
            </a:r>
            <a:r>
              <a:rPr lang="es-ES" dirty="0"/>
              <a:t>: a veces subrayado en UML, mejor escribir &lt;&lt;</a:t>
            </a:r>
            <a:r>
              <a:rPr lang="es-ES" dirty="0" err="1"/>
              <a:t>static</a:t>
            </a:r>
            <a:r>
              <a:rPr lang="es-ES" dirty="0"/>
              <a:t>&gt;&gt;</a:t>
            </a:r>
          </a:p>
          <a:p>
            <a:pPr lvl="2"/>
            <a:r>
              <a:rPr lang="es-ES" dirty="0"/>
              <a:t>En java </a:t>
            </a:r>
            <a:r>
              <a:rPr lang="es-ES" b="1" dirty="0">
                <a:solidFill>
                  <a:srgbClr val="FF0000"/>
                </a:solidFill>
              </a:rPr>
              <a:t>NO</a:t>
            </a:r>
            <a:r>
              <a:rPr lang="es-ES" dirty="0"/>
              <a:t> se puede aplicar a la clase completa</a:t>
            </a:r>
          </a:p>
          <a:p>
            <a:pPr lvl="2"/>
            <a:endParaRPr lang="es-ES" dirty="0"/>
          </a:p>
          <a:p>
            <a:pPr lvl="2"/>
            <a:endParaRPr lang="es-ES" dirty="0"/>
          </a:p>
          <a:p>
            <a:pPr lvl="2"/>
            <a:endParaRPr lang="es-ES" dirty="0"/>
          </a:p>
          <a:p>
            <a:pPr lvl="2"/>
            <a:endParaRPr lang="es-ES" dirty="0"/>
          </a:p>
          <a:p>
            <a:pPr lvl="2"/>
            <a:r>
              <a:rPr lang="es-ES" dirty="0"/>
              <a:t>Elemento (método o atributo) propio de la clase y no de sus objetos</a:t>
            </a:r>
          </a:p>
          <a:p>
            <a:pPr lvl="2"/>
            <a:r>
              <a:rPr lang="es-ES" dirty="0"/>
              <a:t>Existen sin instanciar la clase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4ABA96-93B4-5474-A900-BB0A6B34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6CB84D-AD0C-19F5-5928-C6F124C57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065" y="4168238"/>
            <a:ext cx="5316829" cy="18833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FC745C1-C0A9-5584-8376-79F85AFE80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90" b="15741"/>
          <a:stretch/>
        </p:blipFill>
        <p:spPr>
          <a:xfrm>
            <a:off x="2041957" y="1876161"/>
            <a:ext cx="3201209" cy="1037708"/>
          </a:xfrm>
          <a:prstGeom prst="rect">
            <a:avLst/>
          </a:prstGeom>
        </p:spPr>
      </p:pic>
      <p:sp>
        <p:nvSpPr>
          <p:cNvPr id="9" name="Signo de multiplicación 8">
            <a:extLst>
              <a:ext uri="{FF2B5EF4-FFF2-40B4-BE49-F238E27FC236}">
                <a16:creationId xmlns:a16="http://schemas.microsoft.com/office/drawing/2014/main" id="{B9F6D4F7-8325-2655-E908-91A95C47E87C}"/>
              </a:ext>
            </a:extLst>
          </p:cNvPr>
          <p:cNvSpPr/>
          <p:nvPr/>
        </p:nvSpPr>
        <p:spPr>
          <a:xfrm>
            <a:off x="2652192" y="1758203"/>
            <a:ext cx="1199919" cy="1246848"/>
          </a:xfrm>
          <a:prstGeom prst="mathMultiply">
            <a:avLst/>
          </a:prstGeom>
          <a:solidFill>
            <a:srgbClr val="D41D1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6794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8050-A4C4-53EA-0743-CA6DDBAF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F7171E-23FB-17CF-6FAC-144F1E6C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21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67753D-0977-74A5-94C4-109F495F4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Modificadores habituales</a:t>
            </a:r>
          </a:p>
          <a:p>
            <a:pPr lvl="1"/>
            <a:r>
              <a:rPr lang="es-ES" u="sng" dirty="0"/>
              <a:t>Final</a:t>
            </a:r>
            <a:r>
              <a:rPr lang="es-ES" dirty="0"/>
              <a:t>: a veces subrayado en UML, mejor escribir &lt;&lt;final&gt;&gt;</a:t>
            </a:r>
            <a:endParaRPr lang="es-ES" u="sng" dirty="0"/>
          </a:p>
          <a:p>
            <a:pPr lvl="2"/>
            <a:r>
              <a:rPr lang="es-ES" dirty="0"/>
              <a:t>Indica que el elemento no puede ser modificado</a:t>
            </a:r>
          </a:p>
          <a:p>
            <a:pPr lvl="2"/>
            <a:r>
              <a:rPr lang="es-ES" dirty="0"/>
              <a:t>Si es un atributo, su valor es constante</a:t>
            </a:r>
          </a:p>
          <a:p>
            <a:pPr lvl="2"/>
            <a:r>
              <a:rPr lang="es-ES" dirty="0"/>
              <a:t>Si es una clase, no puede tener descendencia (fin de la herencia)</a:t>
            </a:r>
          </a:p>
          <a:p>
            <a:pPr lvl="2"/>
            <a:r>
              <a:rPr lang="es-ES" dirty="0"/>
              <a:t>Método que no se puede sobrescribir al crear una subclase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95D9BF-2CF4-CACF-7AEE-2257411B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DIAGRAMAS DE CLASES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1638E1-DF0A-EB38-E495-7E493395E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08" y="3608133"/>
            <a:ext cx="6215656" cy="244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67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686C-F8EF-8A4B-84E1-70476DD8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24759B-728C-6FFA-97C9-EBB89D4D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22</a:t>
            </a:fld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F1F961-4539-ACB7-6CAB-37F1362A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TAREA ED5df0803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558548F-108C-0879-016E-2C6F9565BE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1282929"/>
          </a:xfrm>
        </p:spPr>
        <p:txBody>
          <a:bodyPr/>
          <a:lstStyle/>
          <a:p>
            <a:r>
              <a:rPr lang="es-ES" dirty="0"/>
              <a:t>Enunciado en el repositorio</a:t>
            </a:r>
          </a:p>
          <a:p>
            <a:r>
              <a:rPr lang="es-ES" dirty="0"/>
              <a:t>Dibuja los diagramas UML correspondientes</a:t>
            </a:r>
          </a:p>
        </p:txBody>
      </p:sp>
    </p:spTree>
    <p:extLst>
      <p:ext uri="{BB962C8B-B14F-4D97-AF65-F5344CB8AC3E}">
        <p14:creationId xmlns:p14="http://schemas.microsoft.com/office/powerpoint/2010/main" val="251016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E4A2818-1554-2DB6-5B55-121407B5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23</a:t>
            </a:fld>
            <a:endParaRPr lang="en-US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E672CE3-414F-1E3C-9928-F4B6B75687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Herramienta </a:t>
            </a:r>
            <a:r>
              <a:rPr lang="es-ES" dirty="0">
                <a:hlinkClick r:id="rId2"/>
              </a:rPr>
              <a:t>Draw.io</a:t>
            </a:r>
            <a:endParaRPr lang="es-ES" dirty="0">
              <a:hlinkClick r:id="rId3"/>
            </a:endParaRPr>
          </a:p>
          <a:p>
            <a:r>
              <a:rPr lang="es-ES" dirty="0">
                <a:hlinkClick r:id="rId3"/>
              </a:rPr>
              <a:t>Herramienta</a:t>
            </a:r>
            <a:r>
              <a:rPr lang="es-ES" dirty="0"/>
              <a:t> </a:t>
            </a:r>
            <a:r>
              <a:rPr lang="es-ES" dirty="0" err="1"/>
              <a:t>umlet</a:t>
            </a:r>
            <a:endParaRPr lang="es-ES" dirty="0"/>
          </a:p>
          <a:p>
            <a:r>
              <a:rPr lang="es-ES" dirty="0">
                <a:hlinkClick r:id="rId4"/>
              </a:rPr>
              <a:t>Herramienta</a:t>
            </a:r>
            <a:r>
              <a:rPr lang="es-ES" dirty="0"/>
              <a:t> </a:t>
            </a:r>
            <a:r>
              <a:rPr lang="es-ES" dirty="0" err="1"/>
              <a:t>StarUML</a:t>
            </a:r>
            <a:r>
              <a:rPr lang="es-ES" dirty="0"/>
              <a:t> ($$)</a:t>
            </a:r>
          </a:p>
          <a:p>
            <a:pPr marL="0" indent="0">
              <a:buNone/>
            </a:pPr>
            <a:endParaRPr lang="es-ES" dirty="0">
              <a:solidFill>
                <a:srgbClr val="404040"/>
              </a:solidFill>
            </a:endParaRPr>
          </a:p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 y recursos</a:t>
            </a:r>
          </a:p>
        </p:txBody>
      </p:sp>
    </p:spTree>
    <p:extLst>
      <p:ext uri="{BB962C8B-B14F-4D97-AF65-F5344CB8AC3E}">
        <p14:creationId xmlns:p14="http://schemas.microsoft.com/office/powerpoint/2010/main" val="1662085430"/>
      </p:ext>
    </p:extLst>
  </p:cSld>
  <p:clrMapOvr>
    <a:masterClrMapping/>
  </p:clrMapOvr>
</p:sld>
</file>

<file path=ppt/theme/theme1.xml><?xml version="1.0" encoding="utf-8"?>
<a:theme xmlns:a="http://schemas.openxmlformats.org/drawingml/2006/main" name="ED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" id="{025829BB-E26A-4598-9983-78D0A6F490C8}" vid="{8BF71C2D-7F2D-4401-99FE-11211852CF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</Template>
  <TotalTime>6941</TotalTime>
  <Words>1021</Words>
  <Application>Microsoft Office PowerPoint</Application>
  <PresentationFormat>Presentación en pantalla (4:3)</PresentationFormat>
  <Paragraphs>209</Paragraphs>
  <Slides>23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ED</vt:lpstr>
      <vt:lpstr>08: UML DIAGRAMAS DE ESTADO</vt:lpstr>
      <vt:lpstr>CONTENIDO</vt:lpstr>
      <vt:lpstr>introducción</vt:lpstr>
      <vt:lpstr>1. Modelización</vt:lpstr>
      <vt:lpstr>1. Modelización</vt:lpstr>
      <vt:lpstr>2.  Desarrollo de software: documentos y diagramas</vt:lpstr>
      <vt:lpstr>Ejemplos: Casa</vt:lpstr>
      <vt:lpstr>Ejemplos: Aerolínea</vt:lpstr>
      <vt:lpstr>Ejemplos: Banco</vt:lpstr>
      <vt:lpstr>UML</vt:lpstr>
      <vt:lpstr>3. DIAGRAMAS DE CLASES UML</vt:lpstr>
      <vt:lpstr>3. TAREA ED5b0800</vt:lpstr>
      <vt:lpstr>3. DIAGRAMAS DE CLASES</vt:lpstr>
      <vt:lpstr>3. DIAGRAMAS DE CLASES</vt:lpstr>
      <vt:lpstr>3. DIAGRAMAS DE CLASES</vt:lpstr>
      <vt:lpstr>3. DIAGRAMAS DE CLASES</vt:lpstr>
      <vt:lpstr>3. DIAGRAMAS DE CLASES</vt:lpstr>
      <vt:lpstr>3. TAREA ED5ce0802</vt:lpstr>
      <vt:lpstr>3. DIAGRAMAS DE CLASES</vt:lpstr>
      <vt:lpstr>3. DIAGRAMAS DE CLASES</vt:lpstr>
      <vt:lpstr>3. DIAGRAMAS DE CLASES</vt:lpstr>
      <vt:lpstr>3. TAREA ED5df0803</vt:lpstr>
      <vt:lpstr>Bibliografía y recursos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Miguel Trigueros Muñoz</cp:lastModifiedBy>
  <cp:revision>43</cp:revision>
  <cp:lastPrinted>2024-02-28T08:07:09Z</cp:lastPrinted>
  <dcterms:modified xsi:type="dcterms:W3CDTF">2026-02-15T11:50:00Z</dcterms:modified>
</cp:coreProperties>
</file>