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65_DA28E269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6" r:id="rId1"/>
  </p:sldMasterIdLst>
  <p:notesMasterIdLst>
    <p:notesMasterId r:id="rId30"/>
  </p:notesMasterIdLst>
  <p:handoutMasterIdLst>
    <p:handoutMasterId r:id="rId31"/>
  </p:handoutMasterIdLst>
  <p:sldIdLst>
    <p:sldId id="256" r:id="rId2"/>
    <p:sldId id="314" r:id="rId3"/>
    <p:sldId id="363" r:id="rId4"/>
    <p:sldId id="347" r:id="rId5"/>
    <p:sldId id="364" r:id="rId6"/>
    <p:sldId id="360" r:id="rId7"/>
    <p:sldId id="316" r:id="rId8"/>
    <p:sldId id="356" r:id="rId9"/>
    <p:sldId id="317" r:id="rId10"/>
    <p:sldId id="318" r:id="rId11"/>
    <p:sldId id="322" r:id="rId12"/>
    <p:sldId id="320" r:id="rId13"/>
    <p:sldId id="319" r:id="rId14"/>
    <p:sldId id="326" r:id="rId15"/>
    <p:sldId id="321" r:id="rId16"/>
    <p:sldId id="358" r:id="rId17"/>
    <p:sldId id="357" r:id="rId18"/>
    <p:sldId id="368" r:id="rId19"/>
    <p:sldId id="323" r:id="rId20"/>
    <p:sldId id="359" r:id="rId21"/>
    <p:sldId id="367" r:id="rId22"/>
    <p:sldId id="369" r:id="rId23"/>
    <p:sldId id="324" r:id="rId24"/>
    <p:sldId id="325" r:id="rId25"/>
    <p:sldId id="366" r:id="rId26"/>
    <p:sldId id="348" r:id="rId27"/>
    <p:sldId id="365" r:id="rId28"/>
    <p:sldId id="302" r:id="rId29"/>
  </p:sldIdLst>
  <p:sldSz cx="9144000" cy="6858000" type="screen4x3"/>
  <p:notesSz cx="10234613" cy="7104063"/>
  <p:embeddedFontLst>
    <p:embeddedFont>
      <p:font typeface="Trebuchet MS" panose="020B0603020202020204" pitchFamily="34" charset="0"/>
      <p:regular r:id="rId32"/>
      <p:bold r:id="rId33"/>
      <p:italic r:id="rId34"/>
      <p:boldItalic r:id="rId35"/>
    </p:embeddedFont>
    <p:embeddedFont>
      <p:font typeface="Wingdings 3" panose="020B0604020202020204" charset="2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8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3F3F8B-DCA6-FAF0-4A92-A6BBBBCD913E}" name="Miguel" initials="M" userId="Miguel" providerId="None"/>
  <p188:author id="{977F47D7-07F1-85A1-7633-049FB299B8FA}" name="MIGUEL TRIGUEROS MUÑOZ" initials="MT" userId="S::MIGUEL.TRIGUEROS@aulaxxi.murciaeduca.es::a4ee0321-97d7-430f-98a8-7ed13ff9a4b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guel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1D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C8BC7-8B0B-43B8-9EF2-C002B4913544}" v="128" dt="2026-01-16T08:15:16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68"/>
        <p:guide pos="183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TRIGUEROS MUÑOZ" userId="a4ee0321-97d7-430f-98a8-7ed13ff9a4bf" providerId="ADAL" clId="{6EE8E80F-F211-4A9B-9011-A3407143D2A0}"/>
    <pc:docChg chg="custSel modSld">
      <pc:chgData name="MIGUEL TRIGUEROS MUÑOZ" userId="a4ee0321-97d7-430f-98a8-7ed13ff9a4bf" providerId="ADAL" clId="{6EE8E80F-F211-4A9B-9011-A3407143D2A0}" dt="2026-01-16T08:15:16.023" v="135" actId="1076"/>
      <pc:docMkLst>
        <pc:docMk/>
      </pc:docMkLst>
      <pc:sldChg chg="addSp modSp mod">
        <pc:chgData name="MIGUEL TRIGUEROS MUÑOZ" userId="a4ee0321-97d7-430f-98a8-7ed13ff9a4bf" providerId="ADAL" clId="{6EE8E80F-F211-4A9B-9011-A3407143D2A0}" dt="2026-01-09T07:58:04.854" v="8" actId="255"/>
        <pc:sldMkLst>
          <pc:docMk/>
          <pc:sldMk cId="745458148" sldId="314"/>
        </pc:sldMkLst>
        <pc:spChg chg="mod">
          <ac:chgData name="MIGUEL TRIGUEROS MUÑOZ" userId="a4ee0321-97d7-430f-98a8-7ed13ff9a4bf" providerId="ADAL" clId="{6EE8E80F-F211-4A9B-9011-A3407143D2A0}" dt="2026-01-09T07:57:50.544" v="5" actId="1076"/>
          <ac:spMkLst>
            <pc:docMk/>
            <pc:sldMk cId="745458148" sldId="314"/>
            <ac:spMk id="3" creationId="{B6D7D569-2E40-41FB-F9B2-C2262085590C}"/>
          </ac:spMkLst>
        </pc:spChg>
        <pc:spChg chg="add mod">
          <ac:chgData name="MIGUEL TRIGUEROS MUÑOZ" userId="a4ee0321-97d7-430f-98a8-7ed13ff9a4bf" providerId="ADAL" clId="{6EE8E80F-F211-4A9B-9011-A3407143D2A0}" dt="2026-01-09T07:58:04.854" v="8" actId="255"/>
          <ac:spMkLst>
            <pc:docMk/>
            <pc:sldMk cId="745458148" sldId="314"/>
            <ac:spMk id="6" creationId="{99A0FB2D-9175-B35C-E0B6-DF5046D0407F}"/>
          </ac:spMkLst>
        </pc:spChg>
      </pc:sldChg>
      <pc:sldChg chg="modSp mod modNotesTx">
        <pc:chgData name="MIGUEL TRIGUEROS MUÑOZ" userId="a4ee0321-97d7-430f-98a8-7ed13ff9a4bf" providerId="ADAL" clId="{6EE8E80F-F211-4A9B-9011-A3407143D2A0}" dt="2026-01-16T07:55:57.967" v="129" actId="20577"/>
        <pc:sldMkLst>
          <pc:docMk/>
          <pc:sldMk cId="1059083778" sldId="319"/>
        </pc:sldMkLst>
        <pc:graphicFrameChg chg="mod modGraphic">
          <ac:chgData name="MIGUEL TRIGUEROS MUÑOZ" userId="a4ee0321-97d7-430f-98a8-7ed13ff9a4bf" providerId="ADAL" clId="{6EE8E80F-F211-4A9B-9011-A3407143D2A0}" dt="2026-01-16T07:55:57.967" v="129" actId="20577"/>
          <ac:graphicFrameMkLst>
            <pc:docMk/>
            <pc:sldMk cId="1059083778" sldId="319"/>
            <ac:graphicFrameMk id="5" creationId="{65DCCEED-BCD4-39ED-770E-C15625D2107B}"/>
          </ac:graphicFrameMkLst>
        </pc:graphicFrameChg>
      </pc:sldChg>
      <pc:sldChg chg="delSp modSp mod delAnim">
        <pc:chgData name="MIGUEL TRIGUEROS MUÑOZ" userId="a4ee0321-97d7-430f-98a8-7ed13ff9a4bf" providerId="ADAL" clId="{6EE8E80F-F211-4A9B-9011-A3407143D2A0}" dt="2026-01-16T07:53:09.117" v="110" actId="20577"/>
        <pc:sldMkLst>
          <pc:docMk/>
          <pc:sldMk cId="94322529" sldId="326"/>
        </pc:sldMkLst>
        <pc:spChg chg="mod">
          <ac:chgData name="MIGUEL TRIGUEROS MUÑOZ" userId="a4ee0321-97d7-430f-98a8-7ed13ff9a4bf" providerId="ADAL" clId="{6EE8E80F-F211-4A9B-9011-A3407143D2A0}" dt="2026-01-16T07:52:18.216" v="105" actId="20577"/>
          <ac:spMkLst>
            <pc:docMk/>
            <pc:sldMk cId="94322529" sldId="326"/>
            <ac:spMk id="3" creationId="{BBD2C6B3-99D2-B9CC-5F50-ADD31ADFF127}"/>
          </ac:spMkLst>
        </pc:spChg>
        <pc:spChg chg="del">
          <ac:chgData name="MIGUEL TRIGUEROS MUÑOZ" userId="a4ee0321-97d7-430f-98a8-7ed13ff9a4bf" providerId="ADAL" clId="{6EE8E80F-F211-4A9B-9011-A3407143D2A0}" dt="2026-01-16T07:52:05.694" v="91" actId="478"/>
          <ac:spMkLst>
            <pc:docMk/>
            <pc:sldMk cId="94322529" sldId="326"/>
            <ac:spMk id="7" creationId="{96DD68C5-5195-6A44-79EA-78FA990B8EC6}"/>
          </ac:spMkLst>
        </pc:spChg>
        <pc:spChg chg="mod">
          <ac:chgData name="MIGUEL TRIGUEROS MUÑOZ" userId="a4ee0321-97d7-430f-98a8-7ed13ff9a4bf" providerId="ADAL" clId="{6EE8E80F-F211-4A9B-9011-A3407143D2A0}" dt="2026-01-16T07:53:09.117" v="110" actId="20577"/>
          <ac:spMkLst>
            <pc:docMk/>
            <pc:sldMk cId="94322529" sldId="326"/>
            <ac:spMk id="9" creationId="{45C11F8F-C291-F98A-45CD-CE12FC75D86A}"/>
          </ac:spMkLst>
        </pc:spChg>
      </pc:sldChg>
      <pc:sldChg chg="modSp mod modCm modNotesTx">
        <pc:chgData name="MIGUEL TRIGUEROS MUÑOZ" userId="a4ee0321-97d7-430f-98a8-7ed13ff9a4bf" providerId="ADAL" clId="{6EE8E80F-F211-4A9B-9011-A3407143D2A0}" dt="2026-01-16T08:15:16.023" v="135" actId="1076"/>
        <pc:sldMkLst>
          <pc:docMk/>
          <pc:sldMk cId="3660112489" sldId="357"/>
        </pc:sldMkLst>
        <pc:spChg chg="mod">
          <ac:chgData name="MIGUEL TRIGUEROS MUÑOZ" userId="a4ee0321-97d7-430f-98a8-7ed13ff9a4bf" providerId="ADAL" clId="{6EE8E80F-F211-4A9B-9011-A3407143D2A0}" dt="2026-01-16T08:14:56.766" v="134" actId="20577"/>
          <ac:spMkLst>
            <pc:docMk/>
            <pc:sldMk cId="3660112489" sldId="357"/>
            <ac:spMk id="3" creationId="{DE2F0576-162F-3C0A-632E-17C18C273623}"/>
          </ac:spMkLst>
        </pc:spChg>
        <pc:picChg chg="mod">
          <ac:chgData name="MIGUEL TRIGUEROS MUÑOZ" userId="a4ee0321-97d7-430f-98a8-7ed13ff9a4bf" providerId="ADAL" clId="{6EE8E80F-F211-4A9B-9011-A3407143D2A0}" dt="2026-01-16T08:15:16.023" v="135" actId="1076"/>
          <ac:picMkLst>
            <pc:docMk/>
            <pc:sldMk cId="3660112489" sldId="357"/>
            <ac:picMk id="11" creationId="{C68AC37E-0724-35F4-7EF0-58F863FECBA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GUEL TRIGUEROS MUÑOZ" userId="a4ee0321-97d7-430f-98a8-7ed13ff9a4bf" providerId="ADAL" clId="{6EE8E80F-F211-4A9B-9011-A3407143D2A0}" dt="2026-01-16T08:14:56.766" v="134" actId="20577"/>
              <pc2:cmMkLst xmlns:pc2="http://schemas.microsoft.com/office/powerpoint/2019/9/main/command">
                <pc:docMk/>
                <pc:sldMk cId="3660112489" sldId="357"/>
                <pc2:cmMk id="{26C9D192-75C6-47C6-9662-2C285A4C1C5A}"/>
              </pc2:cmMkLst>
            </pc226:cmChg>
          </p:ext>
        </pc:extLst>
      </pc:sldChg>
    </pc:docChg>
  </pc:docChgLst>
  <pc:docChgLst>
    <pc:chgData name="MIGUEL TRIGUEROS MUÑOZ" userId="S::miguel.trigueros@aulaxxi.murciaeduca.es::a4ee0321-97d7-430f-98a8-7ed13ff9a4bf" providerId="AD" clId="Web-{059C4535-6492-C8B7-8BC2-029A9EBA194D}"/>
    <pc:docChg chg="modSld">
      <pc:chgData name="MIGUEL TRIGUEROS MUÑOZ" userId="S::miguel.trigueros@aulaxxi.murciaeduca.es::a4ee0321-97d7-430f-98a8-7ed13ff9a4bf" providerId="AD" clId="Web-{059C4535-6492-C8B7-8BC2-029A9EBA194D}" dt="2026-01-09T12:14:59.403" v="22" actId="1076"/>
      <pc:docMkLst>
        <pc:docMk/>
      </pc:docMkLst>
      <pc:sldChg chg="modSp">
        <pc:chgData name="MIGUEL TRIGUEROS MUÑOZ" userId="S::miguel.trigueros@aulaxxi.murciaeduca.es::a4ee0321-97d7-430f-98a8-7ed13ff9a4bf" providerId="AD" clId="Web-{059C4535-6492-C8B7-8BC2-029A9EBA194D}" dt="2026-01-09T12:14:59.403" v="22" actId="1076"/>
        <pc:sldMkLst>
          <pc:docMk/>
          <pc:sldMk cId="3660112489" sldId="357"/>
        </pc:sldMkLst>
        <pc:spChg chg="mod">
          <ac:chgData name="MIGUEL TRIGUEROS MUÑOZ" userId="S::miguel.trigueros@aulaxxi.murciaeduca.es::a4ee0321-97d7-430f-98a8-7ed13ff9a4bf" providerId="AD" clId="Web-{059C4535-6492-C8B7-8BC2-029A9EBA194D}" dt="2026-01-09T12:14:31.965" v="15" actId="14100"/>
          <ac:spMkLst>
            <pc:docMk/>
            <pc:sldMk cId="3660112489" sldId="357"/>
            <ac:spMk id="3" creationId="{DE2F0576-162F-3C0A-632E-17C18C273623}"/>
          </ac:spMkLst>
        </pc:spChg>
        <pc:spChg chg="mod">
          <ac:chgData name="MIGUEL TRIGUEROS MUÑOZ" userId="S::miguel.trigueros@aulaxxi.murciaeduca.es::a4ee0321-97d7-430f-98a8-7ed13ff9a4bf" providerId="AD" clId="Web-{059C4535-6492-C8B7-8BC2-029A9EBA194D}" dt="2026-01-09T12:14:59.403" v="22" actId="1076"/>
          <ac:spMkLst>
            <pc:docMk/>
            <pc:sldMk cId="3660112489" sldId="357"/>
            <ac:spMk id="4" creationId="{8DC2ECA0-BC39-522D-06DD-566A150D6DCD}"/>
          </ac:spMkLst>
        </pc:spChg>
        <pc:graphicFrameChg chg="mod modGraphic">
          <ac:chgData name="MIGUEL TRIGUEROS MUÑOZ" userId="S::miguel.trigueros@aulaxxi.murciaeduca.es::a4ee0321-97d7-430f-98a8-7ed13ff9a4bf" providerId="AD" clId="Web-{059C4535-6492-C8B7-8BC2-029A9EBA194D}" dt="2026-01-09T12:14:35.480" v="16" actId="1076"/>
          <ac:graphicFrameMkLst>
            <pc:docMk/>
            <pc:sldMk cId="3660112489" sldId="357"/>
            <ac:graphicFrameMk id="5" creationId="{1F7DFE7F-FBEC-19A9-2FD7-22B2795D0596}"/>
          </ac:graphicFrameMkLst>
        </pc:graphicFrameChg>
        <pc:graphicFrameChg chg="mod modGraphic">
          <ac:chgData name="MIGUEL TRIGUEROS MUÑOZ" userId="S::miguel.trigueros@aulaxxi.murciaeduca.es::a4ee0321-97d7-430f-98a8-7ed13ff9a4bf" providerId="AD" clId="Web-{059C4535-6492-C8B7-8BC2-029A9EBA194D}" dt="2026-01-09T12:14:47.199" v="19"/>
          <ac:graphicFrameMkLst>
            <pc:docMk/>
            <pc:sldMk cId="3660112489" sldId="357"/>
            <ac:graphicFrameMk id="14" creationId="{5D827BE9-C4E0-8836-F73E-95EC7D3C1332}"/>
          </ac:graphicFrameMkLst>
        </pc:graphicFrameChg>
        <pc:graphicFrameChg chg="mod modGraphic">
          <ac:chgData name="MIGUEL TRIGUEROS MUÑOZ" userId="S::miguel.trigueros@aulaxxi.murciaeduca.es::a4ee0321-97d7-430f-98a8-7ed13ff9a4bf" providerId="AD" clId="Web-{059C4535-6492-C8B7-8BC2-029A9EBA194D}" dt="2026-01-09T12:14:53.199" v="21" actId="1076"/>
          <ac:graphicFrameMkLst>
            <pc:docMk/>
            <pc:sldMk cId="3660112489" sldId="357"/>
            <ac:graphicFrameMk id="15" creationId="{672E4328-B5A1-9A2C-8E89-3E4C13E2528D}"/>
          </ac:graphicFrameMkLst>
        </pc:graphicFrameChg>
      </pc:sldChg>
    </pc:docChg>
  </pc:docChgLst>
</pc:chgInfo>
</file>

<file path=ppt/comments/modernComment_165_DA28E2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C9D192-75C6-47C6-9662-2C285A4C1C5A}" authorId="{343F3F8B-DCA6-FAF0-4A92-A6BBBBCD913E}" created="2024-02-04T07:15:30.8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60112489" sldId="357"/>
      <ac:spMk id="3" creationId="{DE2F0576-162F-3C0A-632E-17C18C273623}"/>
      <ac:txMk cp="355" len="7">
        <ac:context len="431" hash="2559472150"/>
      </ac:txMk>
    </ac:txMkLst>
    <p188:pos x="5928235" y="2321952"/>
    <p188:txBody>
      <a:bodyPr/>
      <a:lstStyle/>
      <a:p>
        <a:r>
          <a:rPr lang="es-ES"/>
          <a:t>Si no se escribe ningún modificador de visibilidad JAVA adjudica la visibilidad de paquete por defecto.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081A56-CC7C-E6A3-8C00-AB421FDCFD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E5AF2-5A5A-3388-D92E-DA016151F9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FAE3-5837-4C1B-BC4B-90063F16532C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263E9F-C8DC-1F97-AA62-4AAB5BD36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E984C9-C433-F37D-714F-A22D319DF6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2C0DB-E44F-4629-AD09-AAD10AC79FD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6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425FF-1B7F-4E8F-BB9C-39A442C619BF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519488" y="887413"/>
            <a:ext cx="31956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23462" y="3418831"/>
            <a:ext cx="8187690" cy="279722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7428-8AF8-455B-BDC9-B299B46AA1E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47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es-E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es un objeto de la vida real? ¿Podemos clasificarlos?</a:t>
            </a:r>
          </a:p>
          <a:p>
            <a:r>
              <a:rPr lang="es-ES"/>
              <a:t>En el módulo de programación deben haber empezado a ver este paradigma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6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Pregunta final: que tiene espacio reservado en memoria para sus atributos y otros objetos lo pueden utilizar.</a:t>
            </a:r>
          </a:p>
          <a:p>
            <a:r>
              <a:rPr lang="es-ES"/>
              <a:t>Cuando se destruye, se libera el espacio en memoria.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4902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clase es una plantilla que permite la creación de objetos. La instanciación de una clase crea un objeto. Hay una similitud entre la instanciación de un objeto de una clase y la declaración de una variable de un tipo.</a:t>
            </a:r>
          </a:p>
          <a:p>
            <a:r>
              <a:rPr lang="es-ES"/>
              <a:t>Al instanciarse, se reserva un espacio en memoria para la información del objeto.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0610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Los atributos de un objeto, además de variables, pueden ser otros objetos.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83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(Los atributos de un objeto, además de variables, pueden ser otros objetos.</a:t>
            </a:r>
          </a:p>
          <a:p>
            <a:r>
              <a:rPr lang="es-ES"/>
              <a:t>La casa del ejemplo, además de un </a:t>
            </a:r>
            <a:r>
              <a:rPr lang="es-ES" err="1"/>
              <a:t>String</a:t>
            </a:r>
            <a:r>
              <a:rPr lang="es-ES"/>
              <a:t> nombre, tiene una Lavadora lavadora1.)</a:t>
            </a:r>
          </a:p>
          <a:p>
            <a:r>
              <a:rPr lang="es-ES"/>
              <a:t>La casa tiene sus propios métodos y la lavadora los suyos.</a:t>
            </a:r>
          </a:p>
          <a:p>
            <a:r>
              <a:rPr lang="es-ES" b="1"/>
              <a:t>Un mensaje es cuando un objeto ejecuta un método de otro objeto: en el ejemplo, la Casa </a:t>
            </a:r>
            <a:r>
              <a:rPr lang="es-ES" b="1" err="1"/>
              <a:t>miCasa</a:t>
            </a:r>
            <a:r>
              <a:rPr lang="es-ES" b="1"/>
              <a:t> enciende() </a:t>
            </a:r>
            <a:r>
              <a:rPr lang="es-ES" b="1">
                <a:highlight>
                  <a:srgbClr val="FFFF00"/>
                </a:highlight>
              </a:rPr>
              <a:t>su</a:t>
            </a:r>
            <a:r>
              <a:rPr lang="es-ES" b="1"/>
              <a:t> Lavadora lavadora1</a:t>
            </a:r>
            <a:r>
              <a:rPr lang="es-ES"/>
              <a:t>.</a:t>
            </a:r>
          </a:p>
          <a:p>
            <a:r>
              <a:rPr lang="es-ES"/>
              <a:t>Código 3: mirar el constructor de la </a:t>
            </a:r>
            <a:r>
              <a:rPr lang="es-ES" err="1"/>
              <a:t>CuentaBancaria</a:t>
            </a:r>
            <a:r>
              <a:rPr lang="es-ES"/>
              <a:t>.</a:t>
            </a:r>
          </a:p>
          <a:p>
            <a:r>
              <a:rPr lang="es-ES"/>
              <a:t>4: Ejemplo de un método que cambia el estado del objeto (la calculadora se enciende o apaga)</a:t>
            </a:r>
          </a:p>
          <a:p>
            <a:r>
              <a:rPr lang="es-ES"/>
              <a:t>5: Ejemplo de un método que realiza una acción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650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Pensar otros casos en los que una misma clase pueda tener distintos diseños:</a:t>
            </a:r>
          </a:p>
          <a:p>
            <a:r>
              <a:rPr lang="es-ES"/>
              <a:t>Estudiante universitario – estudiante de primaria</a:t>
            </a:r>
          </a:p>
          <a:p>
            <a:r>
              <a:rPr lang="es-ES"/>
              <a:t>Barco competición – barco mercante – barco de pasajeros</a:t>
            </a:r>
          </a:p>
          <a:p>
            <a:r>
              <a:rPr lang="es-ES"/>
              <a:t>Persona redes sociales – persona jugador de videojuego</a:t>
            </a:r>
          </a:p>
          <a:p>
            <a:r>
              <a:rPr lang="es-ES"/>
              <a:t>(QUIZÁ ES MEJOR NO TENER PUBLICADA ESTAS CLASES coche EN GITHUB, porque les facilita mucho la tarea de visibilidad A2-&gt;movidas a actividades)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641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lavadora de la izquierda tiene elementos en rojo para explicar lo siguiente:</a:t>
            </a:r>
          </a:p>
          <a:p>
            <a:r>
              <a:rPr lang="es-ES"/>
              <a:t>Apagar es público porque otro objeto, por ejemplo, dueño, puede encender o apagar la lavadora.</a:t>
            </a:r>
          </a:p>
          <a:p>
            <a:r>
              <a:rPr lang="es-ES"/>
              <a:t>Envejecer es privado porque es un método interno y la lavadora solo va a envejecer cuando se ejecuten ciertas funciones internas de la clase,</a:t>
            </a:r>
          </a:p>
          <a:p>
            <a:r>
              <a:rPr lang="es-ES"/>
              <a:t>**¿Por qué, si queremos permitir que otra clase apague la lavadora no le dejamos que toque directamente el atributo (encendida) y le obligamos a usar el método (apagar())? → porque el método podría hacer algo más que cambiar el estado, por ejemplo, realizar alguna COMPROBACIÓN antes de cambiar el estado o, informa a otro objeto de que la lavadora se va a apagar.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939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E63A-E28B-93EC-5CE1-FD3FB730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8668D4-3974-9A1A-2353-BD5549140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48AA25-FC83-BB1D-3033-8E4C51366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Reutilizamos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0A0EDA-30FA-0B03-6398-B4A3B5D7D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521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Ver el código: En la clase flota se instancia un objeto </a:t>
            </a:r>
            <a:r>
              <a:rPr lang="es-ES" sz="2800" b="1" err="1">
                <a:solidFill>
                  <a:schemeClr val="accent4"/>
                </a:solidFill>
              </a:rPr>
              <a:t>miYate</a:t>
            </a:r>
            <a:r>
              <a:rPr lang="es-ES"/>
              <a:t>, dependiendo de la clase con que se instancia, puede solo transportar, navegar  y/o </a:t>
            </a:r>
            <a:r>
              <a:rPr lang="es-ES" err="1"/>
              <a:t>encenderMotor</a:t>
            </a:r>
            <a:r>
              <a:rPr lang="es-ES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11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Reutilizamos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7126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clase </a:t>
            </a:r>
            <a:r>
              <a:rPr lang="es-ES" err="1"/>
              <a:t>Student</a:t>
            </a:r>
            <a:r>
              <a:rPr lang="es-ES"/>
              <a:t> no puede acceder directamente al atributo nombre, pero sí tiene un nombre. Para obtenerlo, tiene que usar el método público de la clase Padre que sí puede acceder al atributo privado.</a:t>
            </a:r>
          </a:p>
          <a:p>
            <a:r>
              <a:rPr lang="es-ES"/>
              <a:t>En la clase Vehículo del paquete </a:t>
            </a:r>
            <a:r>
              <a:rPr lang="es-ES" err="1"/>
              <a:t>HerenciaSinConstructores</a:t>
            </a:r>
            <a:r>
              <a:rPr lang="es-ES"/>
              <a:t> </a:t>
            </a:r>
            <a:r>
              <a:rPr lang="es-ES" err="1"/>
              <a:t>tb</a:t>
            </a:r>
            <a:r>
              <a:rPr lang="es-ES"/>
              <a:t> hay un ejemplo de cómo afecta la visibilidad a la herencia. Ver el comentario en el código en la clase Vehículo.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6098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15A0-6A92-3DAA-024C-C66A11F9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DC73C9-8412-37DE-2312-048F7155F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F723AC-A661-58E8-21A3-80BBA316A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Reutilizamos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0483D9-A8A5-658A-9FDE-EBDAECAF2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060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3339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347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1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452" y="6318780"/>
            <a:ext cx="51263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97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08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i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8707438" cy="5710555"/>
          </a:xfrm>
        </p:spPr>
        <p:txBody>
          <a:bodyPr/>
          <a:lstStyle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4905574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42BE952-E59C-5FD1-133D-D2CA76C44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5" y="738161"/>
            <a:ext cx="8980860" cy="337025"/>
          </a:xfrm>
          <a:solidFill>
            <a:srgbClr val="99C63D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sz="16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1147763"/>
            <a:ext cx="8707438" cy="5446712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417267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s-ES"/>
              <a:t>TAREA X</a:t>
            </a:r>
            <a:endParaRPr lang="en-US"/>
          </a:p>
        </p:txBody>
      </p:sp>
      <p:pic>
        <p:nvPicPr>
          <p:cNvPr id="3" name="Gráfico 2" descr="Bandeja de entrada marcada contorno">
            <a:extLst>
              <a:ext uri="{FF2B5EF4-FFF2-40B4-BE49-F238E27FC236}">
                <a16:creationId xmlns:a16="http://schemas.microsoft.com/office/drawing/2014/main" id="{6B4C136E-AFD5-F617-9436-896E0EA7B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636" y="152399"/>
            <a:ext cx="1149927" cy="11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16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F3DA8F42-B3BB-41A1-AB4E-8617CD9BC174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920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EC685CC9-6004-4391-A195-A2D4DFB5034A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18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2DED-1971-464D-AC83-85410DCF904F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53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1FF4-63D7-4E0C-B192-FD104AB33BF2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0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AE3049DF-A480-77B0-C1C9-F6A157F3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ACB1A6C2-4497-4021-B992-BC7E2DD17ECA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100B48C-AFC7-6B3E-350F-D289CA0F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2A13A0AB-4612-F620-3EED-C60DF995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A1E5D97F-AFB0-796F-E6AF-47B0045F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5170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82" y="1"/>
            <a:ext cx="8032580" cy="701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8222" y="615677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589B1CF-02D4-4456-3BF5-4299A2F5FF62}"/>
              </a:ext>
            </a:extLst>
          </p:cNvPr>
          <p:cNvSpPr txBox="1">
            <a:spLocks/>
          </p:cNvSpPr>
          <p:nvPr/>
        </p:nvSpPr>
        <p:spPr>
          <a:xfrm>
            <a:off x="-10311" y="6677891"/>
            <a:ext cx="8209431" cy="188576"/>
          </a:xfrm>
          <a:prstGeom prst="rect">
            <a:avLst/>
          </a:prstGeom>
          <a:solidFill>
            <a:srgbClr val="8CBF2D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800"/>
              <a:t>UT 7 Programación Orientada a Objetos</a:t>
            </a:r>
            <a:endParaRPr lang="en-US" sz="800"/>
          </a:p>
        </p:txBody>
      </p:sp>
      <p:pic>
        <p:nvPicPr>
          <p:cNvPr id="4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9C0E87A9-2B90-A3EA-BC9F-9827DE151D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372" y="6396288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76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69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GUITel/EstructuradaVSpoo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naturale.com/casa-ecologica-i-nuovi-trend-in-arrivo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quitecturaacademica.com/planos-arquitectonicos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naturale.com/casa-ecologica-i-nuovi-trend-in-arrivo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quitecturaacademica.com/planos-arquitectonicos/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hyperlink" Target="https://github.com/miGUITel/EstructuradaVSpoo.gi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ITel/EstructuradaVSpoo.g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ITel/EstructuradaVSpoo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ITel/EstructuradaVSpoo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5_DA28E26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hyperlink" Target="https://github.com/miGUITel/EstructuradaVSpoo.gi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hyperlink" Target="https://github.com/miGUITel/EstructuradaVSpoo.git" TargetMode="Externa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GUITel/EstructuradaVSpoo.git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iguitel.github.io/LM/git/1_crear_compartido.html" TargetMode="External"/><Relationship Id="rId2" Type="http://schemas.openxmlformats.org/officeDocument/2006/relationships/hyperlink" Target="https://miguitel.github.io/LM/git/LM00_git_configInicial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jarroba.com/polimorfismo-en-java-parte-i-con-ejemplos/" TargetMode="External"/><Relationship Id="rId4" Type="http://schemas.openxmlformats.org/officeDocument/2006/relationships/hyperlink" Target="https://jarroba.com/herencia-en-la-programacion-orientada-a-objetos-ejemplo-en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B5ACD-B995-716B-F5F7-1C14289F1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995" y="110931"/>
            <a:ext cx="7148339" cy="2017238"/>
          </a:xfrm>
        </p:spPr>
        <p:txBody>
          <a:bodyPr/>
          <a:lstStyle/>
          <a:p>
            <a:pPr algn="l"/>
            <a:r>
              <a:rPr lang="es-ES"/>
              <a:t>UT 7: PROGRAMACIÓN ORIENTADA A OBJETOS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D5F8D1-79D3-855C-8A68-4E565138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163AF1D7-99DA-EAC5-BC03-9B1BE7C81353}"/>
              </a:ext>
            </a:extLst>
          </p:cNvPr>
          <p:cNvSpPr txBox="1"/>
          <p:nvPr/>
        </p:nvSpPr>
        <p:spPr>
          <a:xfrm>
            <a:off x="659551" y="5824245"/>
            <a:ext cx="3912449" cy="787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4"/>
              </a:lnSpc>
            </a:pP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Entornos</a:t>
            </a:r>
            <a:r>
              <a:rPr lang="es-ES" sz="1400" spc="25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</a:t>
            </a:r>
            <a:r>
              <a:rPr lang="es-ES" sz="1400" spc="10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Desarrollo</a:t>
            </a:r>
            <a:r>
              <a:rPr lang="es-ES" sz="1400" spc="-13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endParaRPr lang="es-ES" sz="1400">
              <a:solidFill>
                <a:schemeClr val="accent4"/>
              </a:solidFill>
              <a:latin typeface="MDUHDN+Century Gothic"/>
              <a:cs typeface="MDUHDN+Century Gothic"/>
            </a:endParaRPr>
          </a:p>
          <a:p>
            <a:pPr>
              <a:lnSpc>
                <a:spcPts val="2144"/>
              </a:lnSpc>
            </a:pP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Miguel Trigueros Muñoz</a:t>
            </a:r>
          </a:p>
          <a:p>
            <a:pPr>
              <a:lnSpc>
                <a:spcPts val="2144"/>
              </a:lnSpc>
            </a:pPr>
            <a:endParaRPr sz="1400">
              <a:solidFill>
                <a:schemeClr val="accent4"/>
              </a:solidFill>
              <a:latin typeface="MDUHDN+Century Gothic"/>
              <a:cs typeface="MDUHDN+Century Gothic"/>
            </a:endParaRPr>
          </a:p>
        </p:txBody>
      </p:sp>
      <p:pic>
        <p:nvPicPr>
          <p:cNvPr id="3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B4540A4D-DE5D-DF8E-FCB1-EB54AB7AC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12" y="6134875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E7AA01C-6518-4A8A-0624-7F557A2D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2128169"/>
            <a:ext cx="4477970" cy="33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806B4-64A7-7098-4FE2-E40610F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15" y="260648"/>
            <a:ext cx="8596668" cy="1320800"/>
          </a:xfrm>
        </p:spPr>
        <p:txBody>
          <a:bodyPr/>
          <a:lstStyle/>
          <a:p>
            <a:r>
              <a:rPr lang="es-ES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7D569-2E40-41FB-F9B2-C22620855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190" y="270611"/>
            <a:ext cx="6761522" cy="4945177"/>
          </a:xfrm>
        </p:spPr>
        <p:txBody>
          <a:bodyPr numCol="2">
            <a:normAutofit/>
          </a:bodyPr>
          <a:lstStyle/>
          <a:p>
            <a:pPr marL="628650" lvl="1" indent="0">
              <a:buNone/>
            </a:pPr>
            <a:r>
              <a:rPr lang="es-ES" u="sng"/>
              <a:t>Introducción</a:t>
            </a:r>
          </a:p>
          <a:p>
            <a:pPr marL="628650" lvl="1" indent="0">
              <a:buNone/>
            </a:pPr>
            <a:r>
              <a:rPr lang="es-ES" u="sng"/>
              <a:t>POO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Bases Diseño y POO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Elementos POO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Clases y objetos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Mensajes y métodos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Atributos y estado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Constructores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Características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Abstracción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Encapsulación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Herencia</a:t>
            </a:r>
          </a:p>
          <a:p>
            <a:pPr marL="800100" lvl="1">
              <a:buFont typeface="+mj-lt"/>
              <a:buAutoNum type="arabicPeriod"/>
            </a:pPr>
            <a:r>
              <a:rPr lang="es-ES"/>
              <a:t>Polimorfismo</a:t>
            </a:r>
          </a:p>
          <a:p>
            <a:pPr marL="800100" lvl="1">
              <a:buFont typeface="+mj-lt"/>
              <a:buAutoNum type="arabicPeriod"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C1A339-732B-8D83-F81F-7922540B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A0FB2D-9175-B35C-E0B6-DF5046D0407F}"/>
              </a:ext>
            </a:extLst>
          </p:cNvPr>
          <p:cNvSpPr txBox="1"/>
          <p:nvPr/>
        </p:nvSpPr>
        <p:spPr>
          <a:xfrm>
            <a:off x="284966" y="5215788"/>
            <a:ext cx="59905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>
                <a:hlinkClick r:id="rId2"/>
              </a:rPr>
              <a:t>https://github.com/miGUITel/EstructuradaVSpoo</a:t>
            </a:r>
            <a:r>
              <a:rPr lang="es-ES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545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90D7F-8495-E9E0-E3B4-A0371B43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introducción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DE08A4-98F8-00AB-DECB-9810D4ECF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411128"/>
          </a:xfrm>
        </p:spPr>
        <p:txBody>
          <a:bodyPr>
            <a:normAutofit lnSpcReduction="10000"/>
          </a:bodyPr>
          <a:lstStyle/>
          <a:p>
            <a:pPr algn="ctr"/>
            <a:r>
              <a:rPr lang="es-ES"/>
              <a:t>Nuestro objetivo es aprender a diseñar programas en el paradigma de la POO</a:t>
            </a:r>
          </a:p>
          <a:p>
            <a:pPr algn="ctr"/>
            <a:r>
              <a:rPr lang="es-ES"/>
              <a:t>En primer lugar, tenemos que conocer de manera general la POO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0FB7DB-CD59-FAEB-19A8-4EAB6340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45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305DA4-FF2F-7AC4-FA80-320A1411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2CF12D-988F-B563-F1F6-C481FD993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Modelizar es simplificar la realidad</a:t>
            </a:r>
          </a:p>
          <a:p>
            <a:pPr lvl="1"/>
            <a:r>
              <a:rPr lang="es-ES"/>
              <a:t>Abstracción: elegir elementos </a:t>
            </a:r>
            <a:r>
              <a:rPr lang="es-ES" b="1">
                <a:solidFill>
                  <a:schemeClr val="accent2"/>
                </a:solidFill>
              </a:rPr>
              <a:t>relevantes</a:t>
            </a:r>
          </a:p>
          <a:p>
            <a:pPr lvl="1"/>
            <a:r>
              <a:rPr lang="es-ES"/>
              <a:t>Planos	</a:t>
            </a:r>
          </a:p>
          <a:p>
            <a:pPr lvl="2"/>
            <a:r>
              <a:rPr lang="es-ES"/>
              <a:t>Generales</a:t>
            </a:r>
          </a:p>
          <a:p>
            <a:pPr lvl="2"/>
            <a:r>
              <a:rPr lang="es-ES"/>
              <a:t>Detallados</a:t>
            </a:r>
          </a:p>
          <a:p>
            <a:pPr lvl="2"/>
            <a:r>
              <a:rPr lang="es-ES"/>
              <a:t>Nos guían en la construcción</a:t>
            </a:r>
          </a:p>
          <a:p>
            <a:pPr lvl="1"/>
            <a:r>
              <a:rPr lang="es-ES"/>
              <a:t>Funciones:</a:t>
            </a:r>
          </a:p>
          <a:p>
            <a:pPr lvl="2"/>
            <a:r>
              <a:rPr lang="es-ES"/>
              <a:t>Cómo es o queremos que sea nuestro sistema o producto</a:t>
            </a:r>
          </a:p>
          <a:p>
            <a:pPr lvl="2"/>
            <a:r>
              <a:rPr lang="es-ES"/>
              <a:t>Mostrar estructura o comportamiento</a:t>
            </a:r>
          </a:p>
          <a:p>
            <a:pPr lvl="2"/>
            <a:r>
              <a:rPr lang="es-ES"/>
              <a:t>Documentar las decisiones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7B4903-AC98-F31D-0610-6FD4789F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1. Modelización (Adelanto de la UT8)</a:t>
            </a:r>
          </a:p>
        </p:txBody>
      </p:sp>
      <p:pic>
        <p:nvPicPr>
          <p:cNvPr id="8" name="Imagen 7" descr="Casa de piedra&#10;&#10;Descripción generada automáticamente con confianza media">
            <a:extLst>
              <a:ext uri="{FF2B5EF4-FFF2-40B4-BE49-F238E27FC236}">
                <a16:creationId xmlns:a16="http://schemas.microsoft.com/office/drawing/2014/main" id="{9CAB4FD1-2285-8E75-9E33-7ACBB3CE53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7357" y="4941168"/>
            <a:ext cx="3177618" cy="1668249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E36E1281-15EF-206A-0466-18B42DDF26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60032" y="3918757"/>
            <a:ext cx="3799862" cy="2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4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8571-E9F0-F0AD-7853-22BEE410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FF578B-67C7-44ED-E287-756D1D82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04599B-8565-5A1D-441B-5DC432399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ES"/>
              <a:t>Razones para modelar:</a:t>
            </a:r>
          </a:p>
          <a:p>
            <a:pPr marL="400050" lvl="1" indent="0">
              <a:buNone/>
            </a:pPr>
            <a:r>
              <a:rPr lang="es-ES"/>
              <a:t>1. Clarificación de Requisitos</a:t>
            </a:r>
          </a:p>
          <a:p>
            <a:pPr marL="400050" lvl="1" indent="0">
              <a:buNone/>
            </a:pPr>
            <a:r>
              <a:rPr lang="es-ES"/>
              <a:t>2. Visualización del Diseño</a:t>
            </a:r>
          </a:p>
          <a:p>
            <a:pPr marL="400050" lvl="1" indent="0">
              <a:buNone/>
            </a:pPr>
            <a:r>
              <a:rPr lang="es-ES"/>
              <a:t>3. Identificación de Problemas de Diseño</a:t>
            </a:r>
          </a:p>
          <a:p>
            <a:pPr marL="400050" lvl="1" indent="0">
              <a:buNone/>
            </a:pPr>
            <a:r>
              <a:rPr lang="es-ES"/>
              <a:t>4. Facilita la Toma de Decisiones</a:t>
            </a:r>
          </a:p>
          <a:p>
            <a:pPr marL="400050" lvl="1" indent="0">
              <a:buNone/>
            </a:pPr>
            <a:r>
              <a:rPr lang="es-ES"/>
              <a:t>5. Alineación con Objetivos del Negocio</a:t>
            </a:r>
          </a:p>
          <a:p>
            <a:pPr marL="400050" lvl="1" indent="0">
              <a:buNone/>
            </a:pPr>
            <a:r>
              <a:rPr lang="es-ES"/>
              <a:t>6. Ahorro de Recursos</a:t>
            </a:r>
          </a:p>
          <a:p>
            <a:pPr marL="400050" lvl="1" indent="0">
              <a:buNone/>
            </a:pPr>
            <a:r>
              <a:rPr lang="es-ES"/>
              <a:t>7. Documentación Efectiva</a:t>
            </a:r>
          </a:p>
          <a:p>
            <a:pPr marL="400050" lvl="1" indent="0">
              <a:buNone/>
            </a:pPr>
            <a:r>
              <a:rPr lang="es-ES"/>
              <a:t>8. Mejora la Colaboración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B77FBD-40D9-1826-4C74-AD6947C6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1. Modelización</a:t>
            </a:r>
          </a:p>
        </p:txBody>
      </p:sp>
      <p:pic>
        <p:nvPicPr>
          <p:cNvPr id="8" name="Imagen 7" descr="Casa de piedra&#10;&#10;Descripción generada automáticamente con confianza media">
            <a:extLst>
              <a:ext uri="{FF2B5EF4-FFF2-40B4-BE49-F238E27FC236}">
                <a16:creationId xmlns:a16="http://schemas.microsoft.com/office/drawing/2014/main" id="{3B44E0D2-D516-AB17-D083-F95DD9109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7357" y="4941168"/>
            <a:ext cx="3177618" cy="1668249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59D4B801-FD3B-F2BF-59B5-E031CDB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220072" y="1443875"/>
            <a:ext cx="3799862" cy="2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4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4BDFB-08DF-3B24-98DE-AA01EE64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Programación Orientada a Objetos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1446BA-08D9-2950-571A-7AA118878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8" y="4580434"/>
            <a:ext cx="6729984" cy="1300328"/>
          </a:xfrm>
        </p:spPr>
        <p:txBody>
          <a:bodyPr>
            <a:normAutofit/>
          </a:bodyPr>
          <a:lstStyle/>
          <a:p>
            <a:pPr algn="r"/>
            <a:r>
              <a:rPr lang="es-ES"/>
              <a:t>¿Qué sabéis?</a:t>
            </a:r>
          </a:p>
          <a:p>
            <a:pPr algn="r"/>
            <a:r>
              <a:rPr lang="es-ES">
                <a:solidFill>
                  <a:schemeClr val="tx1"/>
                </a:solidFill>
              </a:rPr>
              <a:t>¿Qué es un objeto de la vida real? ¿Podemos clasificarlos?</a:t>
            </a:r>
          </a:p>
          <a:p>
            <a:pPr algn="r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C69D34-4609-75B9-DD72-71CBFA1E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10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919778-DE7D-66AB-8281-41460FF2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Paradigma más ampliamente utilizado</a:t>
            </a:r>
          </a:p>
          <a:p>
            <a:pPr lvl="1"/>
            <a:r>
              <a:rPr lang="es-ES"/>
              <a:t>Facilita el trabajo en equipo y la reutilización</a:t>
            </a:r>
          </a:p>
          <a:p>
            <a:r>
              <a:rPr lang="es-ES"/>
              <a:t>Abstracción de la realidad</a:t>
            </a:r>
          </a:p>
          <a:p>
            <a:r>
              <a:rPr lang="es-ES"/>
              <a:t>Envuelve información y comportamiento en </a:t>
            </a:r>
            <a:r>
              <a:rPr lang="es-ES">
                <a:solidFill>
                  <a:schemeClr val="tx2"/>
                </a:solidFill>
              </a:rPr>
              <a:t>OBJETOS</a:t>
            </a:r>
          </a:p>
          <a:p>
            <a:r>
              <a:rPr lang="es-ES"/>
              <a:t>Los objetos se construyen desde una plantilla llamada </a:t>
            </a:r>
            <a:r>
              <a:rPr lang="es-ES">
                <a:solidFill>
                  <a:schemeClr val="tx2"/>
                </a:solidFill>
              </a:rPr>
              <a:t>CLASE</a:t>
            </a:r>
          </a:p>
          <a:p>
            <a:r>
              <a:rPr lang="es-ES"/>
              <a:t>Una clase se compone de </a:t>
            </a:r>
          </a:p>
          <a:p>
            <a:pPr marL="0" indent="0">
              <a:buNone/>
            </a:pPr>
            <a:r>
              <a:rPr lang="es-ES">
                <a:solidFill>
                  <a:schemeClr val="accent4"/>
                </a:solidFill>
              </a:rPr>
              <a:t>     información</a:t>
            </a:r>
            <a:r>
              <a:rPr lang="es-ES"/>
              <a:t> y </a:t>
            </a:r>
            <a:r>
              <a:rPr lang="es-ES">
                <a:solidFill>
                  <a:schemeClr val="accent4"/>
                </a:solidFill>
              </a:rPr>
              <a:t>comportamiento</a:t>
            </a:r>
          </a:p>
          <a:p>
            <a:pPr lvl="1"/>
            <a:r>
              <a:rPr lang="es-ES"/>
              <a:t>Atributos y métodos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2. Bases del diseño </a:t>
            </a:r>
            <a:r>
              <a:rPr lang="es-ES" b="1">
                <a:solidFill>
                  <a:schemeClr val="accent4"/>
                </a:solidFill>
              </a:rPr>
              <a:t>DOO</a:t>
            </a:r>
            <a:r>
              <a:rPr lang="es-ES"/>
              <a:t> y la programación orientada a objetos </a:t>
            </a:r>
            <a:r>
              <a:rPr lang="es-ES" b="1">
                <a:solidFill>
                  <a:schemeClr val="accent4"/>
                </a:solidFill>
              </a:rPr>
              <a:t>POO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A730AD6-F52B-7D81-F532-D3750CC7D7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7" y="5003816"/>
            <a:ext cx="792088" cy="1426945"/>
          </a:xfrm>
          <a:prstGeom prst="rect">
            <a:avLst/>
          </a:prstGeom>
        </p:spPr>
      </p:pic>
      <p:pic>
        <p:nvPicPr>
          <p:cNvPr id="5" name="Imagen 4" descr="Un dibujo de una cara con ojos y boca&#10;&#10;Descripción generada automáticamente con confianza baja">
            <a:extLst>
              <a:ext uri="{FF2B5EF4-FFF2-40B4-BE49-F238E27FC236}">
                <a16:creationId xmlns:a16="http://schemas.microsoft.com/office/drawing/2014/main" id="{CFC72328-673B-9EC1-DBA6-C19B95950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509" y="5426648"/>
            <a:ext cx="1004115" cy="1004115"/>
          </a:xfrm>
          <a:prstGeom prst="rect">
            <a:avLst/>
          </a:prstGeom>
        </p:spPr>
      </p:pic>
      <p:pic>
        <p:nvPicPr>
          <p:cNvPr id="6" name="Imagen 5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5F461F8D-59B3-FDD3-08BA-0CDBBC671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276" y="5426648"/>
            <a:ext cx="1004115" cy="1004115"/>
          </a:xfrm>
          <a:prstGeom prst="rect">
            <a:avLst/>
          </a:prstGeom>
        </p:spPr>
      </p:pic>
      <p:pic>
        <p:nvPicPr>
          <p:cNvPr id="7" name="Imagen 6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D3A56ABF-DADB-9FB3-4B7A-E43D2E9C4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743" y="5426648"/>
            <a:ext cx="1004115" cy="1004115"/>
          </a:xfrm>
          <a:prstGeom prst="rect">
            <a:avLst/>
          </a:prstGeom>
        </p:spPr>
      </p:pic>
      <p:pic>
        <p:nvPicPr>
          <p:cNvPr id="8" name="Imagen 7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A4D0B861-7419-F9E9-B2C4-A7C129726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77" y="5426648"/>
            <a:ext cx="1004115" cy="100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33C0-EC68-668D-B74D-107E6E69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0F9861-F464-D066-9C20-219B7E53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720A1-932C-C1AA-8067-BC3D976363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7676587" cy="5972683"/>
          </a:xfrm>
        </p:spPr>
        <p:txBody>
          <a:bodyPr/>
          <a:lstStyle/>
          <a:p>
            <a:r>
              <a:rPr lang="es-ES"/>
              <a:t>Ciclo de vida de un programa orientado a objetos</a:t>
            </a:r>
          </a:p>
          <a:p>
            <a:pPr marL="457200" lvl="1" indent="0">
              <a:buNone/>
            </a:pPr>
            <a:r>
              <a:rPr lang="es-ES"/>
              <a:t>1. Creación de los objetos (a medida que son necesarios)</a:t>
            </a:r>
          </a:p>
          <a:p>
            <a:pPr marL="457200" lvl="1" indent="0">
              <a:buNone/>
            </a:pPr>
            <a:r>
              <a:rPr lang="es-ES"/>
              <a:t>2. El usuario interactúa con el programa y los objetos intercambian mensajes</a:t>
            </a:r>
          </a:p>
          <a:p>
            <a:pPr lvl="2"/>
            <a:r>
              <a:rPr lang="es-ES"/>
              <a:t>Es posible que se creen nuevos objetos o se destruyan algunos existentes</a:t>
            </a:r>
          </a:p>
          <a:p>
            <a:pPr marL="457200" lvl="1" indent="0">
              <a:buNone/>
            </a:pPr>
            <a:r>
              <a:rPr lang="es-ES"/>
              <a:t>3. Los objetos que no son necesarios se destruyen (ya sea de forma programada o automatizada)</a:t>
            </a:r>
          </a:p>
          <a:p>
            <a:pPr lvl="2"/>
            <a:r>
              <a:rPr lang="es-ES"/>
              <a:t>En Java existe un sistema encargado de la destrucción de objetos no utilizados (</a:t>
            </a:r>
            <a:r>
              <a:rPr lang="es-ES" err="1"/>
              <a:t>Garbage</a:t>
            </a:r>
            <a:r>
              <a:rPr lang="es-ES"/>
              <a:t> </a:t>
            </a:r>
            <a:r>
              <a:rPr lang="es-ES" err="1"/>
              <a:t>collector</a:t>
            </a:r>
            <a:r>
              <a:rPr lang="es-ES"/>
              <a:t>)</a:t>
            </a:r>
          </a:p>
          <a:p>
            <a:r>
              <a:rPr lang="es-ES">
                <a:solidFill>
                  <a:schemeClr val="accent4"/>
                </a:solidFill>
              </a:rPr>
              <a:t>¿Qué significa que un objeto se cree o destruya?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08BBB9-2840-0A49-094C-ABAB9CEA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3. Bases del diseño </a:t>
            </a:r>
            <a:r>
              <a:rPr lang="es-ES" b="1">
                <a:solidFill>
                  <a:schemeClr val="accent4"/>
                </a:solidFill>
              </a:rPr>
              <a:t>DOO</a:t>
            </a:r>
            <a:r>
              <a:rPr lang="es-ES"/>
              <a:t> y la programación </a:t>
            </a:r>
            <a:r>
              <a:rPr lang="es-ES" b="1">
                <a:solidFill>
                  <a:schemeClr val="accent4"/>
                </a:solidFill>
              </a:rPr>
              <a:t>POO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962A09E-3044-8D2B-F522-E4408E17A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03" y="5661248"/>
            <a:ext cx="557378" cy="1004115"/>
          </a:xfrm>
          <a:prstGeom prst="rect">
            <a:avLst/>
          </a:prstGeom>
        </p:spPr>
      </p:pic>
      <p:pic>
        <p:nvPicPr>
          <p:cNvPr id="5" name="Imagen 4" descr="Un dibujo de una cara con ojos y boca&#10;&#10;Descripción generada automáticamente con confianza baja">
            <a:extLst>
              <a:ext uri="{FF2B5EF4-FFF2-40B4-BE49-F238E27FC236}">
                <a16:creationId xmlns:a16="http://schemas.microsoft.com/office/drawing/2014/main" id="{8EA79C95-98FB-ACDE-D09C-E00154074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439" y="5992914"/>
            <a:ext cx="567187" cy="567187"/>
          </a:xfrm>
          <a:prstGeom prst="rect">
            <a:avLst/>
          </a:prstGeom>
        </p:spPr>
      </p:pic>
      <p:pic>
        <p:nvPicPr>
          <p:cNvPr id="6" name="Imagen 5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255D0C4A-70B2-9373-FEAA-FAE4B51C7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855" y="5992914"/>
            <a:ext cx="567187" cy="567187"/>
          </a:xfrm>
          <a:prstGeom prst="rect">
            <a:avLst/>
          </a:prstGeom>
        </p:spPr>
      </p:pic>
      <p:pic>
        <p:nvPicPr>
          <p:cNvPr id="7" name="Imagen 6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0BCEA931-036B-A042-3660-8A7513D405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023" y="5992914"/>
            <a:ext cx="567187" cy="567187"/>
          </a:xfrm>
          <a:prstGeom prst="rect">
            <a:avLst/>
          </a:prstGeom>
        </p:spPr>
      </p:pic>
      <p:pic>
        <p:nvPicPr>
          <p:cNvPr id="8" name="Imagen 7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7F1A6215-CDFB-D9AC-4D73-2C6FAEC286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607" y="5992914"/>
            <a:ext cx="567187" cy="56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9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4A0DBF4-9638-36EE-AD2E-67A04F34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r>
              <a:rPr lang="es-ES"/>
              <a:t>Programación convencional</a:t>
            </a:r>
          </a:p>
          <a:p>
            <a:pPr lvl="1"/>
            <a:r>
              <a:rPr lang="es-ES"/>
              <a:t>Procedimientos - funciones</a:t>
            </a:r>
          </a:p>
          <a:p>
            <a:pPr lvl="1"/>
            <a:r>
              <a:rPr lang="es-ES"/>
              <a:t>Datos - variables</a:t>
            </a:r>
          </a:p>
          <a:p>
            <a:pPr lvl="2"/>
            <a:r>
              <a:rPr lang="es-ES"/>
              <a:t>Globales</a:t>
            </a:r>
          </a:p>
          <a:p>
            <a:pPr lvl="2"/>
            <a:r>
              <a:rPr lang="es-ES"/>
              <a:t>Locales (se pasan como parámetros)</a:t>
            </a:r>
          </a:p>
          <a:p>
            <a:endParaRPr lang="es-ES"/>
          </a:p>
          <a:p>
            <a:r>
              <a:rPr lang="es-ES"/>
              <a:t>POO</a:t>
            </a:r>
          </a:p>
          <a:p>
            <a:pPr lvl="1"/>
            <a:r>
              <a:rPr lang="es-ES"/>
              <a:t>Agrupa ambos</a:t>
            </a:r>
          </a:p>
          <a:p>
            <a:pPr lvl="3"/>
            <a:r>
              <a:rPr lang="es-ES"/>
              <a:t>Atributos  </a:t>
            </a:r>
            <a:r>
              <a:rPr lang="es-ES" sz="2400" b="1"/>
              <a:t>→</a:t>
            </a:r>
          </a:p>
          <a:p>
            <a:pPr lvl="3"/>
            <a:endParaRPr lang="es-ES"/>
          </a:p>
          <a:p>
            <a:pPr lvl="3"/>
            <a:endParaRPr lang="es-ES"/>
          </a:p>
          <a:p>
            <a:pPr lvl="3"/>
            <a:r>
              <a:rPr lang="es-ES"/>
              <a:t>Métodos   </a:t>
            </a:r>
            <a:r>
              <a:rPr lang="es-ES" sz="2400" b="1"/>
              <a:t>→</a:t>
            </a:r>
          </a:p>
          <a:p>
            <a:pPr lvl="2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3. Bases DOO y POO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A730AD6-F52B-7D81-F532-D3750CC7D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00" y="2817448"/>
            <a:ext cx="1646428" cy="2966037"/>
          </a:xfrm>
          <a:prstGeom prst="rect">
            <a:avLst/>
          </a:prstGeom>
        </p:spPr>
      </p:pic>
      <p:pic>
        <p:nvPicPr>
          <p:cNvPr id="5" name="Imagen 4" descr="Un dibujo de una cara con ojos y boca&#10;&#10;Descripción generada automáticamente con confianza baja">
            <a:extLst>
              <a:ext uri="{FF2B5EF4-FFF2-40B4-BE49-F238E27FC236}">
                <a16:creationId xmlns:a16="http://schemas.microsoft.com/office/drawing/2014/main" id="{CFC72328-673B-9EC1-DBA6-C19B95950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227" y="3432227"/>
            <a:ext cx="894842" cy="894842"/>
          </a:xfrm>
          <a:prstGeom prst="rect">
            <a:avLst/>
          </a:prstGeom>
        </p:spPr>
      </p:pic>
      <p:pic>
        <p:nvPicPr>
          <p:cNvPr id="6" name="Imagen 5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5F461F8D-59B3-FDD3-08BA-0CDBBC671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002" y="3323263"/>
            <a:ext cx="894842" cy="894842"/>
          </a:xfrm>
          <a:prstGeom prst="rect">
            <a:avLst/>
          </a:prstGeom>
        </p:spPr>
      </p:pic>
      <p:pic>
        <p:nvPicPr>
          <p:cNvPr id="7" name="Imagen 6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D3A56ABF-DADB-9FB3-4B7A-E43D2E9C4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345" y="2430705"/>
            <a:ext cx="894842" cy="894842"/>
          </a:xfrm>
          <a:prstGeom prst="rect">
            <a:avLst/>
          </a:prstGeom>
        </p:spPr>
      </p:pic>
      <p:pic>
        <p:nvPicPr>
          <p:cNvPr id="8" name="Imagen 7" descr="Un dibujo de un perro&#10;&#10;Descripción generada automáticamente con confianza media">
            <a:extLst>
              <a:ext uri="{FF2B5EF4-FFF2-40B4-BE49-F238E27FC236}">
                <a16:creationId xmlns:a16="http://schemas.microsoft.com/office/drawing/2014/main" id="{A4D0B861-7419-F9E9-B2C4-A7C129726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450" y="2360478"/>
            <a:ext cx="894842" cy="89484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10E67D-1EE9-3D63-7F22-F16548E6802A}"/>
              </a:ext>
            </a:extLst>
          </p:cNvPr>
          <p:cNvSpPr txBox="1"/>
          <p:nvPr/>
        </p:nvSpPr>
        <p:spPr>
          <a:xfrm>
            <a:off x="4744409" y="4772206"/>
            <a:ext cx="34563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4"/>
                </a:solidFill>
              </a:rPr>
              <a:t>Pero al final seguimos teniendo archivos de texto que almacenan código</a:t>
            </a:r>
          </a:p>
          <a:p>
            <a:r>
              <a:rPr lang="es-ES" err="1">
                <a:solidFill>
                  <a:schemeClr val="accent4"/>
                </a:solidFill>
              </a:rPr>
              <a:t>git</a:t>
            </a:r>
            <a:r>
              <a:rPr lang="es-ES">
                <a:solidFill>
                  <a:schemeClr val="accent4"/>
                </a:solidFill>
              </a:rPr>
              <a:t> BANCO//0</a:t>
            </a:r>
          </a:p>
          <a:p>
            <a:r>
              <a:rPr lang="es-ES">
                <a:solidFill>
                  <a:schemeClr val="accent4"/>
                </a:solidFill>
              </a:rPr>
              <a:t>Ejecutar estructurada</a:t>
            </a:r>
          </a:p>
          <a:p>
            <a:r>
              <a:rPr lang="es-ES">
                <a:solidFill>
                  <a:schemeClr val="accent4"/>
                </a:solidFill>
              </a:rPr>
              <a:t>vs </a:t>
            </a:r>
            <a:r>
              <a:rPr lang="es-ES" b="1">
                <a:solidFill>
                  <a:schemeClr val="accent4"/>
                </a:solidFill>
              </a:rPr>
              <a:t>POO</a:t>
            </a:r>
          </a:p>
        </p:txBody>
      </p:sp>
      <p:pic>
        <p:nvPicPr>
          <p:cNvPr id="11" name="Imagen 10" descr="Forma&#10;&#10;Descripción generada automáticamente con confianza media">
            <a:hlinkClick r:id="rId7"/>
            <a:extLst>
              <a:ext uri="{FF2B5EF4-FFF2-40B4-BE49-F238E27FC236}">
                <a16:creationId xmlns:a16="http://schemas.microsoft.com/office/drawing/2014/main" id="{C002A7B0-F214-2D9A-18A7-76E5F7BA582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27" y="6067032"/>
            <a:ext cx="1316985" cy="7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4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D1FEF6-2837-280F-88EC-904D9587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562" y="664822"/>
            <a:ext cx="8707438" cy="5972683"/>
          </a:xfrm>
        </p:spPr>
        <p:txBody>
          <a:bodyPr numCol="3">
            <a:normAutofit/>
          </a:bodyPr>
          <a:lstStyle/>
          <a:p>
            <a:r>
              <a:rPr lang="es-ES"/>
              <a:t>Clases</a:t>
            </a:r>
          </a:p>
          <a:p>
            <a:r>
              <a:rPr lang="es-ES"/>
              <a:t>Objetos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Métodos</a:t>
            </a:r>
          </a:p>
          <a:p>
            <a:r>
              <a:rPr lang="es-ES"/>
              <a:t>Mensajes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Atributos</a:t>
            </a:r>
          </a:p>
          <a:p>
            <a:r>
              <a:rPr lang="es-ES"/>
              <a:t>Estado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4. ELEMENTOS POO</a:t>
            </a:r>
          </a:p>
        </p:txBody>
      </p:sp>
      <p:graphicFrame>
        <p:nvGraphicFramePr>
          <p:cNvPr id="11" name="Tabla 5">
            <a:extLst>
              <a:ext uri="{FF2B5EF4-FFF2-40B4-BE49-F238E27FC236}">
                <a16:creationId xmlns:a16="http://schemas.microsoft.com/office/drawing/2014/main" id="{CB1D6DA4-B760-0DE3-6F5C-3AD54AF62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154657"/>
              </p:ext>
            </p:extLst>
          </p:nvPr>
        </p:nvGraphicFramePr>
        <p:xfrm>
          <a:off x="3695672" y="3249533"/>
          <a:ext cx="2283330" cy="2169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33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723062">
                <a:tc>
                  <a:txBody>
                    <a:bodyPr/>
                    <a:lstStyle/>
                    <a:p>
                      <a:r>
                        <a:rPr lang="es-ES" sz="1400"/>
                        <a:t>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es-ES" sz="1400"/>
                        <a:t>marca</a:t>
                      </a:r>
                    </a:p>
                    <a:p>
                      <a:r>
                        <a:rPr lang="es-ES" sz="1400"/>
                        <a:t>modelo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A32E42F-8760-E445-4847-87E6DDC69C76}"/>
              </a:ext>
            </a:extLst>
          </p:cNvPr>
          <p:cNvSpPr txBox="1"/>
          <p:nvPr/>
        </p:nvSpPr>
        <p:spPr>
          <a:xfrm>
            <a:off x="4837337" y="403729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accent2"/>
                </a:solidFill>
              </a:rPr>
              <a:t>Clases -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accent2"/>
                </a:solidFill>
              </a:rPr>
              <a:t>Métodos - mensajes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accent2"/>
                </a:solidFill>
              </a:rPr>
              <a:t>Atributos - estado</a:t>
            </a:r>
          </a:p>
        </p:txBody>
      </p:sp>
    </p:spTree>
    <p:extLst>
      <p:ext uri="{BB962C8B-B14F-4D97-AF65-F5344CB8AC3E}">
        <p14:creationId xmlns:p14="http://schemas.microsoft.com/office/powerpoint/2010/main" val="328943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913AA31D-9981-9ACE-022B-44BC5462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r>
              <a:rPr lang="es-ES"/>
              <a:t>Clases</a:t>
            </a:r>
          </a:p>
          <a:p>
            <a:pPr lvl="1"/>
            <a:r>
              <a:rPr lang="es-ES"/>
              <a:t>Es un tipo de datos (</a:t>
            </a:r>
            <a:r>
              <a:rPr lang="es-ES" err="1"/>
              <a:t>string</a:t>
            </a:r>
            <a:r>
              <a:rPr lang="es-ES"/>
              <a:t>, </a:t>
            </a:r>
            <a:r>
              <a:rPr lang="es-ES" err="1"/>
              <a:t>int</a:t>
            </a:r>
            <a:r>
              <a:rPr lang="es-ES"/>
              <a:t>, </a:t>
            </a:r>
            <a:r>
              <a:rPr lang="es-ES" err="1"/>
              <a:t>char</a:t>
            </a:r>
            <a:r>
              <a:rPr lang="es-ES"/>
              <a:t>…)</a:t>
            </a:r>
          </a:p>
          <a:p>
            <a:pPr lvl="2"/>
            <a:r>
              <a:rPr lang="es-ES"/>
              <a:t>Estructura de datos propia</a:t>
            </a:r>
          </a:p>
          <a:p>
            <a:pPr lvl="2"/>
            <a:r>
              <a:rPr lang="es-ES"/>
              <a:t>Propiedades – </a:t>
            </a:r>
            <a:r>
              <a:rPr lang="es-ES" b="1" u="sng"/>
              <a:t>atributos</a:t>
            </a:r>
          </a:p>
          <a:p>
            <a:pPr lvl="2"/>
            <a:r>
              <a:rPr lang="es-ES"/>
              <a:t>Funcionalidad – </a:t>
            </a:r>
            <a:r>
              <a:rPr lang="es-ES" b="1" u="sng"/>
              <a:t>métodos</a:t>
            </a:r>
          </a:p>
          <a:p>
            <a:pPr lvl="3"/>
            <a:r>
              <a:rPr lang="es-ES"/>
              <a:t>Qué pueden hacer los OO</a:t>
            </a:r>
          </a:p>
          <a:p>
            <a:r>
              <a:rPr lang="es-ES"/>
              <a:t>Objetos</a:t>
            </a:r>
          </a:p>
          <a:p>
            <a:pPr lvl="1"/>
            <a:r>
              <a:rPr lang="es-ES">
                <a:solidFill>
                  <a:schemeClr val="accent4"/>
                </a:solidFill>
              </a:rPr>
              <a:t>Instancia</a:t>
            </a:r>
            <a:r>
              <a:rPr lang="es-ES"/>
              <a:t> de la clase</a:t>
            </a:r>
          </a:p>
          <a:p>
            <a:pPr lvl="2"/>
            <a:r>
              <a:rPr lang="es-ES" b="1">
                <a:solidFill>
                  <a:schemeClr val="accent4"/>
                </a:solidFill>
              </a:rPr>
              <a:t>GIT//1 cuenta</a:t>
            </a:r>
          </a:p>
          <a:p>
            <a:pPr lvl="2"/>
            <a:endParaRPr lang="es-ES"/>
          </a:p>
          <a:p>
            <a:pPr lvl="2"/>
            <a:r>
              <a:rPr lang="es-ES"/>
              <a:t>Atributos con valores</a:t>
            </a:r>
          </a:p>
          <a:p>
            <a:pPr lvl="2"/>
            <a:r>
              <a:rPr lang="es-ES"/>
              <a:t>Pueden ser múltiples </a:t>
            </a:r>
          </a:p>
          <a:p>
            <a:pPr lvl="2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4. </a:t>
            </a:r>
            <a:r>
              <a:rPr lang="es-ES" sz="2800"/>
              <a:t>ELEMENTOS POO</a:t>
            </a:r>
          </a:p>
        </p:txBody>
      </p:sp>
      <p:graphicFrame>
        <p:nvGraphicFramePr>
          <p:cNvPr id="11" name="Tabla 5">
            <a:extLst>
              <a:ext uri="{FF2B5EF4-FFF2-40B4-BE49-F238E27FC236}">
                <a16:creationId xmlns:a16="http://schemas.microsoft.com/office/drawing/2014/main" id="{CB1D6DA4-B760-0DE3-6F5C-3AD54AF62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111006"/>
              </p:ext>
            </p:extLst>
          </p:nvPr>
        </p:nvGraphicFramePr>
        <p:xfrm>
          <a:off x="3399001" y="4516452"/>
          <a:ext cx="1800200" cy="171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marca</a:t>
                      </a:r>
                    </a:p>
                    <a:p>
                      <a:r>
                        <a:rPr lang="es-ES" sz="1400"/>
                        <a:t>modelo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D85D805C-F554-CA2E-4DD1-B2DD56F9E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286644"/>
              </p:ext>
            </p:extLst>
          </p:nvPr>
        </p:nvGraphicFramePr>
        <p:xfrm>
          <a:off x="7031673" y="4516452"/>
          <a:ext cx="1800200" cy="171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lavadora1: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/>
                        <a:t>marca: </a:t>
                      </a:r>
                      <a:r>
                        <a:rPr lang="es-ES" sz="1400" err="1"/>
                        <a:t>bosch</a:t>
                      </a:r>
                      <a:endParaRPr lang="es-ES" sz="1400"/>
                    </a:p>
                    <a:p>
                      <a:r>
                        <a:rPr lang="es-ES" sz="1400"/>
                        <a:t>modelo: 100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1A41C76-76A5-339F-D4D4-1988F231D798}"/>
              </a:ext>
            </a:extLst>
          </p:cNvPr>
          <p:cNvCxnSpPr/>
          <p:nvPr/>
        </p:nvCxnSpPr>
        <p:spPr>
          <a:xfrm>
            <a:off x="5375489" y="5164524"/>
            <a:ext cx="144016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985FD2-9943-DBEC-4164-EEFFAAAEB98A}"/>
              </a:ext>
            </a:extLst>
          </p:cNvPr>
          <p:cNvSpPr txBox="1"/>
          <p:nvPr/>
        </p:nvSpPr>
        <p:spPr>
          <a:xfrm>
            <a:off x="5371023" y="4732476"/>
            <a:ext cx="1444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>
                <a:solidFill>
                  <a:schemeClr val="accent6">
                    <a:lumMod val="50000"/>
                  </a:schemeClr>
                </a:solidFill>
              </a:rPr>
              <a:t>Instanciación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32E42F-8760-E445-4847-87E6DDC69C76}"/>
              </a:ext>
            </a:extLst>
          </p:cNvPr>
          <p:cNvSpPr txBox="1"/>
          <p:nvPr/>
        </p:nvSpPr>
        <p:spPr>
          <a:xfrm>
            <a:off x="4220559" y="455235"/>
            <a:ext cx="38164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4"/>
                </a:solidFill>
                <a:highlight>
                  <a:srgbClr val="FFFF00"/>
                </a:highlight>
              </a:rPr>
              <a:t>Clases – objetos → ESTRUCTURA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Métodos - mensajes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Atributos - estado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AAED8D-CDEE-1C9C-564B-10FB3EFD0DF3}"/>
              </a:ext>
            </a:extLst>
          </p:cNvPr>
          <p:cNvSpPr txBox="1"/>
          <p:nvPr/>
        </p:nvSpPr>
        <p:spPr>
          <a:xfrm>
            <a:off x="4691413" y="1713779"/>
            <a:ext cx="32403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200" err="1">
                <a:latin typeface="Courier New" panose="02070309020205020404" pitchFamily="49" charset="0"/>
                <a:cs typeface="Courier New" panose="02070309020205020404" pitchFamily="49" charset="0"/>
              </a:rPr>
              <a:t>CuentaBancaria</a:t>
            </a:r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/*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 __________________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 </a:t>
            </a:r>
            <a:r>
              <a:rPr lang="es-ES" sz="1200" err="1">
                <a:latin typeface="Courier New" panose="02070309020205020404" pitchFamily="49" charset="0"/>
                <a:cs typeface="Courier New" panose="02070309020205020404" pitchFamily="49" charset="0"/>
              </a:rPr>
              <a:t>CuentaBancaria</a:t>
            </a:r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|_________________|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 </a:t>
            </a:r>
            <a:r>
              <a:rPr lang="es-ES" sz="1200" err="1">
                <a:latin typeface="Courier New" panose="02070309020205020404" pitchFamily="49" charset="0"/>
                <a:cs typeface="Courier New" panose="02070309020205020404" pitchFamily="49" charset="0"/>
              </a:rPr>
              <a:t>numeroCuenta</a:t>
            </a:r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 saldo           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|_________________|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 transferir()    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| </a:t>
            </a:r>
            <a:r>
              <a:rPr lang="es-ES" sz="1200" err="1">
                <a:latin typeface="Courier New" panose="02070309020205020404" pitchFamily="49" charset="0"/>
                <a:cs typeface="Courier New" panose="02070309020205020404" pitchFamily="49" charset="0"/>
              </a:rPr>
              <a:t>imprimirSaldo</a:t>
            </a:r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() |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___________________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</a:p>
          <a:p>
            <a:r>
              <a:rPr lang="es-ES" sz="1200">
                <a:latin typeface="Courier New" panose="02070309020205020404" pitchFamily="49" charset="0"/>
                <a:cs typeface="Courier New" panose="02070309020205020404" pitchFamily="49" charset="0"/>
              </a:rPr>
              <a:t>    * */</a:t>
            </a:r>
          </a:p>
        </p:txBody>
      </p:sp>
      <p:pic>
        <p:nvPicPr>
          <p:cNvPr id="8" name="Imagen 7" descr="Forma&#10;&#10;Descripción generada automáticamente con confianza media">
            <a:hlinkClick r:id="rId3"/>
            <a:extLst>
              <a:ext uri="{FF2B5EF4-FFF2-40B4-BE49-F238E27FC236}">
                <a16:creationId xmlns:a16="http://schemas.microsoft.com/office/drawing/2014/main" id="{098F7DF1-9EA3-D42C-1D3A-F93A71E3BC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88" y="5977100"/>
            <a:ext cx="1316985" cy="7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7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82CF284D-E6DA-592B-FB23-F1CB42F1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562" y="739015"/>
            <a:ext cx="8707438" cy="5710555"/>
          </a:xfrm>
        </p:spPr>
        <p:txBody>
          <a:bodyPr numCol="2">
            <a:normAutofit/>
          </a:bodyPr>
          <a:lstStyle/>
          <a:p>
            <a:r>
              <a:rPr lang="es-ES"/>
              <a:t>Atributos </a:t>
            </a:r>
          </a:p>
          <a:p>
            <a:pPr lvl="1"/>
            <a:r>
              <a:rPr lang="es-ES"/>
              <a:t>Estructura de </a:t>
            </a:r>
            <a:r>
              <a:rPr lang="es-ES">
                <a:highlight>
                  <a:srgbClr val="FFFF00"/>
                </a:highlight>
              </a:rPr>
              <a:t>datos</a:t>
            </a:r>
            <a:r>
              <a:rPr lang="es-ES"/>
              <a:t> de la clase</a:t>
            </a:r>
          </a:p>
          <a:p>
            <a:pPr lvl="2"/>
            <a:r>
              <a:rPr lang="es-ES"/>
              <a:t>Información permanente</a:t>
            </a:r>
          </a:p>
          <a:p>
            <a:pPr lvl="3"/>
            <a:r>
              <a:rPr lang="es-ES"/>
              <a:t>(marca)</a:t>
            </a:r>
          </a:p>
          <a:p>
            <a:pPr lvl="2"/>
            <a:r>
              <a:rPr lang="es-ES"/>
              <a:t>Cambiante</a:t>
            </a:r>
          </a:p>
          <a:p>
            <a:pPr lvl="3"/>
            <a:r>
              <a:rPr lang="es-ES"/>
              <a:t>(edad)</a:t>
            </a:r>
          </a:p>
          <a:p>
            <a:r>
              <a:rPr lang="es-ES"/>
              <a:t>Estado</a:t>
            </a:r>
          </a:p>
          <a:p>
            <a:pPr lvl="1"/>
            <a:r>
              <a:rPr lang="es-ES"/>
              <a:t>Conjunto de atributos</a:t>
            </a:r>
          </a:p>
          <a:p>
            <a:pPr lvl="1"/>
            <a:r>
              <a:rPr lang="es-ES"/>
              <a:t>En un momento dado</a:t>
            </a:r>
          </a:p>
          <a:p>
            <a:pPr lvl="1"/>
            <a:r>
              <a:rPr lang="es-ES"/>
              <a:t>Foto fija</a:t>
            </a:r>
          </a:p>
          <a:p>
            <a:pPr lvl="1"/>
            <a:r>
              <a:rPr lang="es-ES" err="1">
                <a:solidFill>
                  <a:schemeClr val="accent4"/>
                </a:solidFill>
              </a:rPr>
              <a:t>git</a:t>
            </a:r>
            <a:r>
              <a:rPr lang="es-ES">
                <a:solidFill>
                  <a:schemeClr val="accent4"/>
                </a:solidFill>
              </a:rPr>
              <a:t>//6 ejecutar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4. </a:t>
            </a:r>
            <a:r>
              <a:rPr lang="es-ES" sz="2800"/>
              <a:t>ELEMENTOS POO</a:t>
            </a:r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B2ECA562-E635-F2DE-BF17-3E417427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65DCCEED-BCD4-39ED-770E-C15625D21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52486"/>
              </p:ext>
            </p:extLst>
          </p:nvPr>
        </p:nvGraphicFramePr>
        <p:xfrm>
          <a:off x="512823" y="4769666"/>
          <a:ext cx="1800200" cy="18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60384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marca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estado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73ACAC4-F722-5AA0-81B9-614F478FA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41081"/>
              </p:ext>
            </p:extLst>
          </p:nvPr>
        </p:nvGraphicFramePr>
        <p:xfrm>
          <a:off x="3593377" y="4524928"/>
          <a:ext cx="1800200" cy="1778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312589">
                <a:tc>
                  <a:txBody>
                    <a:bodyPr/>
                    <a:lstStyle/>
                    <a:p>
                      <a:r>
                        <a:rPr lang="es-ES" sz="1400"/>
                        <a:t>lavadora1: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marca: Bosch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estado: apagada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edad: 0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830A4EF-FB31-EDF9-0B92-4ADBB99F2CAC}"/>
              </a:ext>
            </a:extLst>
          </p:cNvPr>
          <p:cNvCxnSpPr>
            <a:cxnSpLocks/>
          </p:cNvCxnSpPr>
          <p:nvPr/>
        </p:nvCxnSpPr>
        <p:spPr>
          <a:xfrm>
            <a:off x="2406577" y="5708678"/>
            <a:ext cx="10151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5C11F8F-C291-F98A-45CD-CE12FC75D86A}"/>
              </a:ext>
            </a:extLst>
          </p:cNvPr>
          <p:cNvSpPr txBox="1"/>
          <p:nvPr/>
        </p:nvSpPr>
        <p:spPr>
          <a:xfrm>
            <a:off x="2374304" y="5290965"/>
            <a:ext cx="9396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>
                <a:solidFill>
                  <a:schemeClr val="accent6">
                    <a:lumMod val="50000"/>
                  </a:schemeClr>
                </a:solidFill>
              </a:rPr>
              <a:t>Instanciación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FBDD3A7-4529-A91E-49CA-B63422186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295840"/>
              </p:ext>
            </p:extLst>
          </p:nvPr>
        </p:nvGraphicFramePr>
        <p:xfrm>
          <a:off x="6470855" y="2964230"/>
          <a:ext cx="1800200" cy="178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lavadora1: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marca: Bosch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estado: encendida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edad: 3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384A83A-4F29-7F6B-0709-25256335C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77604"/>
              </p:ext>
            </p:extLst>
          </p:nvPr>
        </p:nvGraphicFramePr>
        <p:xfrm>
          <a:off x="6496353" y="4914224"/>
          <a:ext cx="1800200" cy="178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lavadora1: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marca: Bosch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estado: apagada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edad: 10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A1BA85C-5F83-AD46-24A0-AFBA283721FA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5393577" y="3858603"/>
            <a:ext cx="1077278" cy="15554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7B29534-B703-EBDE-65C7-FBA2D782B76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393577" y="5414074"/>
            <a:ext cx="1102776" cy="3945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3049F43-504D-8755-043C-5B652268CDF6}"/>
              </a:ext>
            </a:extLst>
          </p:cNvPr>
          <p:cNvSpPr txBox="1"/>
          <p:nvPr/>
        </p:nvSpPr>
        <p:spPr>
          <a:xfrm>
            <a:off x="4898938" y="958750"/>
            <a:ext cx="36724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Clases -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Métodos - mensajes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4"/>
                </a:solidFill>
                <a:highlight>
                  <a:srgbClr val="FFFF00"/>
                </a:highlight>
              </a:rPr>
              <a:t>Atributos - estado</a:t>
            </a:r>
          </a:p>
        </p:txBody>
      </p:sp>
      <p:pic>
        <p:nvPicPr>
          <p:cNvPr id="11" name="Imagen 10" descr="Forma&#10;&#10;Descripción generada automáticamente con confianza media">
            <a:hlinkClick r:id="rId3"/>
            <a:extLst>
              <a:ext uri="{FF2B5EF4-FFF2-40B4-BE49-F238E27FC236}">
                <a16:creationId xmlns:a16="http://schemas.microsoft.com/office/drawing/2014/main" id="{B2EC0347-8B0C-BF18-3264-61BE5654C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490" y="6222886"/>
            <a:ext cx="1316985" cy="7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4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93E4E436-8009-4E37-9558-A9B1DCB1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r>
              <a:rPr lang="es-ES"/>
              <a:t>Mensajes</a:t>
            </a:r>
          </a:p>
          <a:p>
            <a:pPr lvl="1"/>
            <a:r>
              <a:rPr lang="es-ES">
                <a:solidFill>
                  <a:schemeClr val="accent4"/>
                </a:solidFill>
              </a:rPr>
              <a:t>Invocar</a:t>
            </a:r>
            <a:r>
              <a:rPr lang="es-ES"/>
              <a:t> un método de otro O</a:t>
            </a:r>
          </a:p>
          <a:p>
            <a:pPr lvl="2"/>
            <a:r>
              <a:rPr lang="es-ES"/>
              <a:t>Agente activo</a:t>
            </a:r>
          </a:p>
          <a:p>
            <a:pPr lvl="2"/>
            <a:r>
              <a:rPr lang="es-ES"/>
              <a:t>Agente pasivo</a:t>
            </a:r>
          </a:p>
          <a:p>
            <a:pPr lvl="2"/>
            <a:r>
              <a:rPr lang="es-ES" b="1">
                <a:solidFill>
                  <a:schemeClr val="accent4"/>
                </a:solidFill>
              </a:rPr>
              <a:t>GIT//2 cuenta</a:t>
            </a:r>
          </a:p>
          <a:p>
            <a:pPr lvl="3"/>
            <a:endParaRPr lang="es-ES" b="1">
              <a:solidFill>
                <a:schemeClr val="accent4"/>
              </a:solidFill>
            </a:endParaRPr>
          </a:p>
          <a:p>
            <a:r>
              <a:rPr lang="es-ES"/>
              <a:t>Métodos (FUNCIONALIDAD)</a:t>
            </a:r>
          </a:p>
          <a:p>
            <a:pPr lvl="1"/>
            <a:r>
              <a:rPr lang="es-ES"/>
              <a:t>Cambian estado del objeto</a:t>
            </a:r>
          </a:p>
          <a:p>
            <a:pPr lvl="2"/>
            <a:r>
              <a:rPr lang="es-ES"/>
              <a:t>encender() </a:t>
            </a:r>
            <a:r>
              <a:rPr lang="es-ES" b="1" err="1">
                <a:solidFill>
                  <a:schemeClr val="accent4"/>
                </a:solidFill>
              </a:rPr>
              <a:t>git</a:t>
            </a:r>
            <a:r>
              <a:rPr lang="es-ES" b="1">
                <a:solidFill>
                  <a:schemeClr val="accent4"/>
                </a:solidFill>
              </a:rPr>
              <a:t>//4 método</a:t>
            </a:r>
          </a:p>
          <a:p>
            <a:pPr lvl="1"/>
            <a:r>
              <a:rPr lang="es-ES"/>
              <a:t>Calculan cierto valor</a:t>
            </a:r>
          </a:p>
          <a:p>
            <a:pPr lvl="2"/>
            <a:r>
              <a:rPr lang="es-ES" err="1"/>
              <a:t>miCalculadora.sumar</a:t>
            </a:r>
            <a:r>
              <a:rPr lang="es-ES"/>
              <a:t>() </a:t>
            </a:r>
            <a:r>
              <a:rPr lang="es-ES" b="1">
                <a:solidFill>
                  <a:schemeClr val="accent4"/>
                </a:solidFill>
              </a:rPr>
              <a:t>GIT//5</a:t>
            </a:r>
          </a:p>
          <a:p>
            <a:pPr lvl="1"/>
            <a:r>
              <a:rPr lang="es-ES"/>
              <a:t>Ciclo de vida </a:t>
            </a:r>
            <a:r>
              <a:rPr lang="es-ES" err="1">
                <a:solidFill>
                  <a:schemeClr val="accent4"/>
                </a:solidFill>
              </a:rPr>
              <a:t>git</a:t>
            </a:r>
            <a:r>
              <a:rPr lang="es-ES">
                <a:solidFill>
                  <a:schemeClr val="accent4"/>
                </a:solidFill>
              </a:rPr>
              <a:t>//3</a:t>
            </a:r>
          </a:p>
          <a:p>
            <a:pPr lvl="2"/>
            <a:r>
              <a:rPr lang="es-ES"/>
              <a:t>Constructor </a:t>
            </a:r>
          </a:p>
          <a:p>
            <a:pPr lvl="2"/>
            <a:r>
              <a:rPr lang="es-ES"/>
              <a:t>Destructor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4. </a:t>
            </a:r>
            <a:r>
              <a:rPr lang="es-ES" sz="2800"/>
              <a:t>ELEMENTOS POO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C7BAE139-2426-4169-6B7F-74E6BD96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65DCCEED-BCD4-39ED-770E-C15625D21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030120"/>
              </p:ext>
            </p:extLst>
          </p:nvPr>
        </p:nvGraphicFramePr>
        <p:xfrm>
          <a:off x="3637280" y="2569122"/>
          <a:ext cx="2007953" cy="171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953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 err="1"/>
                        <a:t>miCasa</a:t>
                      </a:r>
                      <a:r>
                        <a:rPr lang="es-ES" sz="1400"/>
                        <a:t>: Casa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 err="1"/>
                        <a:t>String</a:t>
                      </a:r>
                      <a:r>
                        <a:rPr lang="es-ES" sz="1400"/>
                        <a:t>: nombre</a:t>
                      </a:r>
                    </a:p>
                    <a:p>
                      <a:r>
                        <a:rPr lang="es-ES" sz="1400"/>
                        <a:t>Lavadora: lavadora1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vender()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limpiar()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73ACAC4-F722-5AA0-81B9-614F478FA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91552"/>
              </p:ext>
            </p:extLst>
          </p:nvPr>
        </p:nvGraphicFramePr>
        <p:xfrm>
          <a:off x="7293959" y="2569122"/>
          <a:ext cx="1800200" cy="171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613">
                <a:tc>
                  <a:txBody>
                    <a:bodyPr/>
                    <a:lstStyle/>
                    <a:p>
                      <a:r>
                        <a:rPr lang="es-ES" sz="1400"/>
                        <a:t>lavadora1: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/>
                        <a:t>marca: Bosch</a:t>
                      </a:r>
                    </a:p>
                    <a:p>
                      <a:r>
                        <a:rPr lang="es-ES" sz="1400"/>
                        <a:t>modelo: 100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encender()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830A4EF-FB31-EDF9-0B92-4ADBB99F2CAC}"/>
              </a:ext>
            </a:extLst>
          </p:cNvPr>
          <p:cNvCxnSpPr/>
          <p:nvPr/>
        </p:nvCxnSpPr>
        <p:spPr>
          <a:xfrm>
            <a:off x="5749516" y="3711967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5C11F8F-C291-F98A-45CD-CE12FC75D86A}"/>
              </a:ext>
            </a:extLst>
          </p:cNvPr>
          <p:cNvSpPr txBox="1"/>
          <p:nvPr/>
        </p:nvSpPr>
        <p:spPr>
          <a:xfrm>
            <a:off x="5744077" y="3429000"/>
            <a:ext cx="1451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>
                <a:solidFill>
                  <a:schemeClr val="accent6">
                    <a:lumMod val="50000"/>
                  </a:schemeClr>
                </a:solidFill>
              </a:rPr>
              <a:t>lavadora1.encender()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58B25A-0634-D4B7-336D-0642E823E1A2}"/>
              </a:ext>
            </a:extLst>
          </p:cNvPr>
          <p:cNvSpPr txBox="1"/>
          <p:nvPr/>
        </p:nvSpPr>
        <p:spPr>
          <a:xfrm>
            <a:off x="4319972" y="890135"/>
            <a:ext cx="4824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Clases -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4"/>
                </a:solidFill>
                <a:highlight>
                  <a:srgbClr val="FFFF00"/>
                </a:highlight>
              </a:rPr>
              <a:t>Métodos – mensajes → COMPORTAMIENTO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Atributos - estado</a:t>
            </a:r>
          </a:p>
        </p:txBody>
      </p:sp>
      <p:pic>
        <p:nvPicPr>
          <p:cNvPr id="7" name="Imagen 6" descr="Forma&#10;&#10;Descripción generada automáticamente con confianza media">
            <a:hlinkClick r:id="rId3"/>
            <a:extLst>
              <a:ext uri="{FF2B5EF4-FFF2-40B4-BE49-F238E27FC236}">
                <a16:creationId xmlns:a16="http://schemas.microsoft.com/office/drawing/2014/main" id="{D82D7677-351E-8192-DE50-4B1E780247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586013"/>
            <a:ext cx="1316985" cy="74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458187DA-AE2A-58A9-BE06-DE3A0409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endParaRPr lang="es-ES"/>
          </a:p>
          <a:p>
            <a:pPr lvl="1"/>
            <a:r>
              <a:rPr lang="es-ES"/>
              <a:t>Método especial que instancia el objeto</a:t>
            </a:r>
          </a:p>
          <a:p>
            <a:pPr lvl="1"/>
            <a:r>
              <a:rPr lang="es-ES"/>
              <a:t>Existe siempre uno por defecto</a:t>
            </a:r>
          </a:p>
          <a:p>
            <a:pPr lvl="1"/>
            <a:r>
              <a:rPr lang="es-ES"/>
              <a:t>Podemos añadir nuevos </a:t>
            </a:r>
            <a:r>
              <a:rPr lang="es-ES">
                <a:highlight>
                  <a:srgbClr val="FFFF00"/>
                </a:highlight>
              </a:rPr>
              <a:t>constructores</a:t>
            </a:r>
            <a:r>
              <a:rPr lang="es-ES"/>
              <a:t> (</a:t>
            </a:r>
            <a:r>
              <a:rPr lang="es-ES" i="1"/>
              <a:t>sobrecarga</a:t>
            </a:r>
            <a:r>
              <a:rPr lang="es-ES"/>
              <a:t>) </a:t>
            </a:r>
            <a:r>
              <a:rPr lang="es-ES" b="1" err="1">
                <a:solidFill>
                  <a:schemeClr val="accent4"/>
                </a:solidFill>
              </a:rPr>
              <a:t>git</a:t>
            </a:r>
            <a:r>
              <a:rPr lang="es-ES" b="1">
                <a:solidFill>
                  <a:schemeClr val="accent4"/>
                </a:solidFill>
              </a:rPr>
              <a:t>//7</a:t>
            </a:r>
          </a:p>
          <a:p>
            <a:pPr lvl="2"/>
            <a:r>
              <a:rPr lang="es-ES">
                <a:highlight>
                  <a:srgbClr val="FFFF00"/>
                </a:highlight>
              </a:rPr>
              <a:t>(Cuando añadimos un constructor, desactivamos el constructor por defecto)</a:t>
            </a:r>
          </a:p>
          <a:p>
            <a:pPr marL="914400" lvl="2" indent="0">
              <a:buNone/>
            </a:pPr>
            <a:endParaRPr lang="es-ES" b="1">
              <a:solidFill>
                <a:schemeClr val="accent4"/>
              </a:solidFill>
            </a:endParaRPr>
          </a:p>
          <a:p>
            <a:pPr lvl="2"/>
            <a:endParaRPr lang="es-ES"/>
          </a:p>
          <a:p>
            <a:pPr lvl="2"/>
            <a:endParaRPr lang="es-ES"/>
          </a:p>
          <a:p>
            <a:pPr lvl="2"/>
            <a:endParaRPr lang="es-ES"/>
          </a:p>
          <a:p>
            <a:pPr lvl="2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4. ELEMENTOS POO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CB079430-128E-00A4-D3C4-E9FBFE76E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Constructor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65DCCEED-BCD4-39ED-770E-C15625D21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18849"/>
              </p:ext>
            </p:extLst>
          </p:nvPr>
        </p:nvGraphicFramePr>
        <p:xfrm>
          <a:off x="1403648" y="3721250"/>
          <a:ext cx="1800200" cy="18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 err="1"/>
                        <a:t>miCasa</a:t>
                      </a:r>
                      <a:r>
                        <a:rPr lang="es-ES" sz="1400"/>
                        <a:t>: Casa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/>
                        <a:t>Lavadora: </a:t>
                      </a:r>
                      <a:r>
                        <a:rPr lang="es-ES" sz="1400" err="1"/>
                        <a:t>lavadoraCasa</a:t>
                      </a:r>
                      <a:endParaRPr lang="es-ES" sz="1400"/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Casa()</a:t>
                      </a:r>
                    </a:p>
                    <a:p>
                      <a:r>
                        <a:rPr lang="es-ES" sz="1400"/>
                        <a:t>vender()</a:t>
                      </a:r>
                    </a:p>
                    <a:p>
                      <a:r>
                        <a:rPr lang="es-ES" sz="1400"/>
                        <a:t>limpiar()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73ACAC4-F722-5AA0-81B9-614F478FA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510346"/>
              </p:ext>
            </p:extLst>
          </p:nvPr>
        </p:nvGraphicFramePr>
        <p:xfrm>
          <a:off x="5076055" y="3721250"/>
          <a:ext cx="2376265" cy="2136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5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613">
                <a:tc>
                  <a:txBody>
                    <a:bodyPr/>
                    <a:lstStyle/>
                    <a:p>
                      <a:r>
                        <a:rPr lang="es-ES" sz="1400" err="1"/>
                        <a:t>lavadoraCasa</a:t>
                      </a:r>
                      <a:r>
                        <a:rPr lang="es-ES" sz="1400"/>
                        <a:t>: 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62530">
                <a:tc>
                  <a:txBody>
                    <a:bodyPr/>
                    <a:lstStyle/>
                    <a:p>
                      <a:r>
                        <a:rPr lang="es-ES" sz="1400"/>
                        <a:t>marca: </a:t>
                      </a:r>
                      <a:r>
                        <a:rPr lang="es-ES" sz="1400" err="1"/>
                        <a:t>bosch</a:t>
                      </a:r>
                      <a:endParaRPr lang="es-ES" sz="1400"/>
                    </a:p>
                    <a:p>
                      <a:r>
                        <a:rPr lang="es-ES" sz="1400"/>
                        <a:t>modelo: 100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28613">
                <a:tc>
                  <a:txBody>
                    <a:bodyPr/>
                    <a:lstStyle/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Lavadora()</a:t>
                      </a:r>
                    </a:p>
                    <a:p>
                      <a:r>
                        <a:rPr lang="es-ES" sz="1400">
                          <a:highlight>
                            <a:srgbClr val="FFFF00"/>
                          </a:highlight>
                        </a:rPr>
                        <a:t>Lavadora(marca, modelo)</a:t>
                      </a:r>
                    </a:p>
                    <a:p>
                      <a:r>
                        <a:rPr lang="es-ES" sz="1400"/>
                        <a:t>encender()</a:t>
                      </a:r>
                    </a:p>
                    <a:p>
                      <a:r>
                        <a:rPr lang="es-ES" sz="1400"/>
                        <a:t>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830A4EF-FB31-EDF9-0B92-4ADBB99F2CAC}"/>
              </a:ext>
            </a:extLst>
          </p:cNvPr>
          <p:cNvCxnSpPr/>
          <p:nvPr/>
        </p:nvCxnSpPr>
        <p:spPr>
          <a:xfrm>
            <a:off x="3419872" y="4369322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5C11F8F-C291-F98A-45CD-CE12FC75D86A}"/>
              </a:ext>
            </a:extLst>
          </p:cNvPr>
          <p:cNvSpPr txBox="1"/>
          <p:nvPr/>
        </p:nvSpPr>
        <p:spPr>
          <a:xfrm>
            <a:off x="3414433" y="4086355"/>
            <a:ext cx="16193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err="1">
                <a:solidFill>
                  <a:schemeClr val="accent6">
                    <a:lumMod val="50000"/>
                  </a:schemeClr>
                </a:solidFill>
              </a:rPr>
              <a:t>lavadoraCasa.encender</a:t>
            </a:r>
            <a:r>
              <a:rPr lang="es-ES" sz="1000">
                <a:solidFill>
                  <a:schemeClr val="accent6">
                    <a:lumMod val="50000"/>
                  </a:schemeClr>
                </a:solidFill>
              </a:rPr>
              <a:t>()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58B25A-0634-D4B7-336D-0642E823E1A2}"/>
              </a:ext>
            </a:extLst>
          </p:cNvPr>
          <p:cNvSpPr txBox="1"/>
          <p:nvPr/>
        </p:nvSpPr>
        <p:spPr>
          <a:xfrm>
            <a:off x="5136630" y="744724"/>
            <a:ext cx="36724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Clases -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4"/>
                </a:solidFill>
                <a:highlight>
                  <a:srgbClr val="FFFF00"/>
                </a:highlight>
              </a:rPr>
              <a:t>Métodos -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>
                <a:solidFill>
                  <a:schemeClr val="accent2"/>
                </a:solidFill>
              </a:rPr>
              <a:t>Atributos - estado</a:t>
            </a:r>
          </a:p>
        </p:txBody>
      </p:sp>
    </p:spTree>
    <p:extLst>
      <p:ext uri="{BB962C8B-B14F-4D97-AF65-F5344CB8AC3E}">
        <p14:creationId xmlns:p14="http://schemas.microsoft.com/office/powerpoint/2010/main" val="9432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490794" cy="717459"/>
          </a:xfrm>
        </p:spPr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628800"/>
            <a:ext cx="4392488" cy="2963648"/>
          </a:xfrm>
        </p:spPr>
        <p:txBody>
          <a:bodyPr numCol="2">
            <a:normAutofit/>
          </a:bodyPr>
          <a:lstStyle/>
          <a:p>
            <a:r>
              <a:rPr lang="es-ES"/>
              <a:t>Abstracción</a:t>
            </a:r>
          </a:p>
          <a:p>
            <a:r>
              <a:rPr lang="es-ES"/>
              <a:t>Encapsulación</a:t>
            </a:r>
          </a:p>
          <a:p>
            <a:r>
              <a:rPr lang="es-ES"/>
              <a:t>Herencia</a:t>
            </a:r>
          </a:p>
          <a:p>
            <a:r>
              <a:rPr lang="es-ES"/>
              <a:t>Polimorfismo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C9A63E-A112-3695-4CCE-B1186B86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147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5EC0-6220-121D-CAAC-D1B552AC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13272A-9903-9091-7A3C-2A0C0044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52A55E-C7CF-11CD-E4C7-88D2142699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Abstracción</a:t>
            </a:r>
            <a:endParaRPr lang="es-ES"/>
          </a:p>
          <a:p>
            <a:pPr lvl="1"/>
            <a:r>
              <a:rPr lang="es-ES"/>
              <a:t>Modelo</a:t>
            </a:r>
            <a:r>
              <a:rPr lang="es-ES" baseline="0"/>
              <a:t> un objeto del mundo real</a:t>
            </a:r>
          </a:p>
          <a:p>
            <a:pPr lvl="1"/>
            <a:r>
              <a:rPr lang="es-ES" baseline="0"/>
              <a:t>Se seleccionan </a:t>
            </a:r>
            <a:r>
              <a:rPr lang="es-ES" b="1" baseline="0">
                <a:solidFill>
                  <a:schemeClr val="accent4"/>
                </a:solidFill>
              </a:rPr>
              <a:t>ciertas</a:t>
            </a:r>
            <a:r>
              <a:rPr lang="es-ES" baseline="0"/>
              <a:t> características</a:t>
            </a:r>
          </a:p>
          <a:p>
            <a:pPr lvl="1"/>
            <a:r>
              <a:rPr lang="es-ES"/>
              <a:t>Dependiendo del contexto (análisis, casos de uso, requisitos…)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9311A6-C1CD-5D21-C97E-B79BB361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 TAREA ED5a0701 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913400F3-E526-27DB-52E5-892EB9ADE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264126"/>
              </p:ext>
            </p:extLst>
          </p:nvPr>
        </p:nvGraphicFramePr>
        <p:xfrm>
          <a:off x="827584" y="3578520"/>
          <a:ext cx="1944216" cy="18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Coche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equipo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piloto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carreras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repostar()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4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cambiarRueda</a:t>
                      </a: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14" name="Tabla 5">
            <a:extLst>
              <a:ext uri="{FF2B5EF4-FFF2-40B4-BE49-F238E27FC236}">
                <a16:creationId xmlns:a16="http://schemas.microsoft.com/office/drawing/2014/main" id="{AB40C1D4-E844-6E94-2915-1E8430476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2400"/>
              </p:ext>
            </p:extLst>
          </p:nvPr>
        </p:nvGraphicFramePr>
        <p:xfrm>
          <a:off x="3059832" y="3578520"/>
          <a:ext cx="1800200" cy="18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Coche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marca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modelo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comprar()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vender()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15" name="Tabla 5">
            <a:extLst>
              <a:ext uri="{FF2B5EF4-FFF2-40B4-BE49-F238E27FC236}">
                <a16:creationId xmlns:a16="http://schemas.microsoft.com/office/drawing/2014/main" id="{93EB5188-AA8D-0AD5-010A-7761ABAE2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13209"/>
              </p:ext>
            </p:extLst>
          </p:nvPr>
        </p:nvGraphicFramePr>
        <p:xfrm>
          <a:off x="5292080" y="3595144"/>
          <a:ext cx="1800200" cy="18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Coche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endParaRPr lang="es-ES" sz="14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propietario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matrícula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multar()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anular()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30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0F0B-E0D6-6CCE-DCF6-558D2E56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9D4588-4925-748C-583F-8C4C70EA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F0576-162F-3C0A-632E-17C18C2736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350" y="1329119"/>
            <a:ext cx="7081808" cy="3595913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pPr lvl="1"/>
            <a:r>
              <a:rPr lang="es-ES" sz="1400"/>
              <a:t>Los objetos de una clase pueden </a:t>
            </a:r>
            <a:r>
              <a:rPr lang="es-ES" sz="1050"/>
              <a:t>ver</a:t>
            </a:r>
            <a:r>
              <a:rPr lang="es-ES" sz="1400"/>
              <a:t> o no los atributos de otra</a:t>
            </a:r>
          </a:p>
          <a:p>
            <a:pPr lvl="1"/>
            <a:r>
              <a:rPr lang="es-ES" sz="1400"/>
              <a:t>El acceso a los atributos y métodos de un objeto está restringido según unos criterios:</a:t>
            </a:r>
          </a:p>
          <a:p>
            <a:pPr lvl="2"/>
            <a:r>
              <a:rPr lang="es-ES" sz="1200" err="1"/>
              <a:t>git</a:t>
            </a:r>
            <a:r>
              <a:rPr lang="es-ES" sz="1200"/>
              <a:t> </a:t>
            </a:r>
          </a:p>
          <a:p>
            <a:pPr lvl="1"/>
            <a:r>
              <a:rPr lang="es-ES" sz="1400"/>
              <a:t>A continuación, se muestran los modificadores de visibilidad en java junto a su símbolo UML:</a:t>
            </a:r>
          </a:p>
          <a:p>
            <a:pPr lvl="1"/>
            <a:endParaRPr lang="es-ES" sz="1400"/>
          </a:p>
          <a:p>
            <a:pPr lvl="1"/>
            <a:endParaRPr lang="es-ES" sz="1400"/>
          </a:p>
          <a:p>
            <a:pPr lvl="1"/>
            <a:endParaRPr lang="es-ES" sz="1400"/>
          </a:p>
          <a:p>
            <a:pPr lvl="2"/>
            <a:r>
              <a:rPr lang="es-ES" sz="1200"/>
              <a:t>+ </a:t>
            </a:r>
            <a:r>
              <a:rPr lang="es-ES" sz="1200" err="1"/>
              <a:t>public</a:t>
            </a:r>
            <a:endParaRPr lang="es-ES" sz="1200"/>
          </a:p>
          <a:p>
            <a:pPr lvl="3"/>
            <a:r>
              <a:rPr lang="es-ES" sz="1100"/>
              <a:t>Accesible </a:t>
            </a:r>
          </a:p>
          <a:p>
            <a:pPr lvl="2"/>
            <a:r>
              <a:rPr lang="es-ES" sz="1200"/>
              <a:t>- </a:t>
            </a:r>
            <a:r>
              <a:rPr lang="es-ES" sz="1200" err="1"/>
              <a:t>private</a:t>
            </a:r>
            <a:endParaRPr lang="es-ES" sz="1200"/>
          </a:p>
          <a:p>
            <a:pPr lvl="3"/>
            <a:r>
              <a:rPr lang="es-ES" sz="1100"/>
              <a:t>No accesible</a:t>
            </a:r>
          </a:p>
          <a:p>
            <a:pPr lvl="2"/>
            <a:r>
              <a:rPr lang="es-ES" sz="1200"/>
              <a:t># </a:t>
            </a:r>
            <a:r>
              <a:rPr lang="es-ES" sz="1200" err="1"/>
              <a:t>protected</a:t>
            </a:r>
            <a:endParaRPr lang="es-ES" sz="1200"/>
          </a:p>
          <a:p>
            <a:pPr lvl="3"/>
            <a:r>
              <a:rPr lang="es-ES" sz="1100"/>
              <a:t>Solo </a:t>
            </a:r>
            <a:r>
              <a:rPr lang="es-ES" sz="1100" b="1">
                <a:solidFill>
                  <a:schemeClr val="accent2"/>
                </a:solidFill>
              </a:rPr>
              <a:t>subclases, aunque estén en otro paquete</a:t>
            </a:r>
          </a:p>
          <a:p>
            <a:pPr lvl="2"/>
            <a:r>
              <a:rPr lang="es-ES" sz="1200"/>
              <a:t>~ (</a:t>
            </a:r>
            <a:r>
              <a:rPr lang="es-ES" sz="1200" i="1" err="1"/>
              <a:t>package</a:t>
            </a:r>
            <a:r>
              <a:rPr lang="es-ES" sz="1200"/>
              <a:t>) </a:t>
            </a:r>
            <a:r>
              <a:rPr lang="es-ES" sz="700"/>
              <a:t>(</a:t>
            </a:r>
            <a:r>
              <a:rPr lang="es-ES" sz="700" err="1"/>
              <a:t>altGr</a:t>
            </a:r>
            <a:r>
              <a:rPr lang="es-ES" sz="700"/>
              <a:t> 4)                por defecto</a:t>
            </a:r>
          </a:p>
          <a:p>
            <a:pPr lvl="3"/>
            <a:r>
              <a:rPr lang="es-ES" sz="1100"/>
              <a:t>Solo clases del mismo paquete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63BACD-C8D6-6855-4775-D328EA4C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 TAREA ED5a0702 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25FC02E-D149-59B0-4830-21911B1236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07988"/>
            <a:ext cx="8570913" cy="338137"/>
          </a:xfrm>
        </p:spPr>
        <p:txBody>
          <a:bodyPr>
            <a:normAutofit fontScale="92500" lnSpcReduction="10000"/>
          </a:bodyPr>
          <a:lstStyle/>
          <a:p>
            <a:r>
              <a:rPr lang="es-ES"/>
              <a:t>ENCAPSULAMIENTO – Visibilidad</a:t>
            </a:r>
          </a:p>
          <a:p>
            <a:endParaRPr lang="es-ES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1F7DFE7F-FBEC-19A9-2FD7-22B2795D0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676072"/>
              </p:ext>
            </p:extLst>
          </p:nvPr>
        </p:nvGraphicFramePr>
        <p:xfrm>
          <a:off x="2864699" y="4641504"/>
          <a:ext cx="1800200" cy="161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307533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Lavadora1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marca</a:t>
                      </a:r>
                    </a:p>
                    <a:p>
                      <a:r>
                        <a:rPr lang="es-ES" sz="140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encendida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envejecer()</a:t>
                      </a:r>
                    </a:p>
                    <a:p>
                      <a:r>
                        <a:rPr lang="es-ES" sz="140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pic>
        <p:nvPicPr>
          <p:cNvPr id="11" name="Gráfico 10" descr="Teclado contorno">
            <a:extLst>
              <a:ext uri="{FF2B5EF4-FFF2-40B4-BE49-F238E27FC236}">
                <a16:creationId xmlns:a16="http://schemas.microsoft.com/office/drawing/2014/main" id="{C68AC37E-0724-35F4-7EF0-58F863FEC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8286" y="3288269"/>
            <a:ext cx="313184" cy="313184"/>
          </a:xfrm>
          <a:prstGeom prst="rect">
            <a:avLst/>
          </a:prstGeom>
        </p:spPr>
      </p:pic>
      <p:graphicFrame>
        <p:nvGraphicFramePr>
          <p:cNvPr id="14" name="Tabla 5">
            <a:extLst>
              <a:ext uri="{FF2B5EF4-FFF2-40B4-BE49-F238E27FC236}">
                <a16:creationId xmlns:a16="http://schemas.microsoft.com/office/drawing/2014/main" id="{5D827BE9-C4E0-8836-F73E-95EC7D3C1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39932"/>
              </p:ext>
            </p:extLst>
          </p:nvPr>
        </p:nvGraphicFramePr>
        <p:xfrm>
          <a:off x="4941933" y="4609942"/>
          <a:ext cx="1800200" cy="178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39219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Lavadora2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19699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marca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modelo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~ 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48288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encender()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15" name="Tabla 5">
            <a:extLst>
              <a:ext uri="{FF2B5EF4-FFF2-40B4-BE49-F238E27FC236}">
                <a16:creationId xmlns:a16="http://schemas.microsoft.com/office/drawing/2014/main" id="{672E4328-B5A1-9A2C-8E89-3E4C13E25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300803"/>
              </p:ext>
            </p:extLst>
          </p:nvPr>
        </p:nvGraphicFramePr>
        <p:xfrm>
          <a:off x="7038224" y="4363319"/>
          <a:ext cx="1800200" cy="1883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78614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Lavadora3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marca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modelo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573252">
                <a:tc>
                  <a:txBody>
                    <a:bodyPr/>
                    <a:lstStyle/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encender()</a:t>
                      </a:r>
                    </a:p>
                    <a:p>
                      <a:r>
                        <a:rPr lang="es-ES" sz="14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apagar()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8DC2ECA0-BC39-522D-06DD-566A150D6DCD}"/>
              </a:ext>
            </a:extLst>
          </p:cNvPr>
          <p:cNvSpPr/>
          <p:nvPr/>
        </p:nvSpPr>
        <p:spPr>
          <a:xfrm>
            <a:off x="3447767" y="4435472"/>
            <a:ext cx="2091979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6011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0E40-1626-602A-4561-B2BAABCB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AB46B6A1-3332-1D84-C225-F85A947F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C15D02-7E17-CF17-2D86-E2D3C9356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endParaRPr lang="es-ES"/>
          </a:p>
          <a:p>
            <a:pPr lvl="1"/>
            <a:r>
              <a:rPr lang="es-ES"/>
              <a:t>Consiste en crear nuevas clases extendiendo clases existentes</a:t>
            </a:r>
          </a:p>
          <a:p>
            <a:pPr lvl="1"/>
            <a:r>
              <a:rPr lang="es-ES"/>
              <a:t>Permite la </a:t>
            </a:r>
            <a:r>
              <a:rPr lang="es-ES">
                <a:solidFill>
                  <a:schemeClr val="accent4"/>
                </a:solidFill>
              </a:rPr>
              <a:t>reutilización</a:t>
            </a:r>
            <a:r>
              <a:rPr lang="es-ES"/>
              <a:t> de código</a:t>
            </a:r>
          </a:p>
          <a:p>
            <a:pPr lvl="1"/>
            <a:r>
              <a:rPr lang="es-ES"/>
              <a:t>La clase Padre dona </a:t>
            </a:r>
            <a:r>
              <a:rPr lang="es-ES">
                <a:solidFill>
                  <a:schemeClr val="accent4"/>
                </a:solidFill>
              </a:rPr>
              <a:t>TODOS</a:t>
            </a:r>
            <a:r>
              <a:rPr lang="es-ES"/>
              <a:t> sus atributos y métodos a la clase Hija</a:t>
            </a:r>
          </a:p>
          <a:p>
            <a:pPr marL="914400" lvl="2" indent="0">
              <a:buNone/>
            </a:pPr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ACAD9-B992-8A71-B310-568EA3DF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6533DA-5C83-3C28-D7F7-690247246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/>
              <a:t>HERENCIA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06D1A2-3E45-2F4A-AD09-2E56EB0CAF26}"/>
              </a:ext>
            </a:extLst>
          </p:cNvPr>
          <p:cNvSpPr txBox="1"/>
          <p:nvPr/>
        </p:nvSpPr>
        <p:spPr>
          <a:xfrm>
            <a:off x="2016203" y="4997927"/>
            <a:ext cx="4554611" cy="15542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s-ES" sz="80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 Palabra servada “</a:t>
            </a:r>
            <a:r>
              <a:rPr lang="es-ES" sz="1050" i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Barco </a:t>
            </a:r>
            <a:r>
              <a:rPr lang="es-E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Acuatico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62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3A85805-79E1-0993-7807-A1365093B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280" y="1399293"/>
            <a:ext cx="7765748" cy="49546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1FD559-E6C7-7068-6ADB-04E14C76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endParaRPr lang="es-ES"/>
          </a:p>
          <a:p>
            <a:pPr lvl="1"/>
            <a:r>
              <a:rPr lang="es-ES"/>
              <a:t>¿Qué puede hacer un Acuático?</a:t>
            </a:r>
          </a:p>
          <a:p>
            <a:pPr lvl="1"/>
            <a:r>
              <a:rPr lang="es-ES"/>
              <a:t>¿Y un Helicóptero? </a:t>
            </a:r>
          </a:p>
          <a:p>
            <a:pPr lvl="1"/>
            <a:r>
              <a:rPr lang="es-ES"/>
              <a:t>¿Un Velero tiene nombre?</a:t>
            </a:r>
          </a:p>
          <a:p>
            <a:pPr lvl="1"/>
            <a:r>
              <a:rPr lang="es-ES"/>
              <a:t>¿Un Avión puede navegar? </a:t>
            </a:r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6CC38A-38F7-BDD7-BD9F-DD26A2F8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HERENCIA</a:t>
            </a:r>
          </a:p>
        </p:txBody>
      </p:sp>
      <p:pic>
        <p:nvPicPr>
          <p:cNvPr id="4" name="Imagen 3" descr="Forma&#10;&#10;Descripción generada automáticamente con confianza media">
            <a:hlinkClick r:id="rId4"/>
            <a:extLst>
              <a:ext uri="{FF2B5EF4-FFF2-40B4-BE49-F238E27FC236}">
                <a16:creationId xmlns:a16="http://schemas.microsoft.com/office/drawing/2014/main" id="{11ADAE48-852F-8874-6AC3-C41D76870D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068" y="1399293"/>
            <a:ext cx="815499" cy="4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8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C7DB-9175-5F89-7558-663393E8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B2265643-8E87-14F9-E239-B73E2A02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C9E17-BFCE-7BA4-B8BE-C909E4D4FB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7839983" cy="5751376"/>
          </a:xfrm>
        </p:spPr>
        <p:txBody>
          <a:bodyPr numCol="1">
            <a:normAutofit/>
          </a:bodyPr>
          <a:lstStyle/>
          <a:p>
            <a:endParaRPr lang="es-ES"/>
          </a:p>
          <a:p>
            <a:pPr lvl="1"/>
            <a:r>
              <a:rPr lang="es-ES"/>
              <a:t>Consiste en crear nuevas clases extendiendo clases existentes</a:t>
            </a:r>
          </a:p>
          <a:p>
            <a:pPr lvl="1"/>
            <a:r>
              <a:rPr lang="es-ES"/>
              <a:t>Permite la </a:t>
            </a:r>
            <a:r>
              <a:rPr lang="es-ES">
                <a:solidFill>
                  <a:schemeClr val="accent4"/>
                </a:solidFill>
              </a:rPr>
              <a:t>reutilización</a:t>
            </a:r>
            <a:r>
              <a:rPr lang="es-ES"/>
              <a:t> de código</a:t>
            </a:r>
          </a:p>
          <a:p>
            <a:pPr lvl="1"/>
            <a:r>
              <a:rPr lang="es-ES"/>
              <a:t>La clase Padre dona </a:t>
            </a:r>
            <a:r>
              <a:rPr lang="es-ES">
                <a:solidFill>
                  <a:schemeClr val="accent4"/>
                </a:solidFill>
              </a:rPr>
              <a:t>TODOS</a:t>
            </a:r>
            <a:r>
              <a:rPr lang="es-ES"/>
              <a:t> sus atributos y métodos a la clase Hija</a:t>
            </a:r>
          </a:p>
          <a:p>
            <a:pPr lvl="2"/>
            <a:r>
              <a:rPr lang="es-ES" b="1">
                <a:solidFill>
                  <a:schemeClr val="accent4"/>
                </a:solidFill>
              </a:rPr>
              <a:t>PERO</a:t>
            </a:r>
            <a:r>
              <a:rPr lang="es-ES"/>
              <a:t> La visibilidad de los miembros de la clase Padre afecta al acceso a dichos miembros de la clase Hija</a:t>
            </a:r>
          </a:p>
          <a:p>
            <a:pPr lvl="2"/>
            <a:r>
              <a:rPr lang="es-ES"/>
              <a:t>Modificador </a:t>
            </a:r>
            <a:r>
              <a:rPr lang="es-ES" i="1" err="1"/>
              <a:t>protected</a:t>
            </a:r>
            <a:r>
              <a:rPr lang="es-ES"/>
              <a:t>: permite exponer atributos y métodos a las </a:t>
            </a:r>
            <a:r>
              <a:rPr lang="es-ES" b="1">
                <a:solidFill>
                  <a:schemeClr val="accent4"/>
                </a:solidFill>
              </a:rPr>
              <a:t>subclases</a:t>
            </a:r>
            <a:r>
              <a:rPr lang="es-ES">
                <a:solidFill>
                  <a:schemeClr val="accent4"/>
                </a:solidFill>
              </a:rPr>
              <a:t>,</a:t>
            </a:r>
            <a:r>
              <a:rPr lang="es-ES"/>
              <a:t> aunque estén en otro paquete</a:t>
            </a:r>
          </a:p>
          <a:p>
            <a:pPr marL="914400" lvl="2" indent="0">
              <a:buNone/>
            </a:pPr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F9385A-E844-3BB4-53F6-8D997C5D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CB3BF2-E522-FC8A-D30D-2F7664F51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HERENCIA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7BD714-D7AA-BF38-041A-A42D66DEBF81}"/>
              </a:ext>
            </a:extLst>
          </p:cNvPr>
          <p:cNvSpPr txBox="1"/>
          <p:nvPr/>
        </p:nvSpPr>
        <p:spPr>
          <a:xfrm>
            <a:off x="609599" y="4694128"/>
            <a:ext cx="4554611" cy="15542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s-ES" sz="80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 Palabra servada “</a:t>
            </a:r>
            <a:r>
              <a:rPr lang="es-ES" sz="1050" i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Barco </a:t>
            </a:r>
            <a:r>
              <a:rPr lang="es-E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Acuatico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95E1D8-A1B0-09F0-D367-AA371A51BD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16" t="37121"/>
          <a:stretch/>
        </p:blipFill>
        <p:spPr>
          <a:xfrm>
            <a:off x="5672209" y="3551671"/>
            <a:ext cx="2222501" cy="2787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38212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815C-4493-D562-893B-94C203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7317A895-FDFA-7B5A-2453-15E57D5FF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9"/>
          <a:stretch/>
        </p:blipFill>
        <p:spPr>
          <a:xfrm>
            <a:off x="678023" y="3356214"/>
            <a:ext cx="8190903" cy="3372321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52B9CD-0FE9-C6F5-234F-09DF438D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1E347A-423E-297B-9F8B-7D50808F24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pPr lvl="1"/>
            <a:r>
              <a:rPr lang="es-ES"/>
              <a:t>Los miembros privados de la clase Padre no son accesibles para la clase hija.</a:t>
            </a:r>
          </a:p>
          <a:p>
            <a:pPr lvl="2"/>
            <a:r>
              <a:rPr lang="es-ES" err="1"/>
              <a:t>Student</a:t>
            </a:r>
            <a:r>
              <a:rPr lang="es-ES"/>
              <a:t> no ve su nombre</a:t>
            </a:r>
          </a:p>
          <a:p>
            <a:pPr lvl="2"/>
            <a:r>
              <a:rPr lang="es-ES"/>
              <a:t>Pero sí puede </a:t>
            </a:r>
            <a:r>
              <a:rPr lang="es-ES" err="1"/>
              <a:t>getNombre</a:t>
            </a:r>
            <a:r>
              <a:rPr lang="es-ES"/>
              <a:t>()</a:t>
            </a:r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marL="457200" lvl="1" indent="0">
              <a:buNone/>
            </a:pPr>
            <a:endParaRPr lang="es-ES"/>
          </a:p>
          <a:p>
            <a:pPr lvl="2"/>
            <a:r>
              <a:rPr lang="es-ES" sz="1200" b="1" i="1">
                <a:solidFill>
                  <a:schemeClr val="accent4"/>
                </a:solidFill>
              </a:rPr>
              <a:t>¿Qué pasaría si fuera </a:t>
            </a:r>
            <a:r>
              <a:rPr lang="es-ES" sz="1200" b="1" i="1" err="1">
                <a:solidFill>
                  <a:schemeClr val="accent4"/>
                </a:solidFill>
              </a:rPr>
              <a:t>protected</a:t>
            </a:r>
            <a:r>
              <a:rPr lang="es-ES" sz="1200" b="1" i="1">
                <a:solidFill>
                  <a:schemeClr val="accent4"/>
                </a:solidFill>
              </a:rPr>
              <a:t>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351709-4CB6-0473-84DF-9513DE6B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3B95E-EFDD-DCB4-94BD-89BC8A9B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HERENCIA y </a:t>
            </a:r>
            <a:r>
              <a:rPr lang="es-ES">
                <a:solidFill>
                  <a:schemeClr val="accent4"/>
                </a:solidFill>
              </a:rPr>
              <a:t>VISIBILIDAD</a:t>
            </a:r>
          </a:p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CF47AC2-19F7-D66B-3565-8E14B163280E}"/>
              </a:ext>
            </a:extLst>
          </p:cNvPr>
          <p:cNvSpPr/>
          <p:nvPr/>
        </p:nvSpPr>
        <p:spPr>
          <a:xfrm>
            <a:off x="945344" y="4138788"/>
            <a:ext cx="648182" cy="226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F0BEF93-3839-9CAD-817D-9D4D4BCBA4A1}"/>
              </a:ext>
            </a:extLst>
          </p:cNvPr>
          <p:cNvSpPr/>
          <p:nvPr/>
        </p:nvSpPr>
        <p:spPr>
          <a:xfrm>
            <a:off x="844951" y="5220757"/>
            <a:ext cx="648182" cy="226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28D75F-34ED-5A94-A528-5164C28AC6CA}"/>
              </a:ext>
            </a:extLst>
          </p:cNvPr>
          <p:cNvSpPr/>
          <p:nvPr/>
        </p:nvSpPr>
        <p:spPr>
          <a:xfrm>
            <a:off x="5523053" y="4169847"/>
            <a:ext cx="648182" cy="226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46AC7A0-48CC-1DAD-75B4-68FF18C58507}"/>
              </a:ext>
            </a:extLst>
          </p:cNvPr>
          <p:cNvSpPr/>
          <p:nvPr/>
        </p:nvSpPr>
        <p:spPr>
          <a:xfrm>
            <a:off x="5523053" y="5197152"/>
            <a:ext cx="1294436" cy="170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0116B9-69EB-ECE3-736A-0A3691729816}"/>
              </a:ext>
            </a:extLst>
          </p:cNvPr>
          <p:cNvSpPr/>
          <p:nvPr/>
        </p:nvSpPr>
        <p:spPr>
          <a:xfrm>
            <a:off x="3738626" y="4626918"/>
            <a:ext cx="648182" cy="226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804F515-0274-B426-410C-6A0BEDA3B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744" y="1188879"/>
            <a:ext cx="5172797" cy="1543265"/>
          </a:xfrm>
          <a:prstGeom prst="rect">
            <a:avLst/>
          </a:prstGeom>
        </p:spPr>
      </p:pic>
      <p:pic>
        <p:nvPicPr>
          <p:cNvPr id="12" name="Imagen 11" descr="Forma&#10;&#10;Descripción generada automáticamente con confianza media">
            <a:hlinkClick r:id="rId5"/>
            <a:extLst>
              <a:ext uri="{FF2B5EF4-FFF2-40B4-BE49-F238E27FC236}">
                <a16:creationId xmlns:a16="http://schemas.microsoft.com/office/drawing/2014/main" id="{28171039-8267-66E2-2B4E-F90778A634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21" y="6396610"/>
            <a:ext cx="815499" cy="458718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4E460E2-0D55-4251-DC40-5C398EF68B78}"/>
              </a:ext>
            </a:extLst>
          </p:cNvPr>
          <p:cNvCxnSpPr>
            <a:cxnSpLocks/>
          </p:cNvCxnSpPr>
          <p:nvPr/>
        </p:nvCxnSpPr>
        <p:spPr>
          <a:xfrm flipH="1">
            <a:off x="7415355" y="5567680"/>
            <a:ext cx="1300480" cy="22352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52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BE2D-47C4-8419-563F-E95CD97E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8F755F9C-D396-BD49-0B30-BDBC8C72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4BE8C0-929F-0460-0020-BFF4B02F6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endParaRPr lang="es-ES"/>
          </a:p>
          <a:p>
            <a:pPr lvl="1"/>
            <a:r>
              <a:rPr lang="es-ES"/>
              <a:t>Consiste en crear nuevas clases extendiendo clases existentes</a:t>
            </a:r>
          </a:p>
          <a:p>
            <a:pPr lvl="1"/>
            <a:r>
              <a:rPr lang="es-ES"/>
              <a:t>Permite la </a:t>
            </a:r>
            <a:r>
              <a:rPr lang="es-ES">
                <a:solidFill>
                  <a:schemeClr val="accent4"/>
                </a:solidFill>
              </a:rPr>
              <a:t>reutilización</a:t>
            </a:r>
            <a:r>
              <a:rPr lang="es-ES"/>
              <a:t> de código</a:t>
            </a:r>
          </a:p>
          <a:p>
            <a:pPr lvl="1"/>
            <a:r>
              <a:rPr lang="es-ES"/>
              <a:t>La clase Padre dona </a:t>
            </a:r>
            <a:r>
              <a:rPr lang="es-ES">
                <a:solidFill>
                  <a:schemeClr val="accent4"/>
                </a:solidFill>
              </a:rPr>
              <a:t>TODOS</a:t>
            </a:r>
            <a:r>
              <a:rPr lang="es-ES"/>
              <a:t> sus atributos y métodos a la clase Hija</a:t>
            </a:r>
          </a:p>
          <a:p>
            <a:pPr lvl="2"/>
            <a:r>
              <a:rPr lang="es-ES" b="1">
                <a:solidFill>
                  <a:schemeClr val="accent4"/>
                </a:solidFill>
              </a:rPr>
              <a:t>PERO</a:t>
            </a:r>
            <a:r>
              <a:rPr lang="es-ES"/>
              <a:t> La visibilidad de los miembros de la clase Padre afecta al acceso a dichos miembros de la clase Hija</a:t>
            </a:r>
          </a:p>
          <a:p>
            <a:pPr lvl="2"/>
            <a:r>
              <a:rPr lang="es-ES"/>
              <a:t>Modificador </a:t>
            </a:r>
            <a:r>
              <a:rPr lang="es-ES" i="1" err="1"/>
              <a:t>protected</a:t>
            </a:r>
            <a:r>
              <a:rPr lang="es-ES"/>
              <a:t>: permite exponer atributos y métodos a las </a:t>
            </a:r>
            <a:r>
              <a:rPr lang="es-ES" b="1">
                <a:solidFill>
                  <a:schemeClr val="accent4"/>
                </a:solidFill>
              </a:rPr>
              <a:t>subclases</a:t>
            </a:r>
            <a:r>
              <a:rPr lang="es-ES">
                <a:solidFill>
                  <a:schemeClr val="accent4"/>
                </a:solidFill>
              </a:rPr>
              <a:t>,</a:t>
            </a:r>
            <a:r>
              <a:rPr lang="es-ES"/>
              <a:t> aunque estén en otro paquete</a:t>
            </a:r>
          </a:p>
          <a:p>
            <a:pPr lvl="1"/>
            <a:r>
              <a:rPr lang="es-ES"/>
              <a:t>Las subclases </a:t>
            </a:r>
            <a:r>
              <a:rPr lang="es-ES" b="1">
                <a:solidFill>
                  <a:schemeClr val="accent4"/>
                </a:solidFill>
              </a:rPr>
              <a:t>Hijas</a:t>
            </a:r>
            <a:r>
              <a:rPr lang="es-ES"/>
              <a:t> pueden modificar su comportamiento frente a la clase </a:t>
            </a:r>
            <a:r>
              <a:rPr lang="es-ES" b="1">
                <a:solidFill>
                  <a:schemeClr val="accent4"/>
                </a:solidFill>
              </a:rPr>
              <a:t>Padre </a:t>
            </a:r>
            <a:r>
              <a:rPr lang="es-ES" b="1"/>
              <a:t>o</a:t>
            </a:r>
            <a:r>
              <a:rPr lang="es-ES" b="1">
                <a:solidFill>
                  <a:schemeClr val="accent4"/>
                </a:solidFill>
              </a:rPr>
              <a:t> </a:t>
            </a:r>
            <a:r>
              <a:rPr lang="es-ES" b="1"/>
              <a:t>superclase</a:t>
            </a:r>
          </a:p>
          <a:p>
            <a:pPr lvl="2"/>
            <a:r>
              <a:rPr lang="es-ES">
                <a:solidFill>
                  <a:schemeClr val="accent6">
                    <a:lumMod val="50000"/>
                  </a:schemeClr>
                </a:solidFill>
              </a:rPr>
              <a:t>Polimorfismo</a:t>
            </a:r>
          </a:p>
          <a:p>
            <a:pPr marL="914400" lvl="2" indent="0">
              <a:buNone/>
            </a:pPr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2D0375-A78F-719E-C31A-F200343A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 TAREA ED5a0703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C5B4FE-3FA0-95C2-D044-28AEDD4B35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07988"/>
            <a:ext cx="8570913" cy="338137"/>
          </a:xfrm>
        </p:spPr>
        <p:txBody>
          <a:bodyPr>
            <a:normAutofit fontScale="92500" lnSpcReduction="10000"/>
          </a:bodyPr>
          <a:lstStyle/>
          <a:p>
            <a:r>
              <a:rPr lang="es-ES"/>
              <a:t>HERENCIA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F026C6-7C82-9234-CE7E-9C2629BEAB22}"/>
              </a:ext>
            </a:extLst>
          </p:cNvPr>
          <p:cNvSpPr txBox="1"/>
          <p:nvPr/>
        </p:nvSpPr>
        <p:spPr>
          <a:xfrm>
            <a:off x="2016203" y="4997927"/>
            <a:ext cx="4554611" cy="15542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s-ES" sz="80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 Palabra servada “</a:t>
            </a:r>
            <a:r>
              <a:rPr lang="es-ES" sz="1050" i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050" i="1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05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Barco </a:t>
            </a:r>
            <a:r>
              <a:rPr lang="es-E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err="1">
                <a:latin typeface="Courier New" panose="02070309020205020404" pitchFamily="49" charset="0"/>
                <a:cs typeface="Courier New" panose="02070309020205020404" pitchFamily="49" charset="0"/>
              </a:rPr>
              <a:t>Acuatico</a:t>
            </a:r>
            <a:r>
              <a:rPr lang="es-ES" sz="160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628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57EE12-9491-7E47-10EC-A961DFCD3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21" b="6751"/>
          <a:stretch/>
        </p:blipFill>
        <p:spPr>
          <a:xfrm>
            <a:off x="1126207" y="2560226"/>
            <a:ext cx="5682546" cy="35965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F576-305E-B629-FA00-CFF4669C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23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pPr lvl="1"/>
            <a:r>
              <a:rPr lang="es-ES"/>
              <a:t>Las subclases pueden adaptar los métodos de la clase a su realidad</a:t>
            </a:r>
          </a:p>
          <a:p>
            <a:pPr lvl="1"/>
            <a:r>
              <a:rPr lang="es-ES"/>
              <a:t>Dos subclases reescriben el mismo método de maneras diferentes</a:t>
            </a:r>
          </a:p>
          <a:p>
            <a:pPr lvl="1"/>
            <a:r>
              <a:rPr lang="es-ES"/>
              <a:t>La llamada al método común produce comportamientos distintos según la subclase a la que corresponda el objeto</a:t>
            </a:r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0AD2BFF-AB2C-D934-B39C-45FFC9EBE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HERENCIA y </a:t>
            </a:r>
            <a:r>
              <a:rPr lang="es-ES" b="1">
                <a:solidFill>
                  <a:schemeClr val="accent4"/>
                </a:solidFill>
              </a:rPr>
              <a:t>POLIMORFISMO</a:t>
            </a:r>
          </a:p>
          <a:p>
            <a:endParaRPr lang="es-ES"/>
          </a:p>
        </p:txBody>
      </p:sp>
      <p:pic>
        <p:nvPicPr>
          <p:cNvPr id="4" name="Imagen 3" descr="Forma&#10;&#10;Descripción generada automáticamente con confianza media">
            <a:hlinkClick r:id="rId3"/>
            <a:extLst>
              <a:ext uri="{FF2B5EF4-FFF2-40B4-BE49-F238E27FC236}">
                <a16:creationId xmlns:a16="http://schemas.microsoft.com/office/drawing/2014/main" id="{259B61BB-A346-4D71-1137-CDEC2EE24D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9" y="6322840"/>
            <a:ext cx="815499" cy="4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91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C1C492-6705-79FB-B531-66363C51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24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endParaRPr lang="es-ES"/>
          </a:p>
          <a:p>
            <a:r>
              <a:rPr lang="es-ES"/>
              <a:t>Sobrecarga vs sobreescritura</a:t>
            </a:r>
            <a:endParaRPr lang="es-ES">
              <a:highlight>
                <a:srgbClr val="FFFF00"/>
              </a:highlight>
            </a:endParaRPr>
          </a:p>
          <a:p>
            <a:pPr lvl="1"/>
            <a:r>
              <a:rPr lang="es-ES" b="1">
                <a:solidFill>
                  <a:schemeClr val="accent4"/>
                </a:solidFill>
              </a:rPr>
              <a:t>Sobrecarga</a:t>
            </a:r>
            <a:r>
              <a:rPr lang="es-ES"/>
              <a:t>: mismo método con diferentes implementaciones según número y tipo de parámetros</a:t>
            </a:r>
          </a:p>
          <a:p>
            <a:pPr lvl="1"/>
            <a:r>
              <a:rPr lang="es-ES" b="1">
                <a:solidFill>
                  <a:srgbClr val="00B0F0"/>
                </a:solidFill>
              </a:rPr>
              <a:t>Sobreescritura</a:t>
            </a:r>
            <a:r>
              <a:rPr lang="es-ES"/>
              <a:t>: en la subclase se reescribe un método de la superclase </a:t>
            </a:r>
          </a:p>
          <a:p>
            <a:pPr lvl="1"/>
            <a:endParaRPr lang="es-ES"/>
          </a:p>
          <a:p>
            <a:pPr lvl="1"/>
            <a:endParaRPr lang="es-ES"/>
          </a:p>
          <a:p>
            <a:pPr lvl="1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5. CARACTERÍSTICAS TAREA ED5a0704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20B17976-8479-97AC-95C8-BC61FD26426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07988"/>
            <a:ext cx="8570913" cy="338137"/>
          </a:xfrm>
        </p:spPr>
        <p:txBody>
          <a:bodyPr>
            <a:normAutofit fontScale="92500" lnSpcReduction="10000"/>
          </a:bodyPr>
          <a:lstStyle/>
          <a:p>
            <a:r>
              <a:rPr lang="es-ES"/>
              <a:t>POLIMORFISMO</a:t>
            </a:r>
          </a:p>
        </p:txBody>
      </p:sp>
      <p:graphicFrame>
        <p:nvGraphicFramePr>
          <p:cNvPr id="4" name="Tabla 5">
            <a:extLst>
              <a:ext uri="{FF2B5EF4-FFF2-40B4-BE49-F238E27FC236}">
                <a16:creationId xmlns:a16="http://schemas.microsoft.com/office/drawing/2014/main" id="{5E3ECE89-E459-E366-5F40-3B9CDDB7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157455"/>
              </p:ext>
            </p:extLst>
          </p:nvPr>
        </p:nvGraphicFramePr>
        <p:xfrm>
          <a:off x="390806" y="4305180"/>
          <a:ext cx="3530353" cy="2302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353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28322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Lavadora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89913">
                <a:tc>
                  <a:txBody>
                    <a:bodyPr/>
                    <a:lstStyle/>
                    <a:p>
                      <a:endParaRPr lang="es-ES" sz="12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1184492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encender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encender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ES" sz="12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tiempo)</a:t>
                      </a:r>
                    </a:p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encender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ES" sz="12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tiempo, </a:t>
                      </a:r>
                      <a:r>
                        <a:rPr lang="es-ES" sz="12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programa)</a:t>
                      </a:r>
                    </a:p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solidFill>
                            <a:srgbClr val="00B0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apagar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4FFF690E-CA42-972C-ECDC-714DEF060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390974"/>
              </p:ext>
            </p:extLst>
          </p:nvPr>
        </p:nvGraphicFramePr>
        <p:xfrm>
          <a:off x="4459500" y="3014879"/>
          <a:ext cx="1728192" cy="1548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280150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Electrodoméstico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518918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marca</a:t>
                      </a:r>
                    </a:p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modelo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edad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628093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encender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s-ES" sz="1200" b="1">
                          <a:solidFill>
                            <a:srgbClr val="00B0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apagar</a:t>
                      </a:r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D938BBB-01F6-09CE-AE4C-2313F95C1093}"/>
              </a:ext>
            </a:extLst>
          </p:cNvPr>
          <p:cNvCxnSpPr>
            <a:cxnSpLocks/>
          </p:cNvCxnSpPr>
          <p:nvPr/>
        </p:nvCxnSpPr>
        <p:spPr>
          <a:xfrm flipV="1">
            <a:off x="3966738" y="4582400"/>
            <a:ext cx="985523" cy="1239276"/>
          </a:xfrm>
          <a:prstGeom prst="straightConnector1">
            <a:avLst/>
          </a:prstGeom>
          <a:ln w="38100" cap="sq">
            <a:beve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585BD7E7-10ED-81AF-0216-460DFFA2C6FF}"/>
              </a:ext>
            </a:extLst>
          </p:cNvPr>
          <p:cNvSpPr/>
          <p:nvPr/>
        </p:nvSpPr>
        <p:spPr>
          <a:xfrm rot="2157065">
            <a:off x="4808058" y="4595110"/>
            <a:ext cx="152599" cy="1389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7774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D7D9-ADB7-BBBE-EADD-63B3000E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749749-5682-3890-F69D-5BBECC75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25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807BD4-9B29-4076-45C9-B5B65A3B60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Modificadores habituales</a:t>
            </a:r>
          </a:p>
          <a:p>
            <a:pPr lvl="1"/>
            <a:r>
              <a:rPr lang="es-ES" i="1" err="1"/>
              <a:t>abstract</a:t>
            </a:r>
            <a:endParaRPr lang="es-ES" i="1"/>
          </a:p>
          <a:p>
            <a:pPr lvl="2"/>
            <a:r>
              <a:rPr lang="es-ES"/>
              <a:t>Método que no se implementa en la superclase</a:t>
            </a:r>
          </a:p>
          <a:p>
            <a:pPr lvl="2"/>
            <a:r>
              <a:rPr lang="es-ES"/>
              <a:t>Debe implementarse en la subclase</a:t>
            </a:r>
          </a:p>
          <a:p>
            <a:pPr lvl="3"/>
            <a:r>
              <a:rPr lang="es-ES"/>
              <a:t>(se debe </a:t>
            </a:r>
            <a:r>
              <a:rPr lang="es-ES" i="1"/>
              <a:t>sobrescribir</a:t>
            </a:r>
            <a:r>
              <a:rPr lang="es-ES"/>
              <a:t>)</a:t>
            </a:r>
          </a:p>
          <a:p>
            <a:pPr lvl="2"/>
            <a:r>
              <a:rPr lang="es-ES"/>
              <a:t>La clase que contiene un método abstracto debe declararse también abstracta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F59E39-D913-6AA3-D797-1985C1E6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6. OTRAS CARACTERÍSTICAS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A8BF2E-9033-CD1F-51D0-F6174896E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50" y="3794001"/>
            <a:ext cx="5973009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52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6120E-6F25-DFF6-1B52-5D1B71C7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1DA2E-D4A4-ABDF-392A-CD71104D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26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D17A23-B7AA-B5D1-84CB-FCA914AB37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Modificadores habituales</a:t>
            </a:r>
          </a:p>
          <a:p>
            <a:pPr lvl="1"/>
            <a:r>
              <a:rPr lang="es-ES" u="sng" err="1"/>
              <a:t>static</a:t>
            </a:r>
          </a:p>
          <a:p>
            <a:pPr lvl="2"/>
            <a:r>
              <a:rPr lang="es-ES"/>
              <a:t>En java </a:t>
            </a:r>
            <a:r>
              <a:rPr lang="es-ES" b="1">
                <a:solidFill>
                  <a:srgbClr val="FF0000"/>
                </a:solidFill>
              </a:rPr>
              <a:t>NO</a:t>
            </a:r>
            <a:r>
              <a:rPr lang="es-ES"/>
              <a:t> se puede aplicar a la clase completa</a:t>
            </a:r>
          </a:p>
          <a:p>
            <a:pPr lvl="2"/>
            <a:endParaRPr lang="es-ES"/>
          </a:p>
          <a:p>
            <a:pPr lvl="2"/>
            <a:endParaRPr lang="es-ES"/>
          </a:p>
          <a:p>
            <a:pPr lvl="2"/>
            <a:endParaRPr lang="es-ES"/>
          </a:p>
          <a:p>
            <a:pPr lvl="2"/>
            <a:endParaRPr lang="es-ES"/>
          </a:p>
          <a:p>
            <a:pPr lvl="2"/>
            <a:r>
              <a:rPr lang="es-ES"/>
              <a:t>Elemento (método o atributo) propio de la clase y no de sus objetos</a:t>
            </a:r>
          </a:p>
          <a:p>
            <a:pPr lvl="2"/>
            <a:r>
              <a:rPr lang="es-ES"/>
              <a:t>Existen sin instanciar la clase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4ABA96-93B4-5474-A900-BB0A6B34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6. OTRAS CARACTERÍSTICAS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6CB84D-AD0C-19F5-5928-C6F124C5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65" y="4168238"/>
            <a:ext cx="5316829" cy="18833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C745C1-C0A9-5584-8376-79F85AFE80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90" b="15741"/>
          <a:stretch/>
        </p:blipFill>
        <p:spPr>
          <a:xfrm>
            <a:off x="2041957" y="1876161"/>
            <a:ext cx="3201209" cy="1037708"/>
          </a:xfrm>
          <a:prstGeom prst="rect">
            <a:avLst/>
          </a:prstGeom>
        </p:spPr>
      </p:pic>
      <p:sp>
        <p:nvSpPr>
          <p:cNvPr id="9" name="Signo de multiplicación 8">
            <a:extLst>
              <a:ext uri="{FF2B5EF4-FFF2-40B4-BE49-F238E27FC236}">
                <a16:creationId xmlns:a16="http://schemas.microsoft.com/office/drawing/2014/main" id="{B9F6D4F7-8325-2655-E908-91A95C47E87C}"/>
              </a:ext>
            </a:extLst>
          </p:cNvPr>
          <p:cNvSpPr/>
          <p:nvPr/>
        </p:nvSpPr>
        <p:spPr>
          <a:xfrm>
            <a:off x="2652192" y="1758203"/>
            <a:ext cx="1199919" cy="1246848"/>
          </a:xfrm>
          <a:prstGeom prst="mathMultiply">
            <a:avLst/>
          </a:prstGeom>
          <a:solidFill>
            <a:srgbClr val="D41D1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6794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8050-A4C4-53EA-0743-CA6DDBAF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F7171E-23FB-17CF-6FAC-144F1E6C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27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7753D-0977-74A5-94C4-109F495F4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Modificadores habituales</a:t>
            </a:r>
          </a:p>
          <a:p>
            <a:pPr lvl="1"/>
            <a:r>
              <a:rPr lang="es-ES" u="sng"/>
              <a:t>final</a:t>
            </a:r>
          </a:p>
          <a:p>
            <a:pPr lvl="2"/>
            <a:r>
              <a:rPr lang="es-ES"/>
              <a:t>Indica que el elemento no puede ser modificado</a:t>
            </a:r>
          </a:p>
          <a:p>
            <a:pPr lvl="2"/>
            <a:r>
              <a:rPr lang="es-ES"/>
              <a:t>Si es un atributo, su valor es constante</a:t>
            </a:r>
          </a:p>
          <a:p>
            <a:pPr lvl="2"/>
            <a:r>
              <a:rPr lang="es-ES"/>
              <a:t>Si es una clase, no puede tener descendencia (fin de la herencia)</a:t>
            </a:r>
          </a:p>
          <a:p>
            <a:pPr lvl="2"/>
            <a:r>
              <a:rPr lang="es-ES"/>
              <a:t>Método que no se puede sobrescribir al crear una subclase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95D9BF-2CF4-CACF-7AEE-2257411B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6. OTRAS CARACTERÍSTICAS TAREA ED5a07EX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1638E1-DF0A-EB38-E495-7E493395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08" y="3608133"/>
            <a:ext cx="6215656" cy="24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67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04" y="548680"/>
            <a:ext cx="8596668" cy="1320800"/>
          </a:xfrm>
        </p:spPr>
        <p:txBody>
          <a:bodyPr/>
          <a:lstStyle/>
          <a:p>
            <a:r>
              <a:rPr lang="es-ES"/>
              <a:t>Bibliografía y recursos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E672CE3-414F-1E3C-9928-F4B6B756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939" y="1340769"/>
            <a:ext cx="7694959" cy="39105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1100" u="sng">
                <a:latin typeface="Arial"/>
                <a:cs typeface="Arial"/>
                <a:hlinkClick r:id="rId2"/>
              </a:rPr>
              <a:t>Guía</a:t>
            </a:r>
            <a:r>
              <a:rPr lang="es-ES" sz="1100">
                <a:latin typeface="Arial"/>
                <a:cs typeface="Arial"/>
              </a:rPr>
              <a:t> para iniciar </a:t>
            </a:r>
            <a:r>
              <a:rPr lang="es-ES" sz="1100" err="1">
                <a:latin typeface="Arial"/>
                <a:cs typeface="Arial"/>
              </a:rPr>
              <a:t>git</a:t>
            </a:r>
            <a:endParaRPr lang="es-ES" sz="1100">
              <a:latin typeface="Arial"/>
              <a:cs typeface="Arial"/>
            </a:endParaRPr>
          </a:p>
          <a:p>
            <a:pPr algn="just"/>
            <a:r>
              <a:rPr lang="es-ES" sz="1100" u="sng">
                <a:latin typeface="Arial"/>
                <a:cs typeface="Arial"/>
                <a:hlinkClick r:id="rId3"/>
              </a:rPr>
              <a:t>Guía</a:t>
            </a:r>
            <a:r>
              <a:rPr lang="es-ES" sz="1100">
                <a:latin typeface="Arial"/>
                <a:cs typeface="Arial"/>
              </a:rPr>
              <a:t> para crear un repositorio</a:t>
            </a:r>
          </a:p>
          <a:p>
            <a:pPr algn="just"/>
            <a:r>
              <a:rPr lang="es-ES" sz="1100">
                <a:latin typeface="Arial"/>
                <a:cs typeface="Arial"/>
                <a:hlinkClick r:id="rId4"/>
              </a:rPr>
              <a:t>Herencia</a:t>
            </a:r>
            <a:endParaRPr lang="es-ES" sz="1100">
              <a:latin typeface="Arial"/>
              <a:cs typeface="Arial"/>
            </a:endParaRPr>
          </a:p>
          <a:p>
            <a:pPr algn="just"/>
            <a:r>
              <a:rPr lang="es-ES" sz="1100">
                <a:latin typeface="Arial"/>
                <a:cs typeface="Arial"/>
                <a:hlinkClick r:id="rId5"/>
              </a:rPr>
              <a:t>Polimorfismo</a:t>
            </a:r>
            <a:endParaRPr lang="es-ES" sz="1100">
              <a:latin typeface="Arial"/>
              <a:cs typeface="Arial"/>
            </a:endParaRPr>
          </a:p>
          <a:p>
            <a:pPr algn="just"/>
            <a:endParaRPr lang="es-ES" sz="1100">
              <a:latin typeface="Arial"/>
              <a:cs typeface="Arial"/>
            </a:endParaRPr>
          </a:p>
          <a:p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4A2818-1554-2DB6-5B55-121407B5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85430"/>
      </p:ext>
    </p:extLst>
  </p:cSld>
  <p:clrMapOvr>
    <a:masterClrMapping/>
  </p:clrMapOvr>
</p:sld>
</file>

<file path=ppt/theme/theme1.xml><?xml version="1.0" encoding="utf-8"?>
<a:theme xmlns:a="http://schemas.openxmlformats.org/drawingml/2006/main" name="ED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" id="{025829BB-E26A-4598-9983-78D0A6F490C8}" vid="{8BF71C2D-7F2D-4401-99FE-11211852CF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</Template>
  <Application>Microsoft Office PowerPoint</Application>
  <PresentationFormat>On-screen Show (4:3)</PresentationFormat>
  <Slides>28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ED</vt:lpstr>
      <vt:lpstr>UT 7: PROGRAMACIÓN ORIENTADA A OBJETOS</vt:lpstr>
      <vt:lpstr>CONTENIDO</vt:lpstr>
      <vt:lpstr>introducción</vt:lpstr>
      <vt:lpstr>1. Modelización (Adelanto de la UT8)</vt:lpstr>
      <vt:lpstr>1. Modelización</vt:lpstr>
      <vt:lpstr>Programación Orientada a Objetos</vt:lpstr>
      <vt:lpstr>2. Bases del diseño DOO y la programación orientada a objetos POO</vt:lpstr>
      <vt:lpstr>3. Bases del diseño DOO y la programación POO</vt:lpstr>
      <vt:lpstr>3. Bases DOO y POO</vt:lpstr>
      <vt:lpstr>4. ELEMENTOS POO</vt:lpstr>
      <vt:lpstr>4. ELEMENTOS POO</vt:lpstr>
      <vt:lpstr>4. ELEMENTOS POO</vt:lpstr>
      <vt:lpstr>4. ELEMENTOS POO</vt:lpstr>
      <vt:lpstr>4. ELEMENTOS POO</vt:lpstr>
      <vt:lpstr>5. CARACTERÍSTICAS</vt:lpstr>
      <vt:lpstr>5. CARACTERÍSTICAS TAREA ED5a0701 </vt:lpstr>
      <vt:lpstr>5. CARACTERÍSTICAS TAREA ED5a0702 </vt:lpstr>
      <vt:lpstr>5. CARACTERÍSTICAS</vt:lpstr>
      <vt:lpstr>5. CARACTERÍSTICAS</vt:lpstr>
      <vt:lpstr>5. CARACTERÍSTICAS</vt:lpstr>
      <vt:lpstr>5. CARACTERÍSTICAS</vt:lpstr>
      <vt:lpstr>5. CARACTERÍSTICAS TAREA ED5a0703</vt:lpstr>
      <vt:lpstr>5. CARACTERÍSTICAS</vt:lpstr>
      <vt:lpstr>5. CARACTERÍSTICAS TAREA ED5a0704</vt:lpstr>
      <vt:lpstr>6. OTRAS CARACTERÍSTICAS</vt:lpstr>
      <vt:lpstr>6. OTRAS CARACTERÍSTICAS</vt:lpstr>
      <vt:lpstr>6. OTRAS CARACTERÍSTICAS TAREA ED5a07EX</vt:lpstr>
      <vt:lpstr>Bibliografía y recursos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revision>1</cp:revision>
  <cp:lastPrinted>2024-02-28T08:07:09Z</cp:lastPrinted>
  <dcterms:modified xsi:type="dcterms:W3CDTF">2026-01-16T08:15:32Z</dcterms:modified>
</cp:coreProperties>
</file>