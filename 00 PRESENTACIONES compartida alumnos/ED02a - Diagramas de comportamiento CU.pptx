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1268EAEB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modernComment_13C_AA8993D0.xml" ContentType="application/vnd.ms-powerpoint.comments+xml"/>
  <Override PartName="/ppt/ink/ink1.xml" ContentType="application/inkml+xml"/>
  <Override PartName="/ppt/notesSlides/notesSlide16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7" r:id="rId1"/>
  </p:sldMasterIdLst>
  <p:notesMasterIdLst>
    <p:notesMasterId r:id="rId35"/>
  </p:notesMasterIdLst>
  <p:handoutMasterIdLst>
    <p:handoutMasterId r:id="rId36"/>
  </p:handoutMasterIdLst>
  <p:sldIdLst>
    <p:sldId id="256" r:id="rId2"/>
    <p:sldId id="314" r:id="rId3"/>
    <p:sldId id="321" r:id="rId4"/>
    <p:sldId id="336" r:id="rId5"/>
    <p:sldId id="337" r:id="rId6"/>
    <p:sldId id="356" r:id="rId7"/>
    <p:sldId id="357" r:id="rId8"/>
    <p:sldId id="296" r:id="rId9"/>
    <p:sldId id="315" r:id="rId10"/>
    <p:sldId id="297" r:id="rId11"/>
    <p:sldId id="298" r:id="rId12"/>
    <p:sldId id="299" r:id="rId13"/>
    <p:sldId id="300" r:id="rId14"/>
    <p:sldId id="304" r:id="rId15"/>
    <p:sldId id="338" r:id="rId16"/>
    <p:sldId id="305" r:id="rId17"/>
    <p:sldId id="339" r:id="rId18"/>
    <p:sldId id="340" r:id="rId19"/>
    <p:sldId id="306" r:id="rId20"/>
    <p:sldId id="322" r:id="rId21"/>
    <p:sldId id="309" r:id="rId22"/>
    <p:sldId id="312" r:id="rId23"/>
    <p:sldId id="313" r:id="rId24"/>
    <p:sldId id="310" r:id="rId25"/>
    <p:sldId id="311" r:id="rId26"/>
    <p:sldId id="330" r:id="rId27"/>
    <p:sldId id="320" r:id="rId28"/>
    <p:sldId id="316" r:id="rId29"/>
    <p:sldId id="317" r:id="rId30"/>
    <p:sldId id="331" r:id="rId31"/>
    <p:sldId id="332" r:id="rId32"/>
    <p:sldId id="308" r:id="rId33"/>
    <p:sldId id="302" r:id="rId34"/>
  </p:sldIdLst>
  <p:sldSz cx="9144000" cy="6858000" type="screen4x3"/>
  <p:notesSz cx="12192000" cy="6858000"/>
  <p:embeddedFontLst>
    <p:embeddedFont>
      <p:font typeface="Tahoma" panose="020B0604030504040204" pitchFamily="34" charset="0"/>
      <p:regular r:id="rId37"/>
      <p:bold r:id="rId38"/>
    </p:embeddedFont>
    <p:embeddedFont>
      <p:font typeface="Trebuchet MS" panose="020B0603020202020204" pitchFamily="34" charset="0"/>
      <p:regular r:id="rId39"/>
      <p:bold r:id="rId40"/>
      <p:italic r:id="rId41"/>
      <p:boldItalic r:id="rId42"/>
    </p:embeddedFont>
    <p:embeddedFont>
      <p:font typeface="Wingdings 3" panose="05040102010807070707" pitchFamily="18" charset="2"/>
      <p:regular r:id="rId4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47385B8-8C62-4854-B1B9-CD5033358939}">
          <p14:sldIdLst>
            <p14:sldId id="256"/>
          </p14:sldIdLst>
        </p14:section>
        <p14:section name="CONTENIDO" id="{A7719EAC-2FEC-43A1-A51F-3CEBCD789471}">
          <p14:sldIdLst>
            <p14:sldId id="314"/>
          </p14:sldIdLst>
        </p14:section>
        <p14:section name="PROCESO SOFTWARE" id="{35D09197-F951-4513-BE1B-88ED325C60A1}">
          <p14:sldIdLst>
            <p14:sldId id="321"/>
            <p14:sldId id="336"/>
            <p14:sldId id="337"/>
            <p14:sldId id="356"/>
            <p14:sldId id="357"/>
          </p14:sldIdLst>
        </p14:section>
        <p14:section name="2 DIAGRAMAS CU" id="{32AA5F9D-B5F4-4E9D-8DBB-B3503F6F8A1D}">
          <p14:sldIdLst>
            <p14:sldId id="296"/>
            <p14:sldId id="315"/>
            <p14:sldId id="297"/>
            <p14:sldId id="298"/>
            <p14:sldId id="299"/>
          </p14:sldIdLst>
        </p14:section>
        <p14:section name="ASOCIACIONES Y RELACIONES" id="{CC7BD803-ABD9-4D35-8DC9-F40A0888E346}">
          <p14:sldIdLst>
            <p14:sldId id="300"/>
            <p14:sldId id="304"/>
            <p14:sldId id="338"/>
            <p14:sldId id="305"/>
            <p14:sldId id="339"/>
            <p14:sldId id="340"/>
            <p14:sldId id="306"/>
          </p14:sldIdLst>
        </p14:section>
        <p14:section name="PASOS Y EJEMPLOS" id="{39E427B0-8952-4D56-AFD3-8B74D79BCEAC}">
          <p14:sldIdLst>
            <p14:sldId id="322"/>
            <p14:sldId id="309"/>
            <p14:sldId id="312"/>
            <p14:sldId id="313"/>
            <p14:sldId id="310"/>
          </p14:sldIdLst>
        </p14:section>
        <p14:section name="3 DOCUMENTACIÓN" id="{FCE142CC-F8D9-4CCE-A8C3-F3EFAA3F862F}">
          <p14:sldIdLst>
            <p14:sldId id="311"/>
            <p14:sldId id="330"/>
            <p14:sldId id="320"/>
            <p14:sldId id="316"/>
            <p14:sldId id="317"/>
            <p14:sldId id="331"/>
            <p14:sldId id="332"/>
            <p14:sldId id="308"/>
          </p14:sldIdLst>
        </p14:section>
        <p14:section name="RECURSOS" id="{5A9A2E12-7646-41F5-A12A-BD84E5FDFE69}">
          <p14:sldIdLst>
            <p14:sldId id="3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18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3F3F8B-DCA6-FAF0-4A92-A6BBBBCD913E}" name="Miguel" initials="M" userId="Miguel" providerId="None"/>
  <p188:author id="{977F47D7-07F1-85A1-7633-049FB299B8FA}" name="MIGUEL TRIGUEROS MUÑOZ" initials="MT" userId="S::MIGUEL.TRIGUEROS@aulaxxi.murciaeduca.es::a4ee0321-97d7-430f-98a8-7ed13ff9a4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E1A52-2D06-290C-270F-AAF8E2BD7F8E}" v="39" dt="2025-12-18T20:26:04.462"/>
    <p1510:client id="{7DB55E39-0D0B-6B48-85AB-63C26D46838F}" v="2" dt="2025-12-19T08:06:06.9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168"/>
        <p:guide pos="183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tableStyles" Target="tableStyles.xml"/><Relationship Id="rId50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7.fnt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TRIGUEROS MUÑOZ" userId="S::miguel.trigueros@aulaxxi.murciaeduca.es::a4ee0321-97d7-430f-98a8-7ed13ff9a4bf" providerId="AD" clId="Web-{083F2E99-DF8D-816D-E287-81C0FB36B117}"/>
    <pc:docChg chg="modSld">
      <pc:chgData name="MIGUEL TRIGUEROS MUÑOZ" userId="S::miguel.trigueros@aulaxxi.murciaeduca.es::a4ee0321-97d7-430f-98a8-7ed13ff9a4bf" providerId="AD" clId="Web-{083F2E99-DF8D-816D-E287-81C0FB36B117}" dt="2025-11-29T07:43:56.298" v="125"/>
      <pc:docMkLst>
        <pc:docMk/>
      </pc:docMkLst>
      <pc:sldChg chg="modSp modNotes">
        <pc:chgData name="MIGUEL TRIGUEROS MUÑOZ" userId="S::miguel.trigueros@aulaxxi.murciaeduca.es::a4ee0321-97d7-430f-98a8-7ed13ff9a4bf" providerId="AD" clId="Web-{083F2E99-DF8D-816D-E287-81C0FB36B117}" dt="2025-11-29T07:43:56.298" v="125"/>
        <pc:sldMkLst>
          <pc:docMk/>
          <pc:sldMk cId="2861142992" sldId="316"/>
        </pc:sldMkLst>
        <pc:graphicFrameChg chg="mod modGraphic">
          <ac:chgData name="MIGUEL TRIGUEROS MUÑOZ" userId="S::miguel.trigueros@aulaxxi.murciaeduca.es::a4ee0321-97d7-430f-98a8-7ed13ff9a4bf" providerId="AD" clId="Web-{083F2E99-DF8D-816D-E287-81C0FB36B117}" dt="2025-11-29T07:43:25.407" v="73"/>
          <ac:graphicFrameMkLst>
            <pc:docMk/>
            <pc:sldMk cId="2861142992" sldId="316"/>
            <ac:graphicFrameMk id="14" creationId="{96A8E327-999F-F209-BF6F-5631386368BD}"/>
          </ac:graphicFrameMkLst>
        </pc:graphicFrameChg>
      </pc:sldChg>
    </pc:docChg>
  </pc:docChgLst>
  <pc:docChgLst>
    <pc:chgData name="CONDORI ARGOLLO, NELSON GABRIEL" userId="S::13762741@alu365.murciaeduca.es::226c2f5f-8132-41ef-aa3e-e4667f621121" providerId="AD" clId="Web-{037E1A52-2D06-290C-270F-AAF8E2BD7F8E}"/>
    <pc:docChg chg="modSld">
      <pc:chgData name="CONDORI ARGOLLO, NELSON GABRIEL" userId="S::13762741@alu365.murciaeduca.es::226c2f5f-8132-41ef-aa3e-e4667f621121" providerId="AD" clId="Web-{037E1A52-2D06-290C-270F-AAF8E2BD7F8E}" dt="2025-12-18T20:26:04.462" v="38"/>
      <pc:docMkLst>
        <pc:docMk/>
      </pc:docMkLst>
      <pc:sldChg chg="modSp">
        <pc:chgData name="CONDORI ARGOLLO, NELSON GABRIEL" userId="S::13762741@alu365.murciaeduca.es::226c2f5f-8132-41ef-aa3e-e4667f621121" providerId="AD" clId="Web-{037E1A52-2D06-290C-270F-AAF8E2BD7F8E}" dt="2025-12-18T20:26:04.462" v="38"/>
        <pc:sldMkLst>
          <pc:docMk/>
          <pc:sldMk cId="2861142992" sldId="316"/>
        </pc:sldMkLst>
        <pc:grpChg chg="mod">
          <ac:chgData name="CONDORI ARGOLLO, NELSON GABRIEL" userId="S::13762741@alu365.murciaeduca.es::226c2f5f-8132-41ef-aa3e-e4667f621121" providerId="AD" clId="Web-{037E1A52-2D06-290C-270F-AAF8E2BD7F8E}" dt="2025-12-18T20:25:27.915" v="24" actId="1076"/>
          <ac:grpSpMkLst>
            <pc:docMk/>
            <pc:sldMk cId="2861142992" sldId="316"/>
            <ac:grpSpMk id="8" creationId="{30AD3789-136B-A7C5-612F-DF642BAD70B4}"/>
          </ac:grpSpMkLst>
        </pc:grpChg>
        <pc:graphicFrameChg chg="mod modGraphic">
          <ac:chgData name="CONDORI ARGOLLO, NELSON GABRIEL" userId="S::13762741@alu365.murciaeduca.es::226c2f5f-8132-41ef-aa3e-e4667f621121" providerId="AD" clId="Web-{037E1A52-2D06-290C-270F-AAF8E2BD7F8E}" dt="2025-12-18T20:26:04.462" v="38"/>
          <ac:graphicFrameMkLst>
            <pc:docMk/>
            <pc:sldMk cId="2861142992" sldId="316"/>
            <ac:graphicFrameMk id="14" creationId="{96A8E327-999F-F209-BF6F-5631386368BD}"/>
          </ac:graphicFrameMkLst>
        </pc:graphicFrameChg>
      </pc:sldChg>
      <pc:sldChg chg="modSp">
        <pc:chgData name="CONDORI ARGOLLO, NELSON GABRIEL" userId="S::13762741@alu365.murciaeduca.es::226c2f5f-8132-41ef-aa3e-e4667f621121" providerId="AD" clId="Web-{037E1A52-2D06-290C-270F-AAF8E2BD7F8E}" dt="2025-12-18T20:22:24.993" v="22" actId="14100"/>
        <pc:sldMkLst>
          <pc:docMk/>
          <pc:sldMk cId="544873430" sldId="330"/>
        </pc:sldMkLst>
        <pc:picChg chg="mod modCrop">
          <ac:chgData name="CONDORI ARGOLLO, NELSON GABRIEL" userId="S::13762741@alu365.murciaeduca.es::226c2f5f-8132-41ef-aa3e-e4667f621121" providerId="AD" clId="Web-{037E1A52-2D06-290C-270F-AAF8E2BD7F8E}" dt="2025-12-18T20:21:05.665" v="19"/>
          <ac:picMkLst>
            <pc:docMk/>
            <pc:sldMk cId="544873430" sldId="330"/>
            <ac:picMk id="5" creationId="{D9B92CBC-5DAE-570B-9262-97919050B5E3}"/>
          </ac:picMkLst>
        </pc:picChg>
        <pc:picChg chg="mod modCrop">
          <ac:chgData name="CONDORI ARGOLLO, NELSON GABRIEL" userId="S::13762741@alu365.murciaeduca.es::226c2f5f-8132-41ef-aa3e-e4667f621121" providerId="AD" clId="Web-{037E1A52-2D06-290C-270F-AAF8E2BD7F8E}" dt="2025-12-18T20:22:24.993" v="22" actId="14100"/>
          <ac:picMkLst>
            <pc:docMk/>
            <pc:sldMk cId="544873430" sldId="330"/>
            <ac:picMk id="8" creationId="{F339A8FA-F9EF-E9C9-ECBB-0495193655A1}"/>
          </ac:picMkLst>
        </pc:picChg>
      </pc:sldChg>
      <pc:sldChg chg="modSp">
        <pc:chgData name="CONDORI ARGOLLO, NELSON GABRIEL" userId="S::13762741@alu365.murciaeduca.es::226c2f5f-8132-41ef-aa3e-e4667f621121" providerId="AD" clId="Web-{037E1A52-2D06-290C-270F-AAF8E2BD7F8E}" dt="2025-12-18T19:45:43.856" v="0" actId="1076"/>
        <pc:sldMkLst>
          <pc:docMk/>
          <pc:sldMk cId="548552804" sldId="339"/>
        </pc:sldMkLst>
        <pc:spChg chg="mod">
          <ac:chgData name="CONDORI ARGOLLO, NELSON GABRIEL" userId="S::13762741@alu365.murciaeduca.es::226c2f5f-8132-41ef-aa3e-e4667f621121" providerId="AD" clId="Web-{037E1A52-2D06-290C-270F-AAF8E2BD7F8E}" dt="2025-12-18T19:45:43.856" v="0" actId="1076"/>
          <ac:spMkLst>
            <pc:docMk/>
            <pc:sldMk cId="548552804" sldId="339"/>
            <ac:spMk id="3" creationId="{172EB05F-3146-ABBB-BEE2-7AFD16066B9D}"/>
          </ac:spMkLst>
        </pc:spChg>
      </pc:sldChg>
    </pc:docChg>
  </pc:docChgLst>
  <pc:docChgLst>
    <pc:chgData name="MIGUEL TRIGUEROS MUÑOZ" userId="S::miguel.trigueros@aulaxxi.murciaeduca.es::a4ee0321-97d7-430f-98a8-7ed13ff9a4bf" providerId="AD" clId="Web-{48405ED2-EDE2-83CA-124F-BE744D0212E4}"/>
    <pc:docChg chg="modSld">
      <pc:chgData name="MIGUEL TRIGUEROS MUÑOZ" userId="S::miguel.trigueros@aulaxxi.murciaeduca.es::a4ee0321-97d7-430f-98a8-7ed13ff9a4bf" providerId="AD" clId="Web-{48405ED2-EDE2-83CA-124F-BE744D0212E4}" dt="2025-11-28T11:09:44.908" v="67"/>
      <pc:docMkLst>
        <pc:docMk/>
      </pc:docMkLst>
      <pc:sldChg chg="modSp">
        <pc:chgData name="MIGUEL TRIGUEROS MUÑOZ" userId="S::miguel.trigueros@aulaxxi.murciaeduca.es::a4ee0321-97d7-430f-98a8-7ed13ff9a4bf" providerId="AD" clId="Web-{48405ED2-EDE2-83CA-124F-BE744D0212E4}" dt="2025-11-28T11:09:44.908" v="67"/>
        <pc:sldMkLst>
          <pc:docMk/>
          <pc:sldMk cId="2861142992" sldId="316"/>
        </pc:sldMkLst>
        <pc:grpChg chg="mod">
          <ac:chgData name="MIGUEL TRIGUEROS MUÑOZ" userId="S::miguel.trigueros@aulaxxi.murciaeduca.es::a4ee0321-97d7-430f-98a8-7ed13ff9a4bf" providerId="AD" clId="Web-{48405ED2-EDE2-83CA-124F-BE744D0212E4}" dt="2025-11-28T11:05:08.585" v="29" actId="1076"/>
          <ac:grpSpMkLst>
            <pc:docMk/>
            <pc:sldMk cId="2861142992" sldId="316"/>
            <ac:grpSpMk id="8" creationId="{30AD3789-136B-A7C5-612F-DF642BAD70B4}"/>
          </ac:grpSpMkLst>
        </pc:grpChg>
        <pc:graphicFrameChg chg="mod modGraphic">
          <ac:chgData name="MIGUEL TRIGUEROS MUÑOZ" userId="S::miguel.trigueros@aulaxxi.murciaeduca.es::a4ee0321-97d7-430f-98a8-7ed13ff9a4bf" providerId="AD" clId="Web-{48405ED2-EDE2-83CA-124F-BE744D0212E4}" dt="2025-11-28T11:09:44.908" v="67"/>
          <ac:graphicFrameMkLst>
            <pc:docMk/>
            <pc:sldMk cId="2861142992" sldId="316"/>
            <ac:graphicFrameMk id="14" creationId="{96A8E327-999F-F209-BF6F-5631386368BD}"/>
          </ac:graphicFrameMkLst>
        </pc:graphicFrameChg>
        <pc:picChg chg="mod">
          <ac:chgData name="MIGUEL TRIGUEROS MUÑOZ" userId="S::miguel.trigueros@aulaxxi.murciaeduca.es::a4ee0321-97d7-430f-98a8-7ed13ff9a4bf" providerId="AD" clId="Web-{48405ED2-EDE2-83CA-124F-BE744D0212E4}" dt="2025-11-28T11:05:07.022" v="25" actId="14100"/>
          <ac:picMkLst>
            <pc:docMk/>
            <pc:sldMk cId="2861142992" sldId="316"/>
            <ac:picMk id="16" creationId="{A998C36C-8D26-A866-00BB-BF0C8B810838}"/>
          </ac:picMkLst>
        </pc:picChg>
      </pc:sldChg>
    </pc:docChg>
  </pc:docChgLst>
  <pc:docChgLst>
    <pc:chgData name="Usuario invitado" userId="S::urn:spo:tenantanon#e8824902-b014-4524-99bd-d1ab5711db13::" providerId="AD" clId="Web-{7DB55E39-0D0B-6B48-85AB-63C26D46838F}"/>
    <pc:docChg chg="modSld">
      <pc:chgData name="Usuario invitado" userId="S::urn:spo:tenantanon#e8824902-b014-4524-99bd-d1ab5711db13::" providerId="AD" clId="Web-{7DB55E39-0D0B-6B48-85AB-63C26D46838F}" dt="2025-12-19T08:06:06.968" v="1" actId="1076"/>
      <pc:docMkLst>
        <pc:docMk/>
      </pc:docMkLst>
      <pc:sldChg chg="modSp">
        <pc:chgData name="Usuario invitado" userId="S::urn:spo:tenantanon#e8824902-b014-4524-99bd-d1ab5711db13::" providerId="AD" clId="Web-{7DB55E39-0D0B-6B48-85AB-63C26D46838F}" dt="2025-12-19T08:05:10.273" v="0" actId="1076"/>
        <pc:sldMkLst>
          <pc:docMk/>
          <pc:sldMk cId="2861142992" sldId="316"/>
        </pc:sldMkLst>
        <pc:grpChg chg="mod">
          <ac:chgData name="Usuario invitado" userId="S::urn:spo:tenantanon#e8824902-b014-4524-99bd-d1ab5711db13::" providerId="AD" clId="Web-{7DB55E39-0D0B-6B48-85AB-63C26D46838F}" dt="2025-12-19T08:05:10.273" v="0" actId="1076"/>
          <ac:grpSpMkLst>
            <pc:docMk/>
            <pc:sldMk cId="2861142992" sldId="316"/>
            <ac:grpSpMk id="8" creationId="{30AD3789-136B-A7C5-612F-DF642BAD70B4}"/>
          </ac:grpSpMkLst>
        </pc:grpChg>
      </pc:sldChg>
      <pc:sldChg chg="modSp">
        <pc:chgData name="Usuario invitado" userId="S::urn:spo:tenantanon#e8824902-b014-4524-99bd-d1ab5711db13::" providerId="AD" clId="Web-{7DB55E39-0D0B-6B48-85AB-63C26D46838F}" dt="2025-12-19T08:06:06.968" v="1" actId="1076"/>
        <pc:sldMkLst>
          <pc:docMk/>
          <pc:sldMk cId="959411268" sldId="331"/>
        </pc:sldMkLst>
        <pc:grpChg chg="mod">
          <ac:chgData name="Usuario invitado" userId="S::urn:spo:tenantanon#e8824902-b014-4524-99bd-d1ab5711db13::" providerId="AD" clId="Web-{7DB55E39-0D0B-6B48-85AB-63C26D46838F}" dt="2025-12-19T08:06:06.968" v="1" actId="1076"/>
          <ac:grpSpMkLst>
            <pc:docMk/>
            <pc:sldMk cId="959411268" sldId="331"/>
            <ac:grpSpMk id="8" creationId="{ADD52E52-4F92-2B9F-9184-98D490AB8A48}"/>
          </ac:grpSpMkLst>
        </pc:grpChg>
      </pc:sldChg>
    </pc:docChg>
  </pc:docChgLst>
</pc:chgInfo>
</file>

<file path=ppt/comments/modernComment_13C_AA8993D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A07DCB7-E8E0-4095-912E-CA94356E266C}" authorId="{343F3F8B-DCA6-FAF0-4A92-A6BBBBCD913E}" created="2023-11-25T07:24:21.302">
    <pc:sldMkLst xmlns:pc="http://schemas.microsoft.com/office/powerpoint/2013/main/command">
      <pc:docMk/>
      <pc:sldMk cId="2861142992" sldId="316"/>
    </pc:sldMkLst>
    <p188:txBody>
      <a:bodyPr/>
      <a:lstStyle/>
      <a:p>
        <a:r>
          <a:rPr lang="es-ES"/>
          <a:t>Mejorar: recrear en word, en alternativa 1, en lugar de 3 2a-1: parte de curso normal 2 y cómo es incorrecto, vuelve a 1.</a:t>
        </a:r>
      </a:p>
    </p188:txBody>
  </p188:cm>
</p188:cmLst>
</file>

<file path=ppt/comments/modernComment_100_1268EAE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1528637-61FE-4547-9330-70EE5DB07593}" authorId="{977F47D7-07F1-85A1-7633-049FB299B8FA}" created="2024-01-10T09:36:43.703">
    <pc:sldMkLst xmlns:pc="http://schemas.microsoft.com/office/powerpoint/2013/main/command">
      <pc:docMk/>
      <pc:sldMk cId="308865771" sldId="256"/>
    </pc:sldMkLst>
    <p188:replyLst>
      <p188:reply id="{F6D17209-6F6C-47EF-A7FB-BB586BB7F880}" authorId="{343F3F8B-DCA6-FAF0-4A92-A6BBBBCD913E}" created="2024-01-14T10:03:36.054">
        <p188:txBody>
          <a:bodyPr/>
          <a:lstStyle/>
          <a:p>
            <a:r>
              <a:rPr lang="es-ES"/>
              <a:t>Añadir el código POR EJEMPLO CU-01</a:t>
            </a:r>
          </a:p>
        </p188:txBody>
      </p188:reply>
    </p188:replyLst>
    <p188:txBody>
      <a:bodyPr/>
      <a:lstStyle/>
      <a:p>
        <a:r>
          <a:rPr lang="es-ES"/>
          <a:t>Mejorar todos los diagramas añadiendo CU X dentro de las elipses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2081A56-CC7C-E6A3-8C00-AB421FDCFD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34E5AF2-5A5A-3388-D92E-DA016151F9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9FAE3-5837-4C1B-BC4B-90063F16532C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7263E9F-C8DC-1F97-AA62-4AAB5BD36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0E984C9-C433-F37D-714F-A22D319DF6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2C0DB-E44F-4629-AD09-AAD10AC79FD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26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6T07:06:42.6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1,'39'1,"0"3,0 1,0 2,44 14,80 9,-94-20,61 1,-85-10,47 9,-58-2,-1 0,0 3,-1 1,35 17,70 22,-71-28,35 9,196 34,-273-62,0 1,0 1,33 14,-11-4,60 14,-74-22,-11-2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6T07:12:23.7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1,'18'1,"-1"1,1 1,-1 1,1 1,28 11,23 6,49 12,-71-18,1-3,0-2,63 7,-94-16,0 2,0-1,-1 2,25 10,-21-8,-1 0,32 5,-6-4,-1 1,49 18,-55-16,64 9,-59-12,20-1,0-2,107-6,-67-1,-72 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6T07:12:27.9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1,'12'1,"-1"1,1 0,-1 1,1 0,-1 1,13 6,39 11,-4-13,0-2,0-3,84-6,-27 0,-61 4,-1 2,66 11,82 17,-172-26,0-1,0-2,0-1,0-2,0 0,0-2,0-1,0-2,-1-1,30-11,-42 13,1 0,29-4,-23 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2F5B8-9C38-4C2F-A3DB-B7BB22627150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552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01F93-ECE8-401E-83DB-A934B2073DD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1568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621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Dibujando podemos transmitir de un vistazo ideas complejas: especialmente si compartimos un registro y código común.</a:t>
            </a:r>
          </a:p>
          <a:p>
            <a:r>
              <a:rPr lang="es-ES"/>
              <a:t>Conexión con el proyecto final: en ese momento no olvidéis añadir los diagramas necesarios, aprovechando su potencial para transmitir ideas y decisiones técnicas de un vistazo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3728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Cea </a:t>
            </a:r>
            <a:r>
              <a:rPr lang="es-ES" sz="1800" b="0" i="1" u="none" strike="noStrike">
                <a:solidFill>
                  <a:srgbClr val="695D46"/>
                </a:solidFill>
                <a:effectLst/>
                <a:latin typeface="Tahoma" panose="020B0604030504040204" pitchFamily="34" charset="0"/>
              </a:rPr>
              <a:t>Se han identificado los distintos tipos de diagramas de comportamiento. </a:t>
            </a:r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700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Pedir al alumnado que interprete el diagrama antes de explicarles nada:</a:t>
            </a:r>
          </a:p>
          <a:p>
            <a:r>
              <a:rPr lang="es-ES"/>
              <a:t>La información más importante que transmite es que nos indica </a:t>
            </a:r>
            <a:r>
              <a:rPr lang="es-ES" b="1"/>
              <a:t>quién puede hacer cada una de las cosas que se pueden hacer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0657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¿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1657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err="1"/>
              <a:t>Ceb</a:t>
            </a:r>
            <a:r>
              <a:rPr lang="es-ES"/>
              <a:t> </a:t>
            </a:r>
            <a:r>
              <a:rPr lang="es-ES" sz="1800" b="0" i="1" u="none" strike="noStrike">
                <a:solidFill>
                  <a:srgbClr val="695D46"/>
                </a:solidFill>
                <a:effectLst/>
                <a:latin typeface="Tahoma" panose="020B0604030504040204" pitchFamily="34" charset="0"/>
              </a:rPr>
              <a:t>Se ha reconocido el significado de los diagramas de casos de uso. </a:t>
            </a:r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7351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7936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Este ejemplo tienes casos de uso que son físicos (que solo se reflejarían en nuestro análisis real si el actor correspondiente usara el SISTEMA para registrarlos, tomar comanda, o comunicarlos, preparar comida)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35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SIEMPRE</a:t>
            </a:r>
            <a:r>
              <a:rPr lang="es-ES" baseline="0"/>
              <a:t> que consultamos notas o se cambian las notas, se imprime un resguardo.</a:t>
            </a:r>
          </a:p>
          <a:p>
            <a:r>
              <a:rPr lang="es-ES" baseline="0"/>
              <a:t>IMPRIMIR se puede reutilizar en otros casos de uso.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0266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PENDIENTE: Realizar el ejemplo en DRAW.io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1921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¿Por qué mejoran la reutilización? </a:t>
            </a:r>
            <a:r>
              <a:rPr lang="es-ES">
                <a:sym typeface="Wingdings" panose="05000000000000000000" pitchFamily="2" charset="2"/>
              </a:rPr>
              <a:t> 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3509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MEJORAR LOS EJEMPLOS AÑADIENDO CÓDIGO C01-INICIAR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0532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No</a:t>
            </a:r>
            <a:r>
              <a:rPr lang="es-ES" baseline="0"/>
              <a:t> pasar la solución a los alumnos??</a:t>
            </a:r>
          </a:p>
          <a:p>
            <a:r>
              <a:rPr lang="es-ES" b="1"/>
              <a:t>Conversador</a:t>
            </a:r>
            <a:r>
              <a:rPr lang="es-ES"/>
              <a:t>: Hace referencia a alguien que participa activamente en la conversación.</a:t>
            </a:r>
          </a:p>
          <a:p>
            <a:r>
              <a:rPr lang="es-ES" b="1"/>
              <a:t>Interlocutor</a:t>
            </a:r>
            <a:r>
              <a:rPr lang="es-ES"/>
              <a:t>: Un término que enfatiza la interacción con otro participante.</a:t>
            </a:r>
          </a:p>
          <a:p>
            <a:r>
              <a:rPr lang="es-ES" b="1"/>
              <a:t>Participante</a:t>
            </a:r>
            <a:r>
              <a:rPr lang="es-ES"/>
              <a:t>: Fomenta la idea de alguien que forma parte de un intercambio.</a:t>
            </a:r>
          </a:p>
          <a:p>
            <a:r>
              <a:rPr lang="es-ES" b="1"/>
              <a:t>Remitente</a:t>
            </a:r>
            <a:r>
              <a:rPr lang="es-ES"/>
              <a:t> y </a:t>
            </a:r>
            <a:r>
              <a:rPr lang="es-ES" b="1"/>
              <a:t>Destinatario</a:t>
            </a:r>
            <a:r>
              <a:rPr lang="es-ES"/>
              <a:t>: Nombres que se pueden usar para distinguir el origen y destino de los mensajes.</a:t>
            </a:r>
          </a:p>
          <a:p>
            <a:r>
              <a:rPr lang="es-ES" b="1"/>
              <a:t>Comunicador</a:t>
            </a:r>
            <a:r>
              <a:rPr lang="es-ES"/>
              <a:t>: Resalta el acto de transmitir mensajes.</a:t>
            </a:r>
          </a:p>
          <a:p>
            <a:r>
              <a:rPr lang="es-ES" b="1"/>
              <a:t>Miembro</a:t>
            </a:r>
            <a:r>
              <a:rPr lang="es-ES"/>
              <a:t>: Útil si el chat es parte de una comunidad o grupo.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760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No pasar la solución a los alumnos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91552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>
                <a:ea typeface="Calibri"/>
                <a:cs typeface="Calibri"/>
              </a:rPr>
              <a:t>ELIMINO la alternativa 1 para que la tarea de los diagramas de secuencia tenga una dificultad más progresiva.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1132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 una tabla. Se tienen que generar 3 tablas, una por cada caso de uso.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01F93-ECE8-401E-83DB-A934B2073DDB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9611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80452" y="6318780"/>
            <a:ext cx="51263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473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EF66C2E-A40D-3C3A-6CA5-14163ACBA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621792"/>
            <a:ext cx="8707438" cy="5972683"/>
          </a:xfrm>
        </p:spPr>
        <p:txBody>
          <a:bodyPr/>
          <a:lstStyle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24"/>
            <a:ext cx="7934960" cy="409355"/>
          </a:xfrm>
          <a:solidFill>
            <a:srgbClr val="729D51"/>
          </a:solidFill>
        </p:spPr>
        <p:txBody>
          <a:bodyPr>
            <a:noAutofit/>
          </a:bodyPr>
          <a:lstStyle>
            <a:lvl1pPr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066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iv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EF66C2E-A40D-3C3A-6CA5-14163ACBA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883920"/>
            <a:ext cx="8707438" cy="5710555"/>
          </a:xfrm>
        </p:spPr>
        <p:txBody>
          <a:bodyPr/>
          <a:lstStyle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24"/>
            <a:ext cx="7934960" cy="409355"/>
          </a:xfrm>
          <a:solidFill>
            <a:srgbClr val="729D51"/>
          </a:solidFill>
        </p:spPr>
        <p:txBody>
          <a:bodyPr>
            <a:noAutofit/>
          </a:bodyPr>
          <a:lstStyle>
            <a:lvl1pPr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8430"/>
            <a:ext cx="8571346" cy="337025"/>
          </a:xfrm>
          <a:solidFill>
            <a:srgbClr val="85B535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s-ES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</a:pPr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2369816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5" name="Marcador de contenido 14">
            <a:extLst>
              <a:ext uri="{FF2B5EF4-FFF2-40B4-BE49-F238E27FC236}">
                <a16:creationId xmlns:a16="http://schemas.microsoft.com/office/drawing/2014/main" id="{042BE952-E59C-5FD1-133D-D2CA76C441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65" y="738161"/>
            <a:ext cx="8980860" cy="337025"/>
          </a:xfrm>
          <a:solidFill>
            <a:srgbClr val="99C63D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s-ES" sz="1600" dirty="0" smtClean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EF66C2E-A40D-3C3A-6CA5-14163ACBA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1147763"/>
            <a:ext cx="8707438" cy="5446712"/>
          </a:xfrm>
        </p:spPr>
        <p:txBody>
          <a:bodyPr/>
          <a:lstStyle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24"/>
            <a:ext cx="7934960" cy="409355"/>
          </a:xfrm>
          <a:solidFill>
            <a:srgbClr val="729D51"/>
          </a:solidFill>
        </p:spPr>
        <p:txBody>
          <a:bodyPr>
            <a:noAutofit/>
          </a:bodyPr>
          <a:lstStyle>
            <a:lvl1pPr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08430"/>
            <a:ext cx="8571346" cy="337025"/>
          </a:xfrm>
          <a:solidFill>
            <a:srgbClr val="85B535"/>
          </a:solidFill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s-ES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</a:pPr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00396595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EF66C2E-A40D-3C3A-6CA5-14163ACBA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621792"/>
            <a:ext cx="8707438" cy="5972683"/>
          </a:xfrm>
        </p:spPr>
        <p:txBody>
          <a:bodyPr/>
          <a:lstStyle>
            <a:lvl2pPr>
              <a:defRPr>
                <a:solidFill>
                  <a:srgbClr val="FF0000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rgbClr val="0070C0"/>
                </a:solidFill>
              </a:defRPr>
            </a:lvl4pPr>
            <a:lvl5pP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924"/>
            <a:ext cx="7934960" cy="409355"/>
          </a:xfrm>
          <a:solidFill>
            <a:srgbClr val="729D51"/>
          </a:solidFill>
        </p:spPr>
        <p:txBody>
          <a:bodyPr>
            <a:noAutofit/>
          </a:bodyPr>
          <a:lstStyle>
            <a:lvl1pPr>
              <a:defRPr sz="2000" b="1">
                <a:solidFill>
                  <a:srgbClr val="FF0000"/>
                </a:solidFill>
              </a:defRPr>
            </a:lvl1pPr>
          </a:lstStyle>
          <a:p>
            <a:r>
              <a:rPr lang="es-ES"/>
              <a:t>TAREA X</a:t>
            </a:r>
            <a:endParaRPr lang="en-US"/>
          </a:p>
        </p:txBody>
      </p:sp>
      <p:pic>
        <p:nvPicPr>
          <p:cNvPr id="3" name="Gráfico 2" descr="Bandeja de entrada marcada contorno">
            <a:extLst>
              <a:ext uri="{FF2B5EF4-FFF2-40B4-BE49-F238E27FC236}">
                <a16:creationId xmlns:a16="http://schemas.microsoft.com/office/drawing/2014/main" id="{6B4C136E-AFD5-F617-9436-896E0EA7B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7636" y="152399"/>
            <a:ext cx="1149927" cy="114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9438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/>
          <a:lstStyle/>
          <a:p>
            <a:fld id="{4573F839-80E0-456A-B4D0-BAFED41946AC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3437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93C50-AD2B-485A-B3A1-D50376802F8F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97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82" y="1"/>
            <a:ext cx="8032580" cy="7019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8222" y="615677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6F15528-21DE-4FAA-801E-634DDDAF4B2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589B1CF-02D4-4456-3BF5-4299A2F5FF62}"/>
              </a:ext>
            </a:extLst>
          </p:cNvPr>
          <p:cNvSpPr txBox="1">
            <a:spLocks/>
          </p:cNvSpPr>
          <p:nvPr/>
        </p:nvSpPr>
        <p:spPr>
          <a:xfrm>
            <a:off x="-10311" y="6677891"/>
            <a:ext cx="8209431" cy="188576"/>
          </a:xfrm>
          <a:prstGeom prst="rect">
            <a:avLst/>
          </a:prstGeom>
          <a:solidFill>
            <a:srgbClr val="8CBF2D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800"/>
              <a:t>UT03 DIAGRAMAS DE COMPORTAMIENTO</a:t>
            </a:r>
            <a:endParaRPr lang="en-US" sz="800"/>
          </a:p>
        </p:txBody>
      </p:sp>
      <p:pic>
        <p:nvPicPr>
          <p:cNvPr id="4" name="Picture 2" descr="Qué tipo de licencias de imágenes hay y cuáles puedes utilizar">
            <a:extLst>
              <a:ext uri="{FF2B5EF4-FFF2-40B4-BE49-F238E27FC236}">
                <a16:creationId xmlns:a16="http://schemas.microsoft.com/office/drawing/2014/main" id="{C04ECA12-5463-11B2-C38D-08B15A5058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372" y="6396288"/>
            <a:ext cx="967068" cy="33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652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5" r:id="rId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1268EAEB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diagrams.net/" TargetMode="Externa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C_AA8993D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customXml" Target="../ink/ink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customXml" Target="../ink/ink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id-MVo7M-E&amp;t=29s" TargetMode="External"/><Relationship Id="rId2" Type="http://schemas.openxmlformats.org/officeDocument/2006/relationships/hyperlink" Target="https://www.youtube.com/watch?v=orvAkFFWo5o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pp.diagrams.net/" TargetMode="External"/><Relationship Id="rId4" Type="http://schemas.openxmlformats.org/officeDocument/2006/relationships/hyperlink" Target="https://github.com/ldmoral1987/temario-ed-da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67659EB-76EB-A54B-23B0-87550D09254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978"/>
          <a:stretch/>
        </p:blipFill>
        <p:spPr>
          <a:xfrm>
            <a:off x="1259632" y="2036834"/>
            <a:ext cx="5491661" cy="443651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6B5ACD-B995-716B-F5F7-1C14289F1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4852" y="435816"/>
            <a:ext cx="7148339" cy="1725597"/>
          </a:xfrm>
        </p:spPr>
        <p:txBody>
          <a:bodyPr/>
          <a:lstStyle/>
          <a:p>
            <a:pPr algn="l"/>
            <a:r>
              <a:rPr lang="es-ES"/>
              <a:t>UT3 DIAGRAMAS DE COMPORTAMIENTO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DAD067-C904-9067-2E51-E86959F2F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pPr/>
              <a:t>1</a:t>
            </a:fld>
            <a:endParaRPr lang="es-ES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20AD6DD5-E1F6-64CE-2264-36D1A0206F5E}"/>
              </a:ext>
            </a:extLst>
          </p:cNvPr>
          <p:cNvSpPr txBox="1"/>
          <p:nvPr/>
        </p:nvSpPr>
        <p:spPr>
          <a:xfrm>
            <a:off x="6588224" y="6521934"/>
            <a:ext cx="3162497" cy="2493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47"/>
              </a:lnSpc>
            </a:pPr>
            <a:r>
              <a:rPr sz="1400">
                <a:solidFill>
                  <a:schemeClr val="accent4"/>
                </a:solidFill>
                <a:latin typeface="MDUHDN+Century Gothic"/>
                <a:cs typeface="MDUHDN+Century Gothic"/>
              </a:rPr>
              <a:t>Entornos</a:t>
            </a:r>
            <a:r>
              <a:rPr sz="1400" spc="25">
                <a:solidFill>
                  <a:schemeClr val="accent4"/>
                </a:solidFill>
                <a:latin typeface="MDUHDN+Century Gothic"/>
                <a:cs typeface="MDUHDN+Century Gothic"/>
              </a:rPr>
              <a:t> </a:t>
            </a:r>
            <a:r>
              <a:rPr sz="1400">
                <a:solidFill>
                  <a:schemeClr val="accent4"/>
                </a:solidFill>
                <a:latin typeface="MDUHDN+Century Gothic"/>
                <a:cs typeface="MDUHDN+Century Gothic"/>
              </a:rPr>
              <a:t>de</a:t>
            </a:r>
            <a:r>
              <a:rPr sz="1400" spc="10">
                <a:solidFill>
                  <a:schemeClr val="accent4"/>
                </a:solidFill>
                <a:latin typeface="MDUHDN+Century Gothic"/>
                <a:cs typeface="MDUHDN+Century Gothic"/>
              </a:rPr>
              <a:t> </a:t>
            </a:r>
            <a:r>
              <a:rPr sz="1400">
                <a:solidFill>
                  <a:schemeClr val="accent4"/>
                </a:solidFill>
                <a:latin typeface="MDUHDN+Century Gothic"/>
                <a:cs typeface="MDUHDN+Century Gothic"/>
              </a:rPr>
              <a:t>Desarrollo</a:t>
            </a:r>
            <a:r>
              <a:rPr sz="1400" spc="-13">
                <a:solidFill>
                  <a:schemeClr val="accent4"/>
                </a:solidFill>
                <a:latin typeface="MDUHDN+Century Gothic"/>
                <a:cs typeface="MDUHDN+Century Gothic"/>
              </a:rPr>
              <a:t> </a:t>
            </a:r>
            <a:r>
              <a:rPr sz="1400">
                <a:solidFill>
                  <a:schemeClr val="accent4"/>
                </a:solidFill>
                <a:latin typeface="VCWNGD+Century Gothic"/>
                <a:cs typeface="VCWNGD+Century Gothic"/>
              </a:rPr>
              <a:t>– </a:t>
            </a:r>
            <a:r>
              <a:rPr sz="1400">
                <a:solidFill>
                  <a:schemeClr val="accent4"/>
                </a:solidFill>
                <a:latin typeface="MDUHDN+Century Gothic"/>
                <a:cs typeface="MDUHDN+Century Gothic"/>
              </a:rPr>
              <a:t>1º</a:t>
            </a:r>
            <a:r>
              <a:rPr lang="es-ES" sz="1400">
                <a:solidFill>
                  <a:schemeClr val="accent4"/>
                </a:solidFill>
                <a:latin typeface="MDUHDN+Century Gothic"/>
                <a:cs typeface="MDUHDN+Century Gothic"/>
              </a:rPr>
              <a:t> </a:t>
            </a:r>
            <a:r>
              <a:rPr sz="1400">
                <a:solidFill>
                  <a:schemeClr val="accent4"/>
                </a:solidFill>
                <a:latin typeface="MDUHDN+Century Gothic"/>
                <a:cs typeface="MDUHDN+Century Gothic"/>
              </a:rPr>
              <a:t>DA</a:t>
            </a:r>
            <a:r>
              <a:rPr lang="es-ES" sz="1400">
                <a:solidFill>
                  <a:schemeClr val="accent4"/>
                </a:solidFill>
                <a:latin typeface="MDUHDN+Century Gothic"/>
                <a:cs typeface="MDUHDN+Century Gothic"/>
              </a:rPr>
              <a:t>M</a:t>
            </a:r>
            <a:endParaRPr sz="1400">
              <a:solidFill>
                <a:schemeClr val="accent4"/>
              </a:solidFill>
              <a:latin typeface="MDUHDN+Century Gothic"/>
              <a:cs typeface="MDUHDN+Century Gothic"/>
            </a:endParaRPr>
          </a:p>
        </p:txBody>
      </p:sp>
      <p:pic>
        <p:nvPicPr>
          <p:cNvPr id="3" name="Picture 2" descr="Qué tipo de licencias de imágenes hay y cuáles puedes utilizar">
            <a:extLst>
              <a:ext uri="{FF2B5EF4-FFF2-40B4-BE49-F238E27FC236}">
                <a16:creationId xmlns:a16="http://schemas.microsoft.com/office/drawing/2014/main" id="{B4540A4D-DE5D-DF8E-FCB1-EB54AB7AC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412" y="6134875"/>
            <a:ext cx="967068" cy="338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657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4D4E08-3CCA-9AD8-5EB3-4A5637743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D7D569-2E40-41FB-F9B2-C226208559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400050">
              <a:buFont typeface="+mj-lt"/>
              <a:buAutoNum type="arabicPeriod"/>
            </a:pPr>
            <a:r>
              <a:rPr lang="es-ES"/>
              <a:t>Desarrollo de software, documentos y diagramas</a:t>
            </a:r>
          </a:p>
          <a:p>
            <a:pPr marL="400050">
              <a:buFont typeface="+mj-lt"/>
              <a:buAutoNum type="arabicPeriod"/>
            </a:pPr>
            <a:r>
              <a:rPr lang="es-ES"/>
              <a:t>Diagramas de casos de uso</a:t>
            </a:r>
          </a:p>
          <a:p>
            <a:pPr marL="400050">
              <a:buFont typeface="+mj-lt"/>
              <a:buAutoNum type="arabicPeriod"/>
            </a:pPr>
            <a:r>
              <a:rPr lang="es-ES"/>
              <a:t>Documentación de casos de uso</a:t>
            </a:r>
          </a:p>
          <a:p>
            <a:pPr marL="400050">
              <a:buFont typeface="+mj-lt"/>
              <a:buAutoNum type="arabicPeriod"/>
            </a:pPr>
            <a:r>
              <a:rPr lang="es-ES"/>
              <a:t>Práctica residencia</a:t>
            </a:r>
          </a:p>
          <a:p>
            <a:pPr marL="400050">
              <a:buFont typeface="+mj-lt"/>
              <a:buAutoNum type="arabicPeriod"/>
            </a:pPr>
            <a:r>
              <a:rPr lang="es-ES"/>
              <a:t>Recursos</a:t>
            </a:r>
          </a:p>
          <a:p>
            <a:pPr marL="400050">
              <a:buFont typeface="+mj-lt"/>
              <a:buAutoNum type="arabicPeriod"/>
            </a:pPr>
            <a:endParaRPr lang="es-ES"/>
          </a:p>
          <a:p>
            <a:pPr marL="400050">
              <a:buFont typeface="+mj-lt"/>
              <a:buAutoNum type="arabicPeriod"/>
            </a:pPr>
            <a:endParaRPr lang="es-ES"/>
          </a:p>
          <a:p>
            <a:pPr marL="400050">
              <a:buFont typeface="+mj-lt"/>
              <a:buAutoNum type="arabicPeriod"/>
            </a:pPr>
            <a:endParaRPr lang="es-ES"/>
          </a:p>
          <a:p>
            <a:pPr marL="57150" indent="0" algn="ctr">
              <a:buNone/>
            </a:pPr>
            <a:r>
              <a:rPr lang="es-ES" sz="3200">
                <a:solidFill>
                  <a:schemeClr val="accent4"/>
                </a:solidFill>
              </a:rPr>
              <a:t>¿Te lo explico o te lo dibujo?</a:t>
            </a:r>
          </a:p>
          <a:p>
            <a:pPr lvl="1">
              <a:buFont typeface="+mj-lt"/>
              <a:buAutoNum type="arabicPeriod"/>
            </a:pPr>
            <a:endParaRPr lang="es-ES"/>
          </a:p>
          <a:p>
            <a:pPr>
              <a:buFont typeface="+mj-lt"/>
              <a:buAutoNum type="arabicPeriod"/>
            </a:pPr>
            <a:endParaRPr lang="es-ES"/>
          </a:p>
          <a:p>
            <a:pPr>
              <a:buFont typeface="+mj-lt"/>
              <a:buAutoNum type="arabicPeriod"/>
            </a:pPr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E806B4-64A7-7098-4FE2-E40610F1E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745458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2D7E460-3301-F563-D75E-6947A92E3D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8281" y="965924"/>
            <a:ext cx="8707438" cy="2589634"/>
          </a:xfrm>
        </p:spPr>
        <p:txBody>
          <a:bodyPr/>
          <a:lstStyle/>
          <a:p>
            <a:r>
              <a:rPr lang="es-ES"/>
              <a:t>Análisis:</a:t>
            </a:r>
          </a:p>
          <a:p>
            <a:pPr lvl="1"/>
            <a:r>
              <a:rPr lang="es-ES"/>
              <a:t>Diagramas de casos de uso</a:t>
            </a:r>
          </a:p>
          <a:p>
            <a:r>
              <a:rPr lang="es-ES"/>
              <a:t>Diseño</a:t>
            </a:r>
          </a:p>
          <a:p>
            <a:pPr lvl="1"/>
            <a:r>
              <a:rPr lang="es-ES">
                <a:solidFill>
                  <a:schemeClr val="bg2">
                    <a:lumMod val="50000"/>
                  </a:schemeClr>
                </a:solidFill>
              </a:rPr>
              <a:t>Diagramas de secuencia</a:t>
            </a:r>
          </a:p>
          <a:p>
            <a:pPr lvl="1"/>
            <a:r>
              <a:rPr lang="es-ES">
                <a:solidFill>
                  <a:schemeClr val="bg2">
                    <a:lumMod val="50000"/>
                  </a:schemeClr>
                </a:solidFill>
              </a:rPr>
              <a:t>Diagramas de estado, actividad y flujo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1. INTRODUCCIÓN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183351C-4D5E-30A0-6864-D1F246ECB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tabLst/>
              <a:defRPr/>
            </a:pPr>
            <a:r>
              <a:rPr lang="es-ES" sz="1800" kern="1200"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rPr>
              <a:t>(De la UT 2: Desarrollo de software)</a:t>
            </a:r>
            <a:r>
              <a:rPr lang="es-ES"/>
              <a:t> SE UTILIZAN DIAGRAMAS</a:t>
            </a:r>
            <a:endParaRPr lang="es-ES" baseline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8326712-3A07-A64B-540C-6A5992DA8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378" y="3017189"/>
            <a:ext cx="6731122" cy="299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294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4316A8-3740-7724-8BAB-BBD30084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4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96B52E-494D-3D8C-B385-324FE2A578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Diagrama de casos de uso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5C811E-805D-D9E6-EA65-A467FD5EB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Tipos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2B708EC-12FE-4677-16EA-4744A71508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978"/>
          <a:stretch/>
        </p:blipFill>
        <p:spPr>
          <a:xfrm>
            <a:off x="523648" y="1893437"/>
            <a:ext cx="5819095" cy="470103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AC6248C-E96B-DF95-7143-ACFD7E4A3D95}"/>
              </a:ext>
            </a:extLst>
          </p:cNvPr>
          <p:cNvSpPr/>
          <p:nvPr/>
        </p:nvSpPr>
        <p:spPr>
          <a:xfrm>
            <a:off x="3015611" y="569998"/>
            <a:ext cx="4389872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b="0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¿Qué dice este diagrama?</a:t>
            </a:r>
          </a:p>
        </p:txBody>
      </p:sp>
    </p:spTree>
    <p:extLst>
      <p:ext uri="{BB962C8B-B14F-4D97-AF65-F5344CB8AC3E}">
        <p14:creationId xmlns:p14="http://schemas.microsoft.com/office/powerpoint/2010/main" val="338956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4316A8-3740-7724-8BAB-BBD30084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5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96B52E-494D-3D8C-B385-324FE2A578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Diagrama de secuencia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5C811E-805D-D9E6-EA65-A467FD5EB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Tipos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BDBF776-10F7-F619-6926-A4F7361EC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819" y="1255129"/>
            <a:ext cx="3915321" cy="470600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611700F-B18C-21FA-226E-AC1B81D28B82}"/>
              </a:ext>
            </a:extLst>
          </p:cNvPr>
          <p:cNvSpPr/>
          <p:nvPr/>
        </p:nvSpPr>
        <p:spPr>
          <a:xfrm>
            <a:off x="3422809" y="621790"/>
            <a:ext cx="347273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b="0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¿Qué dice este diagrama?</a:t>
            </a:r>
          </a:p>
        </p:txBody>
      </p:sp>
    </p:spTree>
    <p:extLst>
      <p:ext uri="{BB962C8B-B14F-4D97-AF65-F5344CB8AC3E}">
        <p14:creationId xmlns:p14="http://schemas.microsoft.com/office/powerpoint/2010/main" val="363463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1019B-6E69-B8D4-7D16-E458DBE2A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0BD6D6-0062-D5A4-21F1-F2DC4B6DA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6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647708-4F55-D7EB-E43B-41919551D5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Diagrama de estado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9DB3D6-6A4D-8FB8-223A-22E5A8469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Tipos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AA878E-1174-2648-C6F5-CBDA3143E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299" y="953908"/>
            <a:ext cx="4448885" cy="5040492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A6C73E2-9971-CF69-8548-DC8312592D02}"/>
              </a:ext>
            </a:extLst>
          </p:cNvPr>
          <p:cNvSpPr/>
          <p:nvPr/>
        </p:nvSpPr>
        <p:spPr>
          <a:xfrm>
            <a:off x="3685841" y="508413"/>
            <a:ext cx="347273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b="0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¿Qué dice este diagrama?</a:t>
            </a:r>
          </a:p>
        </p:txBody>
      </p:sp>
    </p:spTree>
    <p:extLst>
      <p:ext uri="{BB962C8B-B14F-4D97-AF65-F5344CB8AC3E}">
        <p14:creationId xmlns:p14="http://schemas.microsoft.com/office/powerpoint/2010/main" val="1660613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8ADFF-4455-E813-95F5-C98E3AE17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B79FE88-E729-D3A2-1AC7-C63192D14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032" y="621792"/>
            <a:ext cx="5212896" cy="5721207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5855E2-5546-11F2-F405-A49CB5094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7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7773EC-3856-B16D-D050-DFDB10CC6B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Diagrama de actividad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0C8586-5DA6-09E1-6B6C-DECEF556A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Tipos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48DECC6-71F7-78E3-695C-DE9A88B85399}"/>
              </a:ext>
            </a:extLst>
          </p:cNvPr>
          <p:cNvSpPr/>
          <p:nvPr/>
        </p:nvSpPr>
        <p:spPr>
          <a:xfrm>
            <a:off x="798403" y="1534919"/>
            <a:ext cx="1639997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b="0" cap="none" spc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¿Qué dice este diagrama?</a:t>
            </a:r>
          </a:p>
        </p:txBody>
      </p:sp>
    </p:spTree>
    <p:extLst>
      <p:ext uri="{BB962C8B-B14F-4D97-AF65-F5344CB8AC3E}">
        <p14:creationId xmlns:p14="http://schemas.microsoft.com/office/powerpoint/2010/main" val="4247384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6FE2EF-5EDC-258F-7903-6C6EB19F4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8</a:t>
            </a:fld>
            <a:endParaRPr lang="en-U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45AF7CC-753C-B7DA-948E-71ACFD5A68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3936" y="1811964"/>
            <a:ext cx="7184571" cy="3630894"/>
          </a:xfrm>
        </p:spPr>
        <p:txBody>
          <a:bodyPr/>
          <a:lstStyle/>
          <a:p>
            <a:pPr rtl="0" eaLnBrk="1" latinLnBrk="0" hangingPunct="1"/>
            <a:r>
              <a:rPr lang="es-ES" sz="1800" kern="1200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rPr>
              <a:t>Permiten especificar </a:t>
            </a:r>
            <a:r>
              <a:rPr lang="es-ES" sz="1800" b="1" kern="1200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rPr>
              <a:t>cómo interactúa el usuario con el sistema</a:t>
            </a:r>
            <a:endParaRPr lang="es-ES" sz="1800">
              <a:solidFill>
                <a:schemeClr val="accent6"/>
              </a:solidFill>
              <a:effectLst/>
            </a:endParaRPr>
          </a:p>
          <a:p>
            <a:pPr rtl="0" eaLnBrk="1" latinLnBrk="0" hangingPunct="1"/>
            <a:r>
              <a:rPr lang="es-ES" sz="1800" kern="1200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rPr>
              <a:t>En estos diagramas se muestra la </a:t>
            </a:r>
            <a:r>
              <a:rPr lang="es-ES" sz="1800" b="1" kern="1200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rPr>
              <a:t>interacción </a:t>
            </a:r>
            <a:r>
              <a:rPr lang="es-ES" sz="1800" kern="1200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rPr>
              <a:t>entre el </a:t>
            </a:r>
            <a:r>
              <a:rPr lang="es-ES" sz="1800" b="1" kern="1200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rPr>
              <a:t>sistema </a:t>
            </a:r>
            <a:r>
              <a:rPr lang="es-ES" sz="1800" kern="1200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rPr>
              <a:t>y el </a:t>
            </a:r>
            <a:r>
              <a:rPr lang="es-ES" sz="1800" b="1" kern="1200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rPr>
              <a:t>mundo exterior </a:t>
            </a:r>
            <a:r>
              <a:rPr lang="es-ES" sz="1800" kern="1200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rPr>
              <a:t>(actores)</a:t>
            </a:r>
            <a:endParaRPr lang="es-ES">
              <a:solidFill>
                <a:schemeClr val="accent6"/>
              </a:solidFill>
              <a:effectLst/>
            </a:endParaRPr>
          </a:p>
          <a:p>
            <a:pPr rtl="0" eaLnBrk="1" latinLnBrk="0" hangingPunct="1"/>
            <a:r>
              <a:rPr lang="es-ES" sz="1800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Aportan Valor para </a:t>
            </a:r>
            <a:r>
              <a:rPr lang="es-ES" sz="18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analista</a:t>
            </a:r>
            <a:r>
              <a:rPr lang="es-ES" sz="1800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s-ES" sz="18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cliente</a:t>
            </a:r>
            <a:r>
              <a:rPr lang="es-ES" sz="1800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ES" sz="1800" i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ya que es </a:t>
            </a:r>
            <a:r>
              <a:rPr lang="es-ES" sz="1800" b="1" i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comprensible</a:t>
            </a:r>
            <a:r>
              <a:rPr lang="es-ES" sz="1800" i="1" kern="1200">
                <a:solidFill>
                  <a:srgbClr val="FF0000"/>
                </a:solidFill>
                <a:effectLst/>
              </a:rPr>
              <a:t> por ambos</a:t>
            </a:r>
            <a:endParaRPr lang="es-ES">
              <a:solidFill>
                <a:srgbClr val="FF0000"/>
              </a:solidFill>
              <a:effectLst/>
            </a:endParaRPr>
          </a:p>
          <a:p>
            <a:pPr rtl="0" eaLnBrk="1" latinLnBrk="0" hangingPunct="1"/>
            <a:r>
              <a:rPr lang="es-ES" sz="1800" kern="1200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rPr>
              <a:t>Base para las siguientes fases del proceso de desarrollo (8 fases)</a:t>
            </a:r>
            <a:endParaRPr lang="es-ES">
              <a:solidFill>
                <a:schemeClr val="accent6"/>
              </a:solidFill>
              <a:effectLst/>
            </a:endParaRPr>
          </a:p>
          <a:p>
            <a:pPr rtl="0" eaLnBrk="1" latinLnBrk="0" hangingPunct="1"/>
            <a:r>
              <a:rPr lang="es-ES" sz="1800" kern="1200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rPr>
              <a:t>Las </a:t>
            </a:r>
            <a:r>
              <a:rPr lang="es-ES" sz="1800" b="1" i="1" kern="1200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rPr>
              <a:t>pruebas</a:t>
            </a:r>
            <a:r>
              <a:rPr lang="es-ES" sz="1800" kern="1200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rPr>
              <a:t> funcionales se derivan de los casos de uso</a:t>
            </a:r>
            <a:endParaRPr lang="es-ES">
              <a:solidFill>
                <a:schemeClr val="accent6"/>
              </a:solidFill>
              <a:effectLst/>
            </a:endParaRPr>
          </a:p>
          <a:p>
            <a:pPr rtl="0" eaLnBrk="1" latinLnBrk="0" hangingPunct="1"/>
            <a:r>
              <a:rPr lang="es-ES" sz="1800" b="1" kern="1200">
                <a:solidFill>
                  <a:schemeClr val="accent6"/>
                </a:solidFill>
                <a:effectLst/>
                <a:latin typeface="+mn-lt"/>
                <a:ea typeface="+mn-ea"/>
                <a:cs typeface="+mn-cs"/>
              </a:rPr>
              <a:t>Un mismo problema se puede expresar de distintas maneras</a:t>
            </a:r>
            <a:endParaRPr lang="es-ES">
              <a:solidFill>
                <a:schemeClr val="accent6"/>
              </a:solidFill>
              <a:effectLst/>
            </a:endParaRPr>
          </a:p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2.</a:t>
            </a:r>
            <a:r>
              <a:rPr lang="es-ES" baseline="0"/>
              <a:t> </a:t>
            </a:r>
            <a:r>
              <a:rPr lang="es-ES"/>
              <a:t>Diagramas de casos de uso</a:t>
            </a:r>
          </a:p>
        </p:txBody>
      </p:sp>
    </p:spTree>
    <p:extLst>
      <p:ext uri="{BB962C8B-B14F-4D97-AF65-F5344CB8AC3E}">
        <p14:creationId xmlns:p14="http://schemas.microsoft.com/office/powerpoint/2010/main" val="3881213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FC674D2-7F5C-7DDE-0E77-BB8FFB338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9</a:t>
            </a:fld>
            <a:endParaRPr lang="en-U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20F891AE-3DB4-281E-D362-E59AEAA246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621792"/>
            <a:ext cx="7417995" cy="59726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Elementos</a:t>
            </a:r>
            <a:r>
              <a:rPr lang="es-ES" baseline="0"/>
              <a:t> del diagrama</a:t>
            </a:r>
          </a:p>
          <a:p>
            <a:pPr lvl="1"/>
            <a:r>
              <a:rPr lang="es-ES" sz="16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Sistema</a:t>
            </a:r>
            <a:r>
              <a:rPr lang="es-ES" b="1">
                <a:solidFill>
                  <a:srgbClr val="FF0000"/>
                </a:solidFill>
              </a:rPr>
              <a:t>:</a:t>
            </a:r>
            <a:r>
              <a:rPr lang="es-ES">
                <a:solidFill>
                  <a:schemeClr val="accent2"/>
                </a:solidFill>
              </a:rPr>
              <a:t> </a:t>
            </a:r>
            <a:r>
              <a:rPr lang="es-ES" sz="1600" kern="1200">
                <a:solidFill>
                  <a:schemeClr val="accent2"/>
                </a:solidFill>
                <a:effectLst/>
                <a:latin typeface="+mn-lt"/>
                <a:ea typeface="+mn-ea"/>
                <a:cs typeface="+mn-cs"/>
              </a:rPr>
              <a:t>dentro de los límites</a:t>
            </a:r>
            <a:r>
              <a:rPr lang="es-ES">
                <a:solidFill>
                  <a:schemeClr val="accent2"/>
                </a:solidFill>
              </a:rPr>
              <a:t> </a:t>
            </a:r>
            <a:r>
              <a:rPr lang="es-ES" sz="1600" kern="1200">
                <a:solidFill>
                  <a:schemeClr val="accent2"/>
                </a:solidFill>
                <a:effectLst/>
                <a:latin typeface="+mn-lt"/>
                <a:ea typeface="+mn-ea"/>
                <a:cs typeface="+mn-cs"/>
              </a:rPr>
              <a:t> de la aplicación</a:t>
            </a:r>
            <a:endParaRPr lang="es-ES">
              <a:solidFill>
                <a:schemeClr val="accent2"/>
              </a:solidFill>
              <a:effectLst/>
            </a:endParaRPr>
          </a:p>
          <a:p>
            <a:pPr lvl="1"/>
            <a:r>
              <a:rPr lang="es-ES" sz="16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Caso de uso</a:t>
            </a:r>
            <a:r>
              <a:rPr lang="es-ES" b="1">
                <a:solidFill>
                  <a:srgbClr val="FF0000"/>
                </a:solidFill>
              </a:rPr>
              <a:t>:</a:t>
            </a:r>
            <a:r>
              <a:rPr lang="es-ES" sz="1600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600" kern="1200">
                <a:solidFill>
                  <a:schemeClr val="accent2"/>
                </a:solidFill>
                <a:effectLst/>
                <a:latin typeface="+mn-lt"/>
                <a:ea typeface="+mn-ea"/>
                <a:cs typeface="+mn-cs"/>
              </a:rPr>
              <a:t>tarea que realiza el sistema </a:t>
            </a:r>
            <a:r>
              <a:rPr lang="es-ES" sz="1600" b="1" kern="1200">
                <a:solidFill>
                  <a:schemeClr val="accent2"/>
                </a:solidFill>
                <a:effectLst/>
                <a:latin typeface="+mn-lt"/>
                <a:ea typeface="+mn-ea"/>
                <a:cs typeface="+mn-cs"/>
              </a:rPr>
              <a:t>A PETICIÓN DE UN ACTOR</a:t>
            </a:r>
            <a:endParaRPr lang="es-ES">
              <a:solidFill>
                <a:schemeClr val="accent2"/>
              </a:solidFill>
            </a:endParaRPr>
          </a:p>
          <a:p>
            <a:pPr lvl="2"/>
            <a:r>
              <a:rPr lang="es-ES">
                <a:solidFill>
                  <a:schemeClr val="tx1">
                    <a:lumMod val="65000"/>
                    <a:lumOff val="35000"/>
                  </a:schemeClr>
                </a:solidFill>
              </a:rPr>
              <a:t>Debe mostrar una funcionalidad con </a:t>
            </a:r>
            <a:r>
              <a:rPr lang="es-ES" b="1">
                <a:solidFill>
                  <a:schemeClr val="tx1">
                    <a:lumMod val="65000"/>
                    <a:lumOff val="35000"/>
                  </a:schemeClr>
                </a:solidFill>
              </a:rPr>
              <a:t>VALOR</a:t>
            </a:r>
            <a:r>
              <a:rPr lang="es-ES">
                <a:solidFill>
                  <a:schemeClr val="tx1">
                    <a:lumMod val="65000"/>
                    <a:lumOff val="35000"/>
                  </a:schemeClr>
                </a:solidFill>
              </a:rPr>
              <a:t> que el actor desea extraer del sistema, no un paso.</a:t>
            </a:r>
          </a:p>
          <a:p>
            <a:pPr lvl="2"/>
            <a:r>
              <a:rPr lang="es-ES">
                <a:solidFill>
                  <a:schemeClr val="tx1">
                    <a:lumMod val="65000"/>
                    <a:lumOff val="35000"/>
                  </a:schemeClr>
                </a:solidFill>
              </a:rPr>
              <a:t>Se escribe un verbo en INFINITIVO.</a:t>
            </a:r>
          </a:p>
          <a:p>
            <a:pPr lvl="1" rtl="0" eaLnBrk="1" latinLnBrk="0" hangingPunct="1"/>
            <a:r>
              <a:rPr lang="es-ES" sz="16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Actor</a:t>
            </a:r>
            <a:r>
              <a:rPr lang="es-ES" b="1">
                <a:solidFill>
                  <a:srgbClr val="FF0000"/>
                </a:solidFill>
              </a:rPr>
              <a:t>:</a:t>
            </a:r>
            <a:r>
              <a:rPr lang="es-ES" sz="1600" kern="1200">
                <a:solidFill>
                  <a:schemeClr val="accent2"/>
                </a:solidFill>
                <a:effectLst/>
                <a:latin typeface="+mn-lt"/>
                <a:ea typeface="+mn-ea"/>
                <a:cs typeface="+mn-cs"/>
              </a:rPr>
              <a:t> es la persona o rol (u otro sistema) que hace uso del sistema (</a:t>
            </a:r>
            <a:r>
              <a:rPr lang="es-ES" sz="1600" b="1" kern="1200">
                <a:solidFill>
                  <a:schemeClr val="accent2"/>
                </a:solidFill>
                <a:effectLst/>
                <a:latin typeface="+mn-lt"/>
                <a:ea typeface="+mn-ea"/>
                <a:cs typeface="+mn-cs"/>
              </a:rPr>
              <a:t>interactúa</a:t>
            </a:r>
            <a:r>
              <a:rPr lang="es-ES" sz="1600" kern="1200">
                <a:solidFill>
                  <a:schemeClr val="accent2"/>
                </a:solidFill>
                <a:effectLst/>
                <a:latin typeface="+mn-lt"/>
                <a:ea typeface="+mn-ea"/>
                <a:cs typeface="+mn-cs"/>
              </a:rPr>
              <a:t> con uno o varios </a:t>
            </a:r>
            <a:r>
              <a:rPr lang="es-ES" sz="1600" b="1" kern="1200">
                <a:solidFill>
                  <a:schemeClr val="accent2"/>
                </a:solidFill>
                <a:effectLst/>
                <a:latin typeface="+mn-lt"/>
                <a:ea typeface="+mn-ea"/>
                <a:cs typeface="+mn-cs"/>
              </a:rPr>
              <a:t>casos de uso</a:t>
            </a:r>
            <a:r>
              <a:rPr lang="es-ES" sz="1600" kern="1200">
                <a:solidFill>
                  <a:schemeClr val="accent2"/>
                </a:solidFill>
                <a:effectLst/>
                <a:latin typeface="+mn-lt"/>
                <a:ea typeface="+mn-ea"/>
                <a:cs typeface="+mn-cs"/>
              </a:rPr>
              <a:t>) Recibe un nombre que describe su ROL.</a:t>
            </a:r>
            <a:endParaRPr lang="es-ES">
              <a:solidFill>
                <a:schemeClr val="accent2"/>
              </a:solidFill>
              <a:effectLst/>
            </a:endParaRPr>
          </a:p>
          <a:p>
            <a:pPr lvl="1" rtl="0" eaLnBrk="1" latinLnBrk="0" hangingPunct="1"/>
            <a:r>
              <a:rPr lang="es-ES" sz="1600" b="1" kern="1200">
                <a:solidFill>
                  <a:srgbClr val="FF0000"/>
                </a:solidFill>
                <a:effectLst/>
              </a:rPr>
              <a:t>Asociación</a:t>
            </a:r>
            <a:r>
              <a:rPr lang="es-ES" b="1">
                <a:solidFill>
                  <a:srgbClr val="FF0000"/>
                </a:solidFill>
              </a:rPr>
              <a:t>:</a:t>
            </a:r>
            <a:r>
              <a:rPr lang="es-ES" sz="1600" kern="1200">
                <a:solidFill>
                  <a:srgbClr val="FF0000"/>
                </a:solidFill>
                <a:effectLst/>
              </a:rPr>
              <a:t> </a:t>
            </a:r>
            <a:r>
              <a:rPr lang="es-ES" sz="1600" kern="1200">
                <a:solidFill>
                  <a:schemeClr val="accent2"/>
                </a:solidFill>
                <a:effectLst/>
              </a:rPr>
              <a:t>entre un actor y un CU</a:t>
            </a:r>
          </a:p>
          <a:p>
            <a:pPr lvl="1"/>
            <a:r>
              <a:rPr lang="es-ES" b="1">
                <a:solidFill>
                  <a:srgbClr val="FF0000"/>
                </a:solidFill>
              </a:rPr>
              <a:t>Relaciones: </a:t>
            </a:r>
            <a:r>
              <a:rPr lang="es-ES">
                <a:solidFill>
                  <a:schemeClr val="accent2"/>
                </a:solidFill>
              </a:rPr>
              <a:t>inclusión, extensión, generalización</a:t>
            </a:r>
          </a:p>
          <a:p>
            <a:pPr lvl="1" rtl="0" eaLnBrk="1" latinLnBrk="0" hangingPunct="1"/>
            <a:r>
              <a:rPr lang="es-ES" sz="1600" i="1" kern="1200">
                <a:solidFill>
                  <a:schemeClr val="accent2"/>
                </a:solidFill>
                <a:effectLst/>
                <a:latin typeface="+mn-lt"/>
                <a:ea typeface="+mn-ea"/>
                <a:cs typeface="+mn-cs"/>
              </a:rPr>
              <a:t>Veamos algunos </a:t>
            </a:r>
            <a:r>
              <a:rPr lang="es-ES" sz="1600" b="1" i="1" kern="1200">
                <a:solidFill>
                  <a:schemeClr val="accent2"/>
                </a:solidFill>
                <a:effectLst/>
                <a:latin typeface="+mn-lt"/>
                <a:ea typeface="+mn-ea"/>
                <a:cs typeface="+mn-cs"/>
              </a:rPr>
              <a:t>ejemplos</a:t>
            </a:r>
            <a:endParaRPr lang="es-ES">
              <a:effectLst/>
            </a:endParaRPr>
          </a:p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2. Diagramas de casos de uso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FE9EFB4-0DD2-1D88-1D4D-BD06CB706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377" y="4883972"/>
            <a:ext cx="3200544" cy="163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5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E3EDE9-47E7-C19D-FF00-B097F008F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10</a:t>
            </a:fld>
            <a:endParaRPr lang="en-U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9EB5DA15-23A2-088A-88F8-DC02A6153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2. Diagramas de casos de uso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492ED534-B859-98B4-86DA-3751B8DE3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2.2</a:t>
            </a:r>
            <a:r>
              <a:rPr lang="es-ES" baseline="0"/>
              <a:t> EJEMPLOS</a:t>
            </a:r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209B35-E6AF-3DAC-39CC-B4CCE06C4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2" y="1994650"/>
            <a:ext cx="6477904" cy="33151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DE2E178-32DF-DFB6-6B77-51176B8397B9}"/>
              </a:ext>
            </a:extLst>
          </p:cNvPr>
          <p:cNvSpPr txBox="1"/>
          <p:nvPr/>
        </p:nvSpPr>
        <p:spPr>
          <a:xfrm>
            <a:off x="6535394" y="6166425"/>
            <a:ext cx="19722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>
                <a:solidFill>
                  <a:schemeClr val="accent5"/>
                </a:solidFill>
              </a:rPr>
              <a:t>Fuente: Luis del Moral Martínez</a:t>
            </a:r>
          </a:p>
        </p:txBody>
      </p:sp>
    </p:spTree>
    <p:extLst>
      <p:ext uri="{BB962C8B-B14F-4D97-AF65-F5344CB8AC3E}">
        <p14:creationId xmlns:p14="http://schemas.microsoft.com/office/powerpoint/2010/main" val="651048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0A9E21-B0A7-E0AD-7B0A-4F91D88E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11</a:t>
            </a:fld>
            <a:endParaRPr lang="en-U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9500357E-A123-B766-F8C5-9D5F789EDC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2. Diagramas de casos de uso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44CD7391-DECC-57AF-3FF9-56BF8E9BD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2.2 EJEMPLOS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1B8472-CEA8-A980-C915-DFD274658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38" y="1758978"/>
            <a:ext cx="6302798" cy="396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96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770602F-73E1-CC13-864E-6F711D16C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12</a:t>
            </a:fld>
            <a:endParaRPr lang="en-U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3C9056F-3CE1-BEBE-3E62-F8DB9CA438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2. Diagramas de casos de uso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D94A3D55-C879-DD6E-E159-7CBAEAA20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2.2 EJEMPLOS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EF8727F-67C4-7590-E470-94B2C91E788E}"/>
              </a:ext>
            </a:extLst>
          </p:cNvPr>
          <p:cNvSpPr txBox="1"/>
          <p:nvPr/>
        </p:nvSpPr>
        <p:spPr>
          <a:xfrm>
            <a:off x="1475656" y="2348881"/>
            <a:ext cx="6048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>
                <a:solidFill>
                  <a:schemeClr val="accent4"/>
                </a:solidFill>
              </a:rPr>
              <a:t>Pensemos otros ejemplos…</a:t>
            </a:r>
          </a:p>
        </p:txBody>
      </p:sp>
    </p:spTree>
    <p:extLst>
      <p:ext uri="{BB962C8B-B14F-4D97-AF65-F5344CB8AC3E}">
        <p14:creationId xmlns:p14="http://schemas.microsoft.com/office/powerpoint/2010/main" val="975738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53E7AE-2E0B-16CB-4C9E-317DE611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13</a:t>
            </a:fld>
            <a:endParaRPr lang="en-U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B6E21FBC-38DF-4A31-DE1F-D4BBA2537E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2. Diagramas de casos de uso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49221BB1-16EF-60D9-D954-0F3C4E485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>
                <a:solidFill>
                  <a:srgbClr val="FF0000"/>
                </a:solidFill>
              </a:rPr>
              <a:t>2.3</a:t>
            </a:r>
            <a:r>
              <a:rPr lang="es-ES" baseline="0">
                <a:solidFill>
                  <a:srgbClr val="FF0000"/>
                </a:solidFill>
              </a:rPr>
              <a:t> </a:t>
            </a:r>
            <a:r>
              <a:rPr lang="es-ES" b="1" baseline="0">
                <a:solidFill>
                  <a:srgbClr val="FF0000"/>
                </a:solidFill>
              </a:rPr>
              <a:t>ASOCIACIONES</a:t>
            </a:r>
            <a:endParaRPr lang="es-ES" b="1">
              <a:solidFill>
                <a:srgbClr val="FF0000"/>
              </a:solidFill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0CE55C7-917D-1145-24E4-FA7508BA7563}"/>
              </a:ext>
            </a:extLst>
          </p:cNvPr>
          <p:cNvSpPr txBox="1"/>
          <p:nvPr/>
        </p:nvSpPr>
        <p:spPr>
          <a:xfrm>
            <a:off x="334963" y="1387820"/>
            <a:ext cx="6813351" cy="265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2"/>
              </a:lnSpc>
            </a:pPr>
            <a:r>
              <a: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▪</a:t>
            </a:r>
            <a:r>
              <a:rPr spc="1429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Las</a:t>
            </a:r>
            <a:r>
              <a:rPr spc="17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asociaciones</a:t>
            </a:r>
            <a:r>
              <a: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conectan</a:t>
            </a:r>
            <a:r>
              <a:rPr spc="39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</a:t>
            </a:r>
            <a:r>
              <a:rPr spc="18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actor</a:t>
            </a:r>
            <a:r>
              <a:rPr b="1" spc="-1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</a:t>
            </a:r>
            <a:r>
              <a:rPr spc="1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los</a:t>
            </a:r>
            <a:r>
              <a:rPr spc="-16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b="1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casos</a:t>
            </a:r>
            <a:r>
              <a:rPr b="1" spc="-23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</a:t>
            </a:r>
            <a:r>
              <a:rPr b="1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uso</a:t>
            </a:r>
            <a:endParaRPr b="1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157F4AB-C14D-7573-5372-40B2E6A6237D}"/>
              </a:ext>
            </a:extLst>
          </p:cNvPr>
          <p:cNvSpPr txBox="1"/>
          <p:nvPr/>
        </p:nvSpPr>
        <p:spPr>
          <a:xfrm>
            <a:off x="334962" y="1930061"/>
            <a:ext cx="7775068" cy="265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▪</a:t>
            </a:r>
            <a:r>
              <a:rPr spc="1429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pc="-16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Una</a:t>
            </a:r>
            <a:r>
              <a:rPr spc="38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asociación</a:t>
            </a:r>
            <a:r>
              <a:rPr spc="-44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implica</a:t>
            </a:r>
            <a:r>
              <a:rPr spc="-4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</a:t>
            </a:r>
            <a:r>
              <a:rPr b="1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participación</a:t>
            </a:r>
            <a:r>
              <a:rPr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un</a:t>
            </a:r>
            <a:r>
              <a:rPr spc="1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actor</a:t>
            </a:r>
            <a:r>
              <a:rPr b="1" spc="-1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</a:t>
            </a:r>
            <a:r>
              <a:rPr spc="28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</a:t>
            </a:r>
            <a:r>
              <a:rPr spc="16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</a:t>
            </a:r>
            <a:endParaRPr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B8546C1-C656-435E-8681-42177A5E949C}"/>
              </a:ext>
            </a:extLst>
          </p:cNvPr>
          <p:cNvSpPr txBox="1"/>
          <p:nvPr/>
        </p:nvSpPr>
        <p:spPr>
          <a:xfrm>
            <a:off x="334962" y="2473289"/>
            <a:ext cx="7534366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▪</a:t>
            </a:r>
            <a:r>
              <a:rPr spc="1429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Las</a:t>
            </a:r>
            <a:r>
              <a:rPr spc="17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asociaciones</a:t>
            </a:r>
            <a:r>
              <a: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son</a:t>
            </a:r>
            <a:r>
              <a:rPr spc="23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b="1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obligatorias</a:t>
            </a:r>
            <a:r>
              <a:rPr b="1" spc="-12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porque</a:t>
            </a:r>
            <a:r>
              <a:rPr spc="25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representan</a:t>
            </a:r>
            <a:r>
              <a:rPr spc="52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pc="1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</a:t>
            </a:r>
            <a:r>
              <a:rPr spc="-16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b="1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interacción</a:t>
            </a:r>
            <a:r>
              <a:rPr b="1" spc="-16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del actor </a:t>
            </a:r>
            <a:r>
              <a:rPr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</a:t>
            </a:r>
            <a:r>
              <a:rPr spc="27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</a:t>
            </a:r>
            <a:r>
              <a:rPr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sistema</a:t>
            </a:r>
            <a:r>
              <a:rPr lang="es-ES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s-ES" sz="3200" b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</a:t>
            </a:r>
            <a:r>
              <a:rPr lang="es-ES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PUEDE EXISTIR CASO DE USO SIN ACTOR</a:t>
            </a:r>
            <a:endParaRPr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AB6DD32-ED2E-2401-F3D7-EE93FF326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86" y="3739197"/>
            <a:ext cx="6864317" cy="2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11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38D3920-D462-652D-BB44-FABE7025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14</a:t>
            </a:fld>
            <a:endParaRPr lang="en-U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08C6CE70-BD3D-0A9E-E194-1B0D261DC1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883920"/>
            <a:ext cx="6901084" cy="5710555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s-ES" sz="18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es-ES" sz="1800" b="1" i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Inclusión</a:t>
            </a:r>
            <a:r>
              <a:rPr lang="es-ES" sz="18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s-ES" sz="1800" b="1" kern="120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include</a:t>
            </a:r>
            <a:r>
              <a:rPr lang="es-ES" sz="18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s-ES" sz="1800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ES" sz="18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se incluye la funcionalidad de un caso de uso en otro</a:t>
            </a:r>
            <a:endParaRPr lang="es-ES" sz="1800">
              <a:effectLst/>
            </a:endParaRPr>
          </a:p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2. Diagramas de casos de uso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49384F-8B2B-9D3A-0E21-F86136824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2.3 </a:t>
            </a:r>
            <a:r>
              <a:rPr lang="es-ES" b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Relaciones </a:t>
            </a:r>
            <a:r>
              <a:rPr lang="es-ES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(solo si aportan valor – información)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567AB8D-BD8A-539B-9DB4-AEA886D00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084" y="1565927"/>
            <a:ext cx="5452792" cy="440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582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57B1B83-A11A-686C-D7C2-047934964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25" y="3905955"/>
            <a:ext cx="2541235" cy="1517040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38D3920-D462-652D-BB44-FABE7025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15</a:t>
            </a:fld>
            <a:endParaRPr lang="en-U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78A1302-5141-15B7-B0E9-C39ED28DEB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883920"/>
            <a:ext cx="7236178" cy="5710555"/>
          </a:xfrm>
        </p:spPr>
        <p:txBody>
          <a:bodyPr>
            <a:normAutofit/>
          </a:bodyPr>
          <a:lstStyle/>
          <a:p>
            <a:pPr marL="0" lvl="1" indent="0"/>
            <a:r>
              <a:rPr lang="es-ES" sz="1800" b="1">
                <a:solidFill>
                  <a:srgbClr val="FF0000"/>
                </a:solidFill>
              </a:rPr>
              <a:t>Inclusión (</a:t>
            </a:r>
            <a:r>
              <a:rPr lang="es-ES" sz="1800" b="1" err="1">
                <a:solidFill>
                  <a:srgbClr val="FF0000"/>
                </a:solidFill>
              </a:rPr>
              <a:t>include</a:t>
            </a:r>
            <a:r>
              <a:rPr lang="es-ES" sz="1800" b="1">
                <a:solidFill>
                  <a:srgbClr val="FF0000"/>
                </a:solidFill>
              </a:rPr>
              <a:t>): </a:t>
            </a:r>
            <a:r>
              <a:rPr lang="es-E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se incluye la funcionalidad de un caso de uso en otro</a:t>
            </a:r>
          </a:p>
          <a:p>
            <a:pPr marL="400050" lvl="2" indent="0"/>
            <a:r>
              <a:rPr lang="es-E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La relación de inclusión se utiliza cuando un caso de uso (llamado caso de uso base) incluye funcionalidades de otro caso de uso (llamado caso de uso incluido).</a:t>
            </a:r>
          </a:p>
          <a:p>
            <a:pPr marL="400050" lvl="2" indent="0"/>
            <a:r>
              <a:rPr lang="es-E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El caso de uso incluido se ejecuta </a:t>
            </a:r>
            <a:r>
              <a:rPr lang="es-ES" sz="1600">
                <a:solidFill>
                  <a:srgbClr val="FF0000"/>
                </a:solidFill>
              </a:rPr>
              <a:t>siempre y de manera obligatoria </a:t>
            </a:r>
            <a:r>
              <a:rPr lang="es-E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dentro del flujo del caso de uso base.</a:t>
            </a:r>
          </a:p>
          <a:p>
            <a:pPr marL="400050" lvl="2" indent="0"/>
            <a:r>
              <a:rPr lang="es-E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Se representa:</a:t>
            </a:r>
          </a:p>
          <a:p>
            <a:pPr marL="857250" lvl="3" indent="0"/>
            <a:r>
              <a:rPr lang="es-E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Mediante una flecha con una punta de flecha abierta desde el caso de uso base hacia el caso de uso incluido.</a:t>
            </a:r>
          </a:p>
          <a:p>
            <a:pPr marL="857250" lvl="3" indent="0"/>
            <a:r>
              <a:rPr lang="es-E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La línea debe ser punteada.</a:t>
            </a:r>
          </a:p>
          <a:p>
            <a:pPr marL="857250" lvl="3" indent="0"/>
            <a:r>
              <a:rPr lang="es-E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Se puede añadir la palabra </a:t>
            </a:r>
            <a:r>
              <a:rPr lang="es-ES" sz="140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include</a:t>
            </a:r>
            <a:r>
              <a:rPr lang="es-E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400050" lvl="2" indent="0"/>
            <a:r>
              <a:rPr lang="es-E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El caso de uso base invoca al caso de uso incluido para acceder a funcionalidades específicas, y la ejecución del caso de uso incluido es esencial para el correcto funcionamiento del caso de uso base en esos puntos específicos.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2. Diagramas de casos de uso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30E766-6E85-73F5-C7D7-2CF6EA866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>
                <a:solidFill>
                  <a:srgbClr val="FF0000"/>
                </a:solidFill>
              </a:rPr>
              <a:t>2.3 Relaciones</a:t>
            </a:r>
          </a:p>
        </p:txBody>
      </p:sp>
    </p:spTree>
    <p:extLst>
      <p:ext uri="{BB962C8B-B14F-4D97-AF65-F5344CB8AC3E}">
        <p14:creationId xmlns:p14="http://schemas.microsoft.com/office/powerpoint/2010/main" val="2601617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0B853822-8263-24BC-5E88-0FBB6F368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635" y="1267243"/>
            <a:ext cx="4124286" cy="325691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7CB38A-49F4-2C4A-2F51-E5ED94518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16</a:t>
            </a:fld>
            <a:endParaRPr lang="en-U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6ED22D3-014D-5F86-D3BA-280A5EC5FD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-68046" y="930219"/>
            <a:ext cx="8707438" cy="57105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b="1">
                <a:solidFill>
                  <a:srgbClr val="FF0000"/>
                </a:solidFill>
              </a:rPr>
              <a:t>2. Extensión (</a:t>
            </a:r>
            <a:r>
              <a:rPr lang="es-ES" b="1" err="1">
                <a:solidFill>
                  <a:srgbClr val="FF0000"/>
                </a:solidFill>
              </a:rPr>
              <a:t>extends</a:t>
            </a:r>
            <a:r>
              <a:rPr lang="es-ES" b="1">
                <a:solidFill>
                  <a:srgbClr val="FF0000"/>
                </a:solidFill>
              </a:rPr>
              <a:t>): </a:t>
            </a:r>
            <a:r>
              <a:rPr lang="es-ES" b="1"/>
              <a:t>ampliación opcional de un caso de uso</a:t>
            </a:r>
            <a:endParaRPr lang="es-ES" b="1">
              <a:solidFill>
                <a:srgbClr val="FF00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2. Diagramas de casos de uso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610FAE-CABF-DBC7-EA93-E8709B841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2.3 </a:t>
            </a:r>
            <a:r>
              <a:rPr lang="es-ES" b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Relaciones</a:t>
            </a:r>
            <a:r>
              <a:rPr lang="es-ES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(solo si aportan valor – información)</a:t>
            </a:r>
            <a:endParaRPr lang="es-E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4B9D012-7F62-9E7C-A269-EED7987C7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08" y="4656428"/>
            <a:ext cx="4829849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34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52181AB-A704-4F05-E6F3-77DB6EC4F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628" y="2767786"/>
            <a:ext cx="2486372" cy="1686160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38D3920-D462-652D-BB44-FABE7025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17</a:t>
            </a:fld>
            <a:endParaRPr lang="en-U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78A1302-5141-15B7-B0E9-C39ED28DEB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883920"/>
            <a:ext cx="6874934" cy="5710555"/>
          </a:xfrm>
        </p:spPr>
        <p:txBody>
          <a:bodyPr>
            <a:normAutofit/>
          </a:bodyPr>
          <a:lstStyle/>
          <a:p>
            <a:r>
              <a:rPr lang="es-ES" b="1" i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Extensión</a:t>
            </a:r>
            <a:r>
              <a:rPr lang="es-ES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s-ES" b="1" kern="120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extends</a:t>
            </a:r>
            <a:r>
              <a:rPr lang="es-ES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s-ES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s-ES" kern="120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variación de un caso de uso</a:t>
            </a:r>
          </a:p>
          <a:p>
            <a:pPr lvl="1"/>
            <a:r>
              <a:rPr lang="es-ES">
                <a:solidFill>
                  <a:schemeClr val="tx1">
                    <a:lumMod val="75000"/>
                    <a:lumOff val="25000"/>
                  </a:schemeClr>
                </a:solidFill>
              </a:rPr>
              <a:t>La relación de extensión se utiliza cuando un caso de uso (llamado caso de uso extendido) </a:t>
            </a:r>
            <a:r>
              <a:rPr lang="es-ES">
                <a:solidFill>
                  <a:srgbClr val="FF0000"/>
                </a:solidFill>
              </a:rPr>
              <a:t>puede</a:t>
            </a:r>
            <a:r>
              <a:rPr lang="es-ES">
                <a:solidFill>
                  <a:schemeClr val="tx1">
                    <a:lumMod val="75000"/>
                    <a:lumOff val="25000"/>
                  </a:schemeClr>
                </a:solidFill>
              </a:rPr>
              <a:t> ser extendido por otro caso de uso (llamado caso de uso de extensión).</a:t>
            </a:r>
          </a:p>
          <a:p>
            <a:pPr lvl="1"/>
            <a:r>
              <a:rPr lang="es-ES">
                <a:solidFill>
                  <a:schemeClr val="tx1">
                    <a:lumMod val="75000"/>
                    <a:lumOff val="25000"/>
                  </a:schemeClr>
                </a:solidFill>
              </a:rPr>
              <a:t>Se representa:</a:t>
            </a:r>
          </a:p>
          <a:p>
            <a:pPr lvl="2"/>
            <a:r>
              <a:rPr lang="es-ES">
                <a:solidFill>
                  <a:schemeClr val="tx1">
                    <a:lumMod val="75000"/>
                    <a:lumOff val="25000"/>
                  </a:schemeClr>
                </a:solidFill>
              </a:rPr>
              <a:t>Mediante una flecha con una punta de flecha abierta desde el caso de uso de extensión hacia el caso de uso extendido.</a:t>
            </a:r>
          </a:p>
          <a:p>
            <a:pPr marL="857250" lvl="3" indent="0"/>
            <a:r>
              <a:rPr lang="es-E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La línea debe ser punteada.</a:t>
            </a:r>
          </a:p>
          <a:p>
            <a:pPr marL="857250" lvl="3" indent="0"/>
            <a:r>
              <a:rPr lang="es-E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Se puede añadir la palabra </a:t>
            </a:r>
            <a:r>
              <a:rPr lang="es-ES" sz="140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extends</a:t>
            </a:r>
            <a:r>
              <a:rPr lang="es-E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lvl="1"/>
            <a:r>
              <a:rPr lang="es-ES">
                <a:solidFill>
                  <a:schemeClr val="tx1">
                    <a:lumMod val="75000"/>
                    <a:lumOff val="25000"/>
                  </a:schemeClr>
                </a:solidFill>
              </a:rPr>
              <a:t>El caso de uso de extensión no afecta el flujo principal del caso de uso extendido, pero puede agregar o modificar su comportamiento en ciertos puntos específicos (puntos de extensión).</a:t>
            </a:r>
          </a:p>
          <a:p>
            <a:pPr lvl="1"/>
            <a:r>
              <a:rPr lang="es-ES">
                <a:solidFill>
                  <a:schemeClr val="tx1">
                    <a:lumMod val="75000"/>
                    <a:lumOff val="25000"/>
                  </a:schemeClr>
                </a:solidFill>
              </a:rPr>
              <a:t>La relación de extensión es útil para modelar escenarios </a:t>
            </a:r>
            <a:r>
              <a:rPr lang="es-ES">
                <a:solidFill>
                  <a:srgbClr val="FF0000"/>
                </a:solidFill>
              </a:rPr>
              <a:t>opcionales</a:t>
            </a:r>
            <a:r>
              <a:rPr lang="es-ES">
                <a:solidFill>
                  <a:schemeClr val="tx1">
                    <a:lumMod val="75000"/>
                    <a:lumOff val="25000"/>
                  </a:schemeClr>
                </a:solidFill>
              </a:rPr>
              <a:t> o </a:t>
            </a:r>
            <a:r>
              <a:rPr lang="es-ES">
                <a:solidFill>
                  <a:srgbClr val="FF0000"/>
                </a:solidFill>
              </a:rPr>
              <a:t>variantes</a:t>
            </a:r>
            <a:r>
              <a:rPr lang="es-ES">
                <a:solidFill>
                  <a:schemeClr val="tx1">
                    <a:lumMod val="75000"/>
                    <a:lumOff val="25000"/>
                  </a:schemeClr>
                </a:solidFill>
              </a:rPr>
              <a:t> en el sistema sin afectar la ejecución principal del caso de uso extendido.</a:t>
            </a:r>
          </a:p>
          <a:p>
            <a:pPr marL="457200" lvl="1" indent="0">
              <a:buNone/>
            </a:pPr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2. Diagramas de casos de uso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2EB05F-3146-ABBB-BEE2-7AFD16066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30" y="408430"/>
            <a:ext cx="8571346" cy="337025"/>
          </a:xfrm>
        </p:spPr>
        <p:txBody>
          <a:bodyPr/>
          <a:lstStyle/>
          <a:p>
            <a:r>
              <a:rPr lang="es-ES" b="1">
                <a:solidFill>
                  <a:srgbClr val="FF0000"/>
                </a:solidFill>
              </a:rPr>
              <a:t>2.3 Relaciones</a:t>
            </a:r>
            <a:endParaRPr lang="es-ES" b="1" i="1">
              <a:solidFill>
                <a:srgbClr val="FF0000"/>
              </a:solidFill>
            </a:endParaRP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8552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38D3920-D462-652D-BB44-FABE7025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18</a:t>
            </a:fld>
            <a:endParaRPr lang="en-U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78A1302-5141-15B7-B0E9-C39ED28DEB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883920"/>
            <a:ext cx="6727463" cy="5710555"/>
          </a:xfrm>
        </p:spPr>
        <p:txBody>
          <a:bodyPr>
            <a:normAutofit/>
          </a:bodyPr>
          <a:lstStyle/>
          <a:p>
            <a:pPr lvl="0" algn="just"/>
            <a:r>
              <a:rPr lang="es-ES"/>
              <a:t>La relación de </a:t>
            </a:r>
            <a:r>
              <a:rPr lang="es-ES" b="1">
                <a:solidFill>
                  <a:srgbClr val="FF0000"/>
                </a:solidFill>
              </a:rPr>
              <a:t>inclusión</a:t>
            </a:r>
            <a:r>
              <a:rPr lang="es-ES"/>
              <a:t> se utiliza para representar el añadido de funcionalidades de un caso de uso en otro, mientras que la relación de </a:t>
            </a:r>
            <a:r>
              <a:rPr lang="es-ES" b="1">
                <a:solidFill>
                  <a:srgbClr val="FF0000"/>
                </a:solidFill>
              </a:rPr>
              <a:t>extensión</a:t>
            </a:r>
            <a:r>
              <a:rPr lang="es-ES"/>
              <a:t> se utiliza para modelar la variación o modificación (opcionales) de un caso de uso sin alterar su flujo principal.</a:t>
            </a:r>
          </a:p>
          <a:p>
            <a:pPr lvl="0" algn="just"/>
            <a:r>
              <a:rPr lang="es-ES"/>
              <a:t>Ambas relaciones ayudan a mejorar la </a:t>
            </a:r>
            <a:r>
              <a:rPr lang="es-ES" b="1"/>
              <a:t>modularidad</a:t>
            </a:r>
            <a:r>
              <a:rPr lang="es-ES"/>
              <a:t> y la </a:t>
            </a:r>
            <a:r>
              <a:rPr lang="es-ES" b="1">
                <a:solidFill>
                  <a:srgbClr val="FF0000"/>
                </a:solidFill>
              </a:rPr>
              <a:t>reutilización</a:t>
            </a:r>
            <a:r>
              <a:rPr lang="es-ES"/>
              <a:t> de funcionalidades en el diseño de sistemas.</a:t>
            </a:r>
          </a:p>
          <a:p>
            <a:pPr marL="457200" lvl="1" indent="0" algn="just">
              <a:buNone/>
            </a:pPr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2. Diagramas de casos de uso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ED47F6-7820-7D6D-D5C8-68835E37C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>
                <a:solidFill>
                  <a:srgbClr val="FF0000"/>
                </a:solidFill>
              </a:rPr>
              <a:t>2.3 Relaciones</a:t>
            </a:r>
            <a:endParaRPr lang="es-ES" b="1" i="1">
              <a:solidFill>
                <a:srgbClr val="FF0000"/>
              </a:solidFill>
            </a:endParaRPr>
          </a:p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8E81278-BED7-9E4C-CEE6-BF37D70F8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759" y="3889129"/>
            <a:ext cx="2486372" cy="16861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D1637EE-87C2-CBF3-F0A1-2C7501A5E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562" y="3973689"/>
            <a:ext cx="2541235" cy="151704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FEFDD60-0369-FE16-DCA5-DD5742E93073}"/>
              </a:ext>
            </a:extLst>
          </p:cNvPr>
          <p:cNvSpPr txBox="1"/>
          <p:nvPr/>
        </p:nvSpPr>
        <p:spPr>
          <a:xfrm>
            <a:off x="733778" y="3510844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Base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544683C-DC37-89CF-A249-F90C72AFC909}"/>
              </a:ext>
            </a:extLst>
          </p:cNvPr>
          <p:cNvSpPr txBox="1"/>
          <p:nvPr/>
        </p:nvSpPr>
        <p:spPr>
          <a:xfrm>
            <a:off x="3301436" y="5399576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Incluido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21895AC-6C22-7AAF-57CB-113D34F8999F}"/>
              </a:ext>
            </a:extLst>
          </p:cNvPr>
          <p:cNvSpPr txBox="1"/>
          <p:nvPr/>
        </p:nvSpPr>
        <p:spPr>
          <a:xfrm>
            <a:off x="6619195" y="5332970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De extensión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436B359-B943-BF1E-24BE-E6A7E037E775}"/>
              </a:ext>
            </a:extLst>
          </p:cNvPr>
          <p:cNvSpPr txBox="1"/>
          <p:nvPr/>
        </p:nvSpPr>
        <p:spPr>
          <a:xfrm>
            <a:off x="3950479" y="3789023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Extendido</a:t>
            </a:r>
          </a:p>
        </p:txBody>
      </p:sp>
    </p:spTree>
    <p:extLst>
      <p:ext uri="{BB962C8B-B14F-4D97-AF65-F5344CB8AC3E}">
        <p14:creationId xmlns:p14="http://schemas.microsoft.com/office/powerpoint/2010/main" val="1855636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7A8BAC9-3089-B8B2-A99E-232A17F5B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19</a:t>
            </a:fld>
            <a:endParaRPr lang="en-U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BE7A8A0-1175-8974-988B-802E7394F8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lnSpc>
                <a:spcPts val="1937"/>
              </a:lnSpc>
              <a:buNone/>
            </a:pPr>
            <a:r>
              <a:rPr lang="es-E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es-ES" b="1" spc="925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Generalización</a:t>
            </a:r>
            <a:r>
              <a:rPr lang="es-E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ES" spc="48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permite identificar</a:t>
            </a:r>
            <a:r>
              <a:rPr lang="es-ES" spc="28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CASOS DE USO</a:t>
            </a:r>
            <a:r>
              <a:rPr lang="es-ES" spc="26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comunes</a:t>
            </a:r>
            <a:r>
              <a:rPr lang="es-ES" spc="18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</a:t>
            </a:r>
            <a:r>
              <a:rPr lang="es-ES" spc="2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actores</a:t>
            </a:r>
          </a:p>
          <a:p>
            <a:pPr lvl="1">
              <a:lnSpc>
                <a:spcPts val="1937"/>
              </a:lnSpc>
            </a:pPr>
            <a:r>
              <a:rPr lang="es-E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encargado hace lo mismo que un empleado</a:t>
            </a:r>
          </a:p>
          <a:p>
            <a:pPr lvl="2">
              <a:lnSpc>
                <a:spcPts val="1937"/>
              </a:lnSpc>
            </a:pPr>
            <a:r>
              <a:rPr lang="es-E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 un empleado no hace lo que hace un encargado</a:t>
            </a:r>
          </a:p>
          <a:p>
            <a:pPr lvl="1">
              <a:lnSpc>
                <a:spcPts val="1937"/>
              </a:lnSpc>
            </a:pPr>
            <a:r>
              <a:rPr lang="es-E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cliente </a:t>
            </a:r>
            <a:r>
              <a:rPr lang="es-ES" b="1" i="1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Logeado</a:t>
            </a:r>
            <a:r>
              <a:rPr lang="es-E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hace lo mismo que un cliente</a:t>
            </a:r>
          </a:p>
          <a:p>
            <a:pPr lvl="1">
              <a:lnSpc>
                <a:spcPts val="1937"/>
              </a:lnSpc>
            </a:pPr>
            <a:r>
              <a:rPr lang="es-E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flecha que indica herencia tiene la punta vacía </a:t>
            </a:r>
          </a:p>
          <a:p>
            <a:endParaRPr lang="es-ES" b="1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2. Diagramas de casos de uso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330B87-DFE6-4740-3D2D-B92042D87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 Relaciones</a:t>
            </a:r>
            <a:endParaRPr lang="es-ES">
              <a:solidFill>
                <a:srgbClr val="FF0000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8863F1F-3177-2568-38C3-0763795AED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511"/>
          <a:stretch/>
        </p:blipFill>
        <p:spPr>
          <a:xfrm>
            <a:off x="1357852" y="2805728"/>
            <a:ext cx="1080119" cy="316835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4320064-630A-046D-1BF4-D0DF95877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851" y="3337070"/>
            <a:ext cx="3412180" cy="260731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01E57FF-8D44-59D4-B909-3B5D5855F8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" t="41786" r="88025" b="39134"/>
          <a:stretch/>
        </p:blipFill>
        <p:spPr>
          <a:xfrm rot="5400000">
            <a:off x="5472652" y="2217167"/>
            <a:ext cx="684308" cy="60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44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C2FDDD5-C9AA-638A-14F3-FBEF2774A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186" y="1090601"/>
            <a:ext cx="6136635" cy="524873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7A8BAC9-3089-B8B2-A99E-232A17F5B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20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9C4AD9-683A-217C-72C6-395434BD65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NO se</a:t>
            </a:r>
            <a:r>
              <a:rPr lang="es-ES" baseline="0"/>
              <a:t> deben utilizar inclusiones para detallar los pasos de un caso de uso</a:t>
            </a:r>
          </a:p>
          <a:p>
            <a:r>
              <a:rPr lang="es-ES"/>
              <a:t>NO se debe llamar USUARIO a un actor</a:t>
            </a:r>
          </a:p>
          <a:p>
            <a:r>
              <a:rPr lang="es-ES"/>
              <a:t>NO olvidar el recuadro y el nombre del sistema</a:t>
            </a:r>
          </a:p>
          <a:p>
            <a:r>
              <a:rPr lang="es-ES"/>
              <a:t>NO poner punta de flecha en asociaciones</a:t>
            </a:r>
          </a:p>
          <a:p>
            <a:r>
              <a:rPr lang="es-ES"/>
              <a:t>Relaciones con segmento discontinuo</a:t>
            </a:r>
          </a:p>
          <a:p>
            <a:pPr lvl="1"/>
            <a:r>
              <a:rPr lang="es-ES"/>
              <a:t>La punta de flecha de la herencia</a:t>
            </a:r>
          </a:p>
          <a:p>
            <a:pPr marL="457200" lvl="1" indent="0">
              <a:buNone/>
            </a:pPr>
            <a:r>
              <a:rPr lang="es-ES"/>
              <a:t>    debe estar vacía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2. Diagramas de casos de uso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006EB5F-A218-33DB-A824-097CB3C330B2}"/>
              </a:ext>
            </a:extLst>
          </p:cNvPr>
          <p:cNvSpPr txBox="1"/>
          <p:nvPr/>
        </p:nvSpPr>
        <p:spPr>
          <a:xfrm>
            <a:off x="3967480" y="2243919"/>
            <a:ext cx="373686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0">
                <a:solidFill>
                  <a:srgbClr val="FF0000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986423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636E657-EAB7-E19E-B348-18CFA066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21</a:t>
            </a:fld>
            <a:endParaRPr lang="en-U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6AF26118-0494-EB9E-7176-C80456E368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772" y="1559585"/>
            <a:ext cx="8707438" cy="57105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800100" lvl="1" indent="-342900" rtl="0" eaLnBrk="1" latinLnBrk="0" hangingPunct="1">
              <a:buFont typeface="+mj-lt"/>
              <a:buAutoNum type="arabicPeriod"/>
            </a:pPr>
            <a:r>
              <a:rPr lang="es-ES" sz="1600" kern="1200">
                <a:solidFill>
                  <a:schemeClr val="tx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Identificar los </a:t>
            </a:r>
            <a:r>
              <a:rPr lang="es-ES" sz="16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límites</a:t>
            </a:r>
            <a:r>
              <a:rPr lang="es-ES" sz="1600" kern="1200">
                <a:solidFill>
                  <a:schemeClr val="tx2">
                    <a:lumMod val="75000"/>
                  </a:schemeClr>
                </a:solidFill>
                <a:effectLst/>
              </a:rPr>
              <a:t> del sistema: nombre del sistema</a:t>
            </a:r>
            <a:endParaRPr lang="es-ES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800100" lvl="1" indent="-342900" rtl="0" eaLnBrk="1" latinLnBrk="0" hangingPunct="1">
              <a:buFont typeface="+mj-lt"/>
              <a:buAutoNum type="arabicPeriod"/>
            </a:pPr>
            <a:r>
              <a:rPr lang="es-ES" sz="1600" kern="1200">
                <a:solidFill>
                  <a:schemeClr val="tx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Identificar los </a:t>
            </a:r>
            <a:r>
              <a:rPr lang="es-ES" sz="16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actores</a:t>
            </a:r>
            <a:r>
              <a:rPr lang="es-ES" sz="1600" kern="1200">
                <a:solidFill>
                  <a:schemeClr val="tx2">
                    <a:lumMod val="75000"/>
                  </a:schemeClr>
                </a:solidFill>
                <a:effectLst/>
              </a:rPr>
              <a:t> principales</a:t>
            </a:r>
            <a:endParaRPr lang="es-ES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800100" lvl="1" indent="-342900" rtl="0" eaLnBrk="1" latinLnBrk="0" hangingPunct="1">
              <a:buFont typeface="+mj-lt"/>
              <a:buAutoNum type="arabicPeriod"/>
            </a:pPr>
            <a:r>
              <a:rPr lang="es-ES" sz="1600" kern="1200">
                <a:solidFill>
                  <a:schemeClr val="tx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Definir los </a:t>
            </a:r>
            <a:r>
              <a:rPr lang="es-ES" sz="16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casos</a:t>
            </a:r>
            <a:r>
              <a:rPr lang="es-ES" sz="1600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6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de</a:t>
            </a:r>
            <a:r>
              <a:rPr lang="es-ES" sz="1600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600" b="1" kern="120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uso</a:t>
            </a:r>
            <a:r>
              <a:rPr lang="es-ES" sz="1600" kern="1200">
                <a:solidFill>
                  <a:schemeClr val="tx2">
                    <a:lumMod val="75000"/>
                  </a:schemeClr>
                </a:solidFill>
                <a:effectLst/>
              </a:rPr>
              <a:t> que satisfacen los objetivos</a:t>
            </a:r>
            <a:endParaRPr lang="es-ES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800100" lvl="1" indent="-342900" rtl="0" eaLnBrk="1" latinLnBrk="0" hangingPunct="1">
              <a:buFont typeface="+mj-lt"/>
              <a:buAutoNum type="arabicPeriod"/>
            </a:pPr>
            <a:r>
              <a:rPr lang="es-ES" sz="1600" b="1" kern="1200">
                <a:solidFill>
                  <a:schemeClr val="tx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Asociar</a:t>
            </a:r>
            <a:r>
              <a:rPr lang="es-ES" sz="1600" kern="1200">
                <a:solidFill>
                  <a:schemeClr val="tx2">
                    <a:lumMod val="75000"/>
                  </a:schemeClr>
                </a:solidFill>
                <a:effectLst/>
              </a:rPr>
              <a:t> actores y casos de uso</a:t>
            </a:r>
            <a:endParaRPr lang="es-ES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800100" lvl="1" indent="-342900" rtl="0" eaLnBrk="1" latinLnBrk="0" hangingPunct="1">
              <a:buFont typeface="+mj-lt"/>
              <a:buAutoNum type="arabicPeriod"/>
            </a:pPr>
            <a:r>
              <a:rPr lang="es-ES" sz="1600" kern="1200">
                <a:solidFill>
                  <a:srgbClr val="FF0000"/>
                </a:solidFill>
                <a:effectLst/>
              </a:rPr>
              <a:t>Opcionalmente</a:t>
            </a:r>
            <a:r>
              <a:rPr lang="es-ES" sz="1600" kern="1200">
                <a:solidFill>
                  <a:schemeClr val="tx2">
                    <a:lumMod val="75000"/>
                  </a:schemeClr>
                </a:solidFill>
                <a:effectLst/>
              </a:rPr>
              <a:t> </a:t>
            </a:r>
            <a:r>
              <a:rPr lang="es-ES" sz="1600" kern="1200">
                <a:solidFill>
                  <a:schemeClr val="tx2">
                    <a:lumMod val="75000"/>
                  </a:schemeClr>
                </a:solidFill>
                <a:effectLst/>
                <a:sym typeface="Wingdings" panose="05000000000000000000" pitchFamily="2" charset="2"/>
              </a:rPr>
              <a:t></a:t>
            </a:r>
            <a:r>
              <a:rPr lang="es-ES" sz="1600" kern="1200">
                <a:solidFill>
                  <a:schemeClr val="tx2">
                    <a:lumMod val="75000"/>
                  </a:schemeClr>
                </a:solidFill>
                <a:effectLst/>
              </a:rPr>
              <a:t> Definir otras relaciones: inclusión, extensión, generalización</a:t>
            </a:r>
          </a:p>
          <a:p>
            <a:pPr marL="800100" lvl="1" indent="-342900" rtl="0" eaLnBrk="1" latinLnBrk="0" hangingPunct="1">
              <a:buFont typeface="+mj-lt"/>
              <a:buAutoNum type="arabicPeriod"/>
            </a:pPr>
            <a:endParaRPr lang="es-ES">
              <a:solidFill>
                <a:schemeClr val="tx2">
                  <a:lumMod val="75000"/>
                </a:schemeClr>
              </a:solidFill>
              <a:effectLst/>
            </a:endParaRPr>
          </a:p>
          <a:p>
            <a:pPr marL="0" indent="0">
              <a:buNone/>
            </a:pPr>
            <a:r>
              <a:rPr lang="es-ES">
                <a:solidFill>
                  <a:srgbClr val="0070C0"/>
                </a:solidFill>
                <a:latin typeface="Tahoma"/>
                <a:ea typeface="Tahoma"/>
                <a:cs typeface="Tahoma"/>
              </a:rPr>
              <a:t> </a:t>
            </a:r>
            <a:r>
              <a:rPr lang="es-ES" sz="1600">
                <a:solidFill>
                  <a:srgbClr val="0070C0"/>
                </a:solidFill>
                <a:latin typeface="Tahoma"/>
                <a:ea typeface="Tahoma"/>
                <a:cs typeface="Tahoma"/>
              </a:rPr>
              <a:t>HERRAMIENTA: Web </a:t>
            </a:r>
            <a:r>
              <a:rPr lang="es-ES" sz="1600">
                <a:solidFill>
                  <a:srgbClr val="0070C0"/>
                </a:solidFill>
                <a:latin typeface="Tahoma"/>
                <a:ea typeface="Tahoma"/>
                <a:cs typeface="Tahoma"/>
                <a:hlinkClick r:id="rId2"/>
              </a:rPr>
              <a:t>Draw.io </a:t>
            </a:r>
            <a:endParaRPr lang="es-ES" sz="1600">
              <a:solidFill>
                <a:srgbClr val="0070C0"/>
              </a:solidFill>
              <a:effectLst/>
              <a:latin typeface="Tahoma"/>
              <a:ea typeface="Tahoma"/>
              <a:cs typeface="Tahoma"/>
            </a:endParaRPr>
          </a:p>
          <a:p>
            <a:pPr marL="0" indent="0">
              <a:buNone/>
            </a:pPr>
            <a:endParaRPr lang="es-ES" sz="1600">
              <a:solidFill>
                <a:srgbClr val="0070C0"/>
              </a:solidFill>
              <a:latin typeface="Tahoma"/>
              <a:ea typeface="Tahoma"/>
              <a:cs typeface="Tahoma"/>
            </a:endParaRPr>
          </a:p>
          <a:p>
            <a:pPr marL="0" indent="0">
              <a:buNone/>
            </a:pPr>
            <a:endParaRPr lang="es-ES" sz="1600">
              <a:solidFill>
                <a:srgbClr val="0070C0"/>
              </a:solidFill>
              <a:latin typeface="Tahoma"/>
              <a:ea typeface="Tahoma"/>
              <a:cs typeface="Tahoma"/>
            </a:endParaRPr>
          </a:p>
          <a:p>
            <a:pPr lvl="2">
              <a:buFont typeface="Wingdings" charset="2"/>
              <a:buChar char="§"/>
            </a:pPr>
            <a:r>
              <a:rPr lang="es-ES">
                <a:solidFill>
                  <a:srgbClr val="FF0000"/>
                </a:solidFill>
                <a:latin typeface="Tahoma"/>
                <a:ea typeface="Tahoma"/>
                <a:cs typeface="Tahoma"/>
              </a:rPr>
              <a:t>HERRAMIENTA: PROBEMOS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2. ED6b0301#</a:t>
            </a:r>
            <a:br>
              <a:rPr lang="es-ES"/>
            </a:br>
            <a:br>
              <a:rPr lang="es-ES"/>
            </a:br>
            <a:r>
              <a:rPr lang="es-ES"/>
              <a:t>Diagramas de casos de uso: practica el uso de la herramienta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075051-CFEA-750E-7BF4-B90054C05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ct val="0"/>
              </a:spcBef>
            </a:pPr>
            <a:r>
              <a:rPr lang="es-ES" sz="2000"/>
              <a:t>2.4 Pasos para elaborar diagramas de casos de uso</a:t>
            </a:r>
          </a:p>
        </p:txBody>
      </p:sp>
    </p:spTree>
    <p:extLst>
      <p:ext uri="{BB962C8B-B14F-4D97-AF65-F5344CB8AC3E}">
        <p14:creationId xmlns:p14="http://schemas.microsoft.com/office/powerpoint/2010/main" val="1679762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35E727-F4D5-A19D-8C60-213BE223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22</a:t>
            </a:fld>
            <a:endParaRPr lang="en-U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FF36272-D83C-A59F-FF6A-AB1445BD57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Se desea desarrollar un sistema de encuentros virtuales (parecido a un chat).</a:t>
            </a:r>
          </a:p>
          <a:p>
            <a:pPr lvl="1"/>
            <a:r>
              <a:rPr lang="es-ES"/>
              <a:t>Cuando se conecta al servidor, un usuario puede entrar o salir de un encuentro.</a:t>
            </a:r>
          </a:p>
          <a:p>
            <a:pPr lvl="1"/>
            <a:r>
              <a:rPr lang="es-ES"/>
              <a:t>Cada encuentro tiene un mánager.</a:t>
            </a:r>
          </a:p>
          <a:p>
            <a:pPr lvl="1"/>
            <a:r>
              <a:rPr lang="es-ES"/>
              <a:t>El mánager es un usuario que ha planificado el encuentro (el nombre del encuentro, la agenda del encuentro y el moderador del encuentro).</a:t>
            </a:r>
          </a:p>
          <a:p>
            <a:pPr lvl="1"/>
            <a:r>
              <a:rPr lang="es-ES"/>
              <a:t>Cada encuentro puede tener también un moderador que es un usuario designado por el mánager.</a:t>
            </a:r>
          </a:p>
          <a:p>
            <a:pPr lvl="1"/>
            <a:r>
              <a:rPr lang="es-ES"/>
              <a:t>La misión del moderador es asignar los turnos de palabra para que los usuarios hablen.</a:t>
            </a:r>
          </a:p>
          <a:p>
            <a:pPr lvl="1"/>
            <a:r>
              <a:rPr lang="es-ES"/>
              <a:t>El moderador también podrá dar por concluido el encuentro en cualquier momento.</a:t>
            </a:r>
          </a:p>
          <a:p>
            <a:pPr lvl="1"/>
            <a:r>
              <a:rPr lang="es-ES"/>
              <a:t>En cualquier momento un usuario puede consultar el estado del sistema, por ejemplo, los encuentros planeados y su información.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2. Diagramas de casos de uso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B435BC46-6652-12D4-79A4-CAC3B9C13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tabLst/>
              <a:defRPr/>
            </a:pPr>
            <a:r>
              <a:rPr lang="es-ES" sz="1800" kern="1200"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rPr>
              <a:t>2.5 Actividad ejemplo 1 (la hacemos juntos)</a:t>
            </a:r>
            <a:endParaRPr lang="es-ES">
              <a:effectLst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67C812D-06F7-5362-DEA9-22326FB39A8F}"/>
              </a:ext>
            </a:extLst>
          </p:cNvPr>
          <p:cNvSpPr txBox="1"/>
          <p:nvPr/>
        </p:nvSpPr>
        <p:spPr>
          <a:xfrm>
            <a:off x="633079" y="5432649"/>
            <a:ext cx="3096344" cy="10828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8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Identificar los </a:t>
            </a:r>
            <a:r>
              <a:rPr lang="es-ES" sz="8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límites</a:t>
            </a:r>
            <a:r>
              <a:rPr lang="es-ES" sz="8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del sistema: nombre</a:t>
            </a:r>
          </a:p>
          <a:p>
            <a:pPr>
              <a:lnSpc>
                <a:spcPct val="150000"/>
              </a:lnSpc>
            </a:pPr>
            <a:r>
              <a:rPr lang="es-ES" sz="8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Identificar los </a:t>
            </a:r>
            <a:r>
              <a:rPr lang="es-ES" sz="8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actores</a:t>
            </a:r>
            <a:r>
              <a:rPr lang="es-ES" sz="8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principales</a:t>
            </a:r>
          </a:p>
          <a:p>
            <a:pPr>
              <a:lnSpc>
                <a:spcPct val="150000"/>
              </a:lnSpc>
            </a:pPr>
            <a:r>
              <a:rPr lang="es-ES" sz="8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Definir los </a:t>
            </a:r>
            <a:r>
              <a:rPr lang="es-ES" sz="8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casos</a:t>
            </a:r>
            <a:r>
              <a:rPr lang="es-ES" sz="8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8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</a:t>
            </a:r>
            <a:r>
              <a:rPr lang="es-ES" sz="8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ES" sz="8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uso</a:t>
            </a:r>
          </a:p>
          <a:p>
            <a:pPr>
              <a:lnSpc>
                <a:spcPct val="150000"/>
              </a:lnSpc>
            </a:pPr>
            <a:r>
              <a:rPr lang="es-ES" sz="8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Asociar</a:t>
            </a:r>
            <a:r>
              <a:rPr lang="es-ES" sz="8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actores y casos de uso</a:t>
            </a:r>
          </a:p>
          <a:p>
            <a:pPr>
              <a:lnSpc>
                <a:spcPct val="150000"/>
              </a:lnSpc>
            </a:pPr>
            <a:r>
              <a:rPr lang="es-ES" sz="8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Definir otras relaciones: inclusión, extensión,</a:t>
            </a:r>
          </a:p>
          <a:p>
            <a:pPr>
              <a:lnSpc>
                <a:spcPct val="150000"/>
              </a:lnSpc>
            </a:pPr>
            <a:r>
              <a:rPr lang="es-ES" sz="8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generalización</a:t>
            </a:r>
            <a:endParaRPr sz="80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836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E9FE3B-5C8B-AA84-AE7E-ABCC52476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23</a:t>
            </a:fld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2. Diagramas de casos de uso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40171F07-942D-15B7-B7D3-08FE1A0F6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2.5 Actividad</a:t>
            </a:r>
            <a:r>
              <a:rPr lang="es-ES" baseline="0"/>
              <a:t> ejemplo 1</a:t>
            </a:r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351AA54-C070-2364-7026-39D30F542985}"/>
              </a:ext>
            </a:extLst>
          </p:cNvPr>
          <p:cNvSpPr txBox="1"/>
          <p:nvPr/>
        </p:nvSpPr>
        <p:spPr>
          <a:xfrm>
            <a:off x="3095836" y="1947325"/>
            <a:ext cx="43924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/>
              <a:t>Encuentros virtuales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00FA467F-F4F0-B752-322C-F4FC765D5DAF}"/>
              </a:ext>
            </a:extLst>
          </p:cNvPr>
          <p:cNvGrpSpPr/>
          <p:nvPr/>
        </p:nvGrpSpPr>
        <p:grpSpPr>
          <a:xfrm>
            <a:off x="464328" y="1091783"/>
            <a:ext cx="6555944" cy="4674432"/>
            <a:chOff x="464328" y="1091783"/>
            <a:chExt cx="6555944" cy="4674432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9736EB66-67C9-3ABD-1899-A00947628D02}"/>
                </a:ext>
              </a:extLst>
            </p:cNvPr>
            <p:cNvGrpSpPr/>
            <p:nvPr/>
          </p:nvGrpSpPr>
          <p:grpSpPr>
            <a:xfrm>
              <a:off x="464328" y="1091783"/>
              <a:ext cx="6555944" cy="4674432"/>
              <a:chOff x="464328" y="1091783"/>
              <a:chExt cx="6555944" cy="4674432"/>
            </a:xfrm>
          </p:grpSpPr>
          <p:pic>
            <p:nvPicPr>
              <p:cNvPr id="6" name="Imagen 5">
                <a:extLst>
                  <a:ext uri="{FF2B5EF4-FFF2-40B4-BE49-F238E27FC236}">
                    <a16:creationId xmlns:a16="http://schemas.microsoft.com/office/drawing/2014/main" id="{C759AECF-B51D-8B74-F839-3C73A74642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328" y="1127065"/>
                <a:ext cx="6180071" cy="4603869"/>
              </a:xfrm>
              <a:prstGeom prst="rect">
                <a:avLst/>
              </a:prstGeom>
            </p:spPr>
          </p:pic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9D7F8DD2-53D0-E471-49A2-FEFAD7869CA2}"/>
                  </a:ext>
                </a:extLst>
              </p:cNvPr>
              <p:cNvSpPr/>
              <p:nvPr/>
            </p:nvSpPr>
            <p:spPr>
              <a:xfrm>
                <a:off x="3095836" y="1091783"/>
                <a:ext cx="3924436" cy="46744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ED3440F2-CDED-ED44-B2D4-AF31382E9A7F}"/>
                </a:ext>
              </a:extLst>
            </p:cNvPr>
            <p:cNvCxnSpPr>
              <a:cxnSpLocks/>
            </p:cNvCxnSpPr>
            <p:nvPr/>
          </p:nvCxnSpPr>
          <p:spPr>
            <a:xfrm>
              <a:off x="1230489" y="2193546"/>
              <a:ext cx="857955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0B05A6E-A0D4-472C-98A2-494A35441E67}"/>
              </a:ext>
            </a:extLst>
          </p:cNvPr>
          <p:cNvSpPr txBox="1"/>
          <p:nvPr/>
        </p:nvSpPr>
        <p:spPr>
          <a:xfrm>
            <a:off x="865683" y="1161724"/>
            <a:ext cx="204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Interlocutor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4AF8F94-C012-9746-80BC-5687F3F16C0B}"/>
              </a:ext>
            </a:extLst>
          </p:cNvPr>
          <p:cNvSpPr txBox="1"/>
          <p:nvPr/>
        </p:nvSpPr>
        <p:spPr>
          <a:xfrm>
            <a:off x="278951" y="2067190"/>
            <a:ext cx="838764" cy="553998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000"/>
              <a:t>Mejorar el nombre del rol</a:t>
            </a:r>
          </a:p>
        </p:txBody>
      </p:sp>
    </p:spTree>
    <p:extLst>
      <p:ext uri="{BB962C8B-B14F-4D97-AF65-F5344CB8AC3E}">
        <p14:creationId xmlns:p14="http://schemas.microsoft.com/office/powerpoint/2010/main" val="18148599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62F435-AE30-638F-34AA-259CC540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24</a:t>
            </a:fld>
            <a:endParaRPr lang="en-U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C7B178E-2C9A-972F-0B79-CFDCB954ED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rtl="0" eaLnBrk="1" latinLnBrk="0" hangingPunct="1"/>
            <a:r>
              <a:rPr lang="es-ES" sz="18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Veamos el caso de una </a:t>
            </a:r>
            <a:r>
              <a:rPr lang="es-ES" sz="1800" b="1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Máquina de reciclaje</a:t>
            </a:r>
            <a:r>
              <a:rPr lang="es-ES" sz="18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: sistema que controla una máquina de recogida para reciclaje de botellas o tarros.</a:t>
            </a:r>
            <a:endParaRPr lang="es-ES">
              <a:effectLst/>
            </a:endParaRPr>
          </a:p>
          <a:p>
            <a:pPr rtl="0" eaLnBrk="1" latinLnBrk="0" hangingPunct="1"/>
            <a:r>
              <a:rPr lang="es-ES" sz="18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El sistema debe controlar y/o aceptar:</a:t>
            </a:r>
            <a:endParaRPr lang="es-ES">
              <a:effectLst/>
            </a:endParaRPr>
          </a:p>
          <a:p>
            <a:pPr lvl="1" rtl="0" eaLnBrk="1" latinLnBrk="0" hangingPunct="1"/>
            <a:r>
              <a:rPr lang="es-ES" sz="16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• Registrar los ítems ingresados.</a:t>
            </a:r>
            <a:endParaRPr lang="es-ES">
              <a:effectLst/>
            </a:endParaRPr>
          </a:p>
          <a:p>
            <a:pPr lvl="1" rtl="0" eaLnBrk="1" latinLnBrk="0" hangingPunct="1"/>
            <a:r>
              <a:rPr lang="es-ES" sz="16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• Imprimir un recibo describiendo los ítems depositados por los usuarios.</a:t>
            </a:r>
            <a:endParaRPr lang="es-ES">
              <a:effectLst/>
            </a:endParaRPr>
          </a:p>
          <a:p>
            <a:pPr lvl="1"/>
            <a:r>
              <a:rPr lang="es-ES" sz="16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• El operador desea </a:t>
            </a:r>
            <a:r>
              <a:rPr lang="es-ES">
                <a:solidFill>
                  <a:schemeClr val="tx1">
                    <a:lumMod val="75000"/>
                    <a:lumOff val="25000"/>
                  </a:schemeClr>
                </a:solidFill>
              </a:rPr>
              <a:t>obtener al</a:t>
            </a:r>
            <a:r>
              <a:rPr lang="es-ES" sz="16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 final de cada día, un resumen de todo lo depositado en el día. Para ello imprimirá un resumen.</a:t>
            </a:r>
            <a:endParaRPr lang="es-ES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1" rtl="0" eaLnBrk="1" latinLnBrk="0" hangingPunct="1"/>
            <a:r>
              <a:rPr lang="es-ES" sz="16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• El operador debe poder cambiar la información asociada a ítems.</a:t>
            </a:r>
            <a:endParaRPr lang="es-ES">
              <a:effectLst/>
            </a:endParaRPr>
          </a:p>
          <a:p>
            <a:pPr lvl="1" rtl="0" eaLnBrk="1" latinLnBrk="0" hangingPunct="1"/>
            <a:r>
              <a:rPr lang="es-ES" sz="16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• En el sistema se activará una alarma cuando:</a:t>
            </a:r>
            <a:endParaRPr lang="es-ES">
              <a:effectLst/>
            </a:endParaRPr>
          </a:p>
          <a:p>
            <a:pPr lvl="2" rtl="0" eaLnBrk="1" latinLnBrk="0" hangingPunct="1"/>
            <a:r>
              <a:rPr lang="es-ES" sz="14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a. Un </a:t>
            </a:r>
            <a:r>
              <a:rPr lang="es-ES" sz="1400" kern="120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Item</a:t>
            </a:r>
            <a:r>
              <a:rPr lang="es-ES" sz="14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 se atasca.</a:t>
            </a:r>
            <a:endParaRPr lang="es-ES">
              <a:effectLst/>
            </a:endParaRPr>
          </a:p>
          <a:p>
            <a:pPr lvl="2" rtl="0" eaLnBrk="1" latinLnBrk="0" hangingPunct="1"/>
            <a:r>
              <a:rPr lang="es-ES" sz="14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b. No hay más papel en la impresora.</a:t>
            </a:r>
            <a:endParaRPr lang="es-ES">
              <a:effectLst/>
            </a:endParaRPr>
          </a:p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2. Diagramas de casos de uso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3DA41EA4-A8E2-2978-49A5-BDB95F162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2.6 Actividad ejemplo 2</a:t>
            </a:r>
          </a:p>
        </p:txBody>
      </p:sp>
    </p:spTree>
    <p:extLst>
      <p:ext uri="{BB962C8B-B14F-4D97-AF65-F5344CB8AC3E}">
        <p14:creationId xmlns:p14="http://schemas.microsoft.com/office/powerpoint/2010/main" val="2242644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D768D4-F12F-6D1D-DCBA-958F6704B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25</a:t>
            </a:fld>
            <a:endParaRPr lang="en-US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9D4D4078-6202-2235-AFE5-4326CF3411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2.6 Actividad</a:t>
            </a:r>
            <a:r>
              <a:rPr lang="es-ES" baseline="0"/>
              <a:t> ejemplo 2</a:t>
            </a:r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2. Diagramas de casos de uso ED6b0301# : todos los ejemplos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B0949EA-A9E5-4B21-8045-7CC4F691D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94" y="883920"/>
            <a:ext cx="7198159" cy="54590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8D7B9B6-425E-3377-41A4-67288BA48F5C}"/>
              </a:ext>
            </a:extLst>
          </p:cNvPr>
          <p:cNvSpPr txBox="1"/>
          <p:nvPr/>
        </p:nvSpPr>
        <p:spPr>
          <a:xfrm>
            <a:off x="431351" y="3428630"/>
            <a:ext cx="838764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000"/>
              <a:t>Ciudadano</a:t>
            </a:r>
          </a:p>
        </p:txBody>
      </p:sp>
    </p:spTree>
    <p:extLst>
      <p:ext uri="{BB962C8B-B14F-4D97-AF65-F5344CB8AC3E}">
        <p14:creationId xmlns:p14="http://schemas.microsoft.com/office/powerpoint/2010/main" val="18137234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CA9EB1-A6E1-D6F2-6071-F4E0467E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26</a:t>
            </a:fld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FE67E0-99EF-A18A-4582-38C894151E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es-ES">
              <a:solidFill>
                <a:schemeClr val="tx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71ABBE-395E-2F43-1B21-4AEA1C4C3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3.   Documentación de casos de uso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3DF99D1-8A03-A11A-8552-A90F040E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>
                <a:solidFill>
                  <a:schemeClr val="tx2"/>
                </a:solidFill>
              </a:rPr>
              <a:t>Tengo que describir detalladamente cada uno de los casos de uso</a:t>
            </a:r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B92CBC-5DAE-570B-9262-97919050B5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94" t="2573" r="-348" b="-1136"/>
          <a:stretch>
            <a:fillRect/>
          </a:stretch>
        </p:blipFill>
        <p:spPr>
          <a:xfrm>
            <a:off x="3874062" y="1714500"/>
            <a:ext cx="2875029" cy="263302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39A8FA-F9EF-E9C9-ECBB-0495193655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6400" b="-6303"/>
          <a:stretch>
            <a:fillRect/>
          </a:stretch>
        </p:blipFill>
        <p:spPr>
          <a:xfrm>
            <a:off x="334962" y="1185495"/>
            <a:ext cx="3277973" cy="208534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8EC4CFE-2A99-6D33-5125-38921D20F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2" y="3428999"/>
            <a:ext cx="3274501" cy="20805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06093B9-A4FE-9851-5C24-55348E835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174" y="4441348"/>
            <a:ext cx="2974289" cy="188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8734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0F969E-7EDD-6736-1C6C-B4AD5BE5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27</a:t>
            </a:fld>
            <a:endParaRPr lang="en-U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70077DDA-9FFB-7130-EAE2-E7C564CCA8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600" y="883920"/>
            <a:ext cx="7294623" cy="5710555"/>
          </a:xfrm>
        </p:spPr>
        <p:txBody>
          <a:bodyPr>
            <a:normAutofit/>
          </a:bodyPr>
          <a:lstStyle/>
          <a:p>
            <a:pPr lvl="0"/>
            <a:r>
              <a:rPr lang="es-ES" b="1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Nombre</a:t>
            </a:r>
            <a:r>
              <a:rPr lang="es-ES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del caso: </a:t>
            </a:r>
            <a:r>
              <a:rPr lang="es-ES" kern="1200">
                <a:solidFill>
                  <a:srgbClr val="FF0000"/>
                </a:solidFill>
                <a:effectLst/>
              </a:rPr>
              <a:t>verbo</a:t>
            </a:r>
            <a:r>
              <a:rPr lang="es-ES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con la acción</a:t>
            </a:r>
            <a:endParaRPr lang="es-ES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lvl="0"/>
            <a:r>
              <a:rPr lang="es-ES" b="1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ID</a:t>
            </a:r>
            <a:r>
              <a:rPr lang="es-ES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identificador</a:t>
            </a:r>
            <a:endParaRPr lang="es-ES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lvl="0"/>
            <a:r>
              <a:rPr lang="es-ES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Breve </a:t>
            </a:r>
            <a:r>
              <a:rPr lang="es-ES" b="1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descripción</a:t>
            </a:r>
            <a:endParaRPr lang="es-ES" b="1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lvl="0"/>
            <a:r>
              <a:rPr lang="es-ES" b="1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Actores</a:t>
            </a:r>
            <a:r>
              <a:rPr lang="es-ES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implicados</a:t>
            </a:r>
            <a:endParaRPr lang="es-ES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lvl="0"/>
            <a:r>
              <a:rPr lang="es-ES" b="1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Precondiciones</a:t>
            </a:r>
            <a:r>
              <a:rPr lang="es-ES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: condiciones que deben cumplirse antes de que el caso de uso pueda empezar</a:t>
            </a:r>
            <a:endParaRPr lang="es-ES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lvl="0"/>
            <a:r>
              <a:rPr lang="es-ES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Curso </a:t>
            </a:r>
            <a:r>
              <a:rPr lang="es-ES" b="1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normal</a:t>
            </a:r>
            <a:r>
              <a:rPr lang="es-ES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: Pasos en el caso que llevan a la finalización con éxito de este. Los pasos se describen ordenados cronológicamente</a:t>
            </a:r>
            <a:endParaRPr lang="es-ES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lvl="0"/>
            <a:r>
              <a:rPr lang="es-ES" b="1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Postcondiciones</a:t>
            </a:r>
            <a:r>
              <a:rPr lang="es-ES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: condiciones que deben cumplirse después de finalizado el caso de uso</a:t>
            </a:r>
            <a:endParaRPr lang="es-ES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lvl="0"/>
            <a:r>
              <a:rPr lang="es-ES" b="1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Alternativas</a:t>
            </a:r>
            <a:r>
              <a:rPr lang="es-ES" kern="120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: Desviaciones del curso normal del caso, por ejemplo, las provocadas por errores o excepciones</a:t>
            </a:r>
            <a:endParaRPr lang="es-ES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3"/>
            </a:pPr>
            <a:r>
              <a:rPr lang="es-ES"/>
              <a:t>Documentación de casos de uso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FF48BE-4101-0389-F30D-259136487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tabLst/>
              <a:defRPr/>
            </a:pPr>
            <a:r>
              <a:rPr lang="es-ES" sz="1800" b="1" kern="1200"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rPr>
              <a:t>3.1 Para ello utilizo tablas</a:t>
            </a:r>
            <a:endParaRPr lang="es-ES" sz="1800">
              <a:effectLst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0C6A6B1-F318-D221-5DE5-F55E92AEB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950" y="336102"/>
            <a:ext cx="3105591" cy="197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426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471F51-703F-BAB8-E121-DC675B00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28</a:t>
            </a:fld>
            <a:endParaRPr lang="en-U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E437B62F-5F81-8BEA-789E-4D9DC2E9EC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3"/>
            </a:pPr>
            <a:r>
              <a:rPr lang="es-ES"/>
              <a:t>Documentación de casos de uso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932EB58-65BF-6A21-66A1-62463F65E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tabLst/>
              <a:defRPr/>
            </a:pPr>
            <a:r>
              <a:rPr lang="es-ES" sz="1800" b="1" kern="1200"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rPr>
              <a:t>3.1 Mediante tablas</a:t>
            </a:r>
            <a:endParaRPr lang="es-ES">
              <a:effectLst/>
            </a:endParaRPr>
          </a:p>
          <a:p>
            <a:endParaRPr lang="es-ES"/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96A8E327-999F-F209-BF6F-563138636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402981"/>
              </p:ext>
            </p:extLst>
          </p:nvPr>
        </p:nvGraphicFramePr>
        <p:xfrm>
          <a:off x="255720" y="1859444"/>
          <a:ext cx="8064896" cy="4288445"/>
        </p:xfrm>
        <a:graphic>
          <a:graphicData uri="http://schemas.openxmlformats.org/drawingml/2006/table">
            <a:tbl>
              <a:tblPr firstRow="1" firstCol="1" bandRow="1"/>
              <a:tblGrid>
                <a:gridCol w="1879973">
                  <a:extLst>
                    <a:ext uri="{9D8B030D-6E8A-4147-A177-3AD203B41FA5}">
                      <a16:colId xmlns:a16="http://schemas.microsoft.com/office/drawing/2014/main" val="4283567214"/>
                    </a:ext>
                  </a:extLst>
                </a:gridCol>
                <a:gridCol w="6184923">
                  <a:extLst>
                    <a:ext uri="{9D8B030D-6E8A-4147-A177-3AD203B41FA5}">
                      <a16:colId xmlns:a16="http://schemas.microsoft.com/office/drawing/2014/main" val="1190908530"/>
                    </a:ext>
                  </a:extLst>
                </a:gridCol>
              </a:tblGrid>
              <a:tr h="290012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b="1" kern="10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SISTEMA DE GESTIÓN DE UNA BIBILIOTECA</a:t>
                      </a:r>
                      <a:endParaRPr lang="es-ES" sz="1600" kern="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602053"/>
                  </a:ext>
                </a:extLst>
              </a:tr>
              <a:tr h="290012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kern="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ID:</a:t>
                      </a:r>
                      <a:r>
                        <a:rPr lang="es-ES" sz="1600" b="1" kern="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 CU01 - RESERVAR LIBRO</a:t>
                      </a:r>
                      <a:endParaRPr lang="es-ES" sz="1600" kern="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87184"/>
                  </a:ext>
                </a:extLst>
              </a:tr>
              <a:tr h="2900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b="1" kern="100">
                          <a:effectLst/>
                          <a:latin typeface="Calibri"/>
                          <a:ea typeface="Calibri"/>
                          <a:cs typeface="Times New Roman"/>
                        </a:rPr>
                        <a:t>DESCRIPCIÓN: </a:t>
                      </a:r>
                      <a:endParaRPr lang="es-ES" sz="1600" kern="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kern="100">
                          <a:effectLst/>
                          <a:latin typeface="Calibri"/>
                          <a:ea typeface="Calibri"/>
                          <a:cs typeface="Times New Roman"/>
                        </a:rPr>
                        <a:t>Un socio desea reservar un libro utilizando su código.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372813"/>
                  </a:ext>
                </a:extLst>
              </a:tr>
              <a:tr h="2900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b="1" kern="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ACTOR: </a:t>
                      </a:r>
                      <a:endParaRPr lang="es-ES" sz="1600" kern="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kern="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Socio de la biblioteca</a:t>
                      </a:r>
                      <a:endParaRPr lang="es-ES" sz="1600" kern="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69439"/>
                  </a:ext>
                </a:extLst>
              </a:tr>
              <a:tr h="7653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b="1" kern="100">
                          <a:effectLst/>
                          <a:latin typeface="Calibri"/>
                          <a:ea typeface="Calibri"/>
                          <a:cs typeface="Times New Roman"/>
                        </a:rPr>
                        <a:t>PRECONDICIONES:</a:t>
                      </a:r>
                      <a:endParaRPr lang="es-ES" sz="1600" kern="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kern="100">
                          <a:effectLst/>
                          <a:latin typeface="Calibri"/>
                          <a:ea typeface="Calibri"/>
                          <a:cs typeface="Times New Roman"/>
                        </a:rPr>
                        <a:t>El socio no tiene multas.</a:t>
                      </a:r>
                      <a:endParaRPr lang="es-ES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kern="100">
                          <a:effectLst/>
                          <a:latin typeface="Calibri"/>
                          <a:ea typeface="Calibri"/>
                          <a:cs typeface="Times New Roman"/>
                        </a:rPr>
                        <a:t>El libro no está en la biblioteca (otro socio lo está leyendo).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704000"/>
                  </a:ext>
                </a:extLst>
              </a:tr>
              <a:tr h="8968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b="1" kern="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CURSO NORMAL:</a:t>
                      </a:r>
                      <a:endParaRPr lang="es-ES" sz="1600" kern="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buFont typeface="+mj-lt"/>
                        <a:buAutoNum type="arabicPeriod"/>
                      </a:pPr>
                      <a:r>
                        <a:rPr lang="es-E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 socio proporciona el código.</a:t>
                      </a:r>
                      <a:endParaRPr lang="es-E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+mj-lt"/>
                        <a:buAutoNum type="arabicPeriod"/>
                      </a:pPr>
                      <a:r>
                        <a:rPr lang="es-ES" sz="1600" kern="1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El sistema comprueba que el código existe.</a:t>
                      </a:r>
                      <a:endParaRPr lang="es-ES" sz="1600" kern="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es-E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 sistema reserva el libro.</a:t>
                      </a:r>
                      <a:endParaRPr lang="es-E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825760"/>
                  </a:ext>
                </a:extLst>
              </a:tr>
              <a:tr h="5934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b="1" kern="100">
                          <a:effectLst/>
                          <a:latin typeface="Calibri"/>
                          <a:ea typeface="Calibri"/>
                          <a:cs typeface="Times New Roman"/>
                        </a:rPr>
                        <a:t>POSTCONDICIÓNES:</a:t>
                      </a:r>
                      <a:endParaRPr lang="es-ES" sz="1600" kern="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kern="100">
                          <a:effectLst/>
                          <a:latin typeface="Calibri"/>
                          <a:ea typeface="Calibri"/>
                          <a:cs typeface="Times New Roman"/>
                        </a:rPr>
                        <a:t> El libro no</a:t>
                      </a:r>
                      <a:r>
                        <a:rPr lang="es-ES" sz="1600" kern="100" baseline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podrá ser reservado por otro socio.</a:t>
                      </a:r>
                      <a:endParaRPr lang="es-ES" sz="1600" kern="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454538"/>
                  </a:ext>
                </a:extLst>
              </a:tr>
              <a:tr h="7653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b="1" i="0" kern="1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ALTERNATIVA 1: código incorrecto   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b="0" i="0" kern="1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3b.  El sistema indica que el código es incorrecto.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1600" b="0" i="0" kern="1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Retorno a 1. (NO TENER EN CUENTA PARA LA TAREA DE LOS DIAGRAMAS DE SECUENCIA)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8D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988090"/>
                  </a:ext>
                </a:extLst>
              </a:tr>
            </a:tbl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FF9DCA94-40FD-4A17-5353-2229ECE7C521}"/>
              </a:ext>
            </a:extLst>
          </p:cNvPr>
          <p:cNvSpPr txBox="1"/>
          <p:nvPr/>
        </p:nvSpPr>
        <p:spPr>
          <a:xfrm>
            <a:off x="1403648" y="6318780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>
                <a:solidFill>
                  <a:srgbClr val="FF0000"/>
                </a:solidFill>
              </a:rPr>
              <a:t>Plantilla en aula virtual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30AD3789-136B-A7C5-612F-DF642BAD70B4}"/>
              </a:ext>
            </a:extLst>
          </p:cNvPr>
          <p:cNvGrpSpPr/>
          <p:nvPr/>
        </p:nvGrpSpPr>
        <p:grpSpPr>
          <a:xfrm>
            <a:off x="6945372" y="1859672"/>
            <a:ext cx="2031690" cy="1641330"/>
            <a:chOff x="7042418" y="1132470"/>
            <a:chExt cx="2031690" cy="1641330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A998C36C-8D26-A866-00BB-BF0C8B8108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7978"/>
            <a:stretch/>
          </p:blipFill>
          <p:spPr>
            <a:xfrm>
              <a:off x="7042418" y="1132470"/>
              <a:ext cx="2031690" cy="164133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DB792260-0139-CB54-1E5A-04307743CAB0}"/>
                    </a:ext>
                  </a:extLst>
                </p14:cNvPr>
                <p14:cNvContentPartPr/>
                <p14:nvPr/>
              </p14:nvContentPartPr>
              <p14:xfrm>
                <a:off x="7661855" y="1523545"/>
                <a:ext cx="674280" cy="15696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DB792260-0139-CB54-1E5A-04307743CAB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607855" y="1415545"/>
                  <a:ext cx="781920" cy="37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611429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8C5ABB-55DF-F23C-2793-6D44CE70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29</a:t>
            </a:fld>
            <a:endParaRPr lang="en-U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2C903731-2433-3D3B-E595-3448CFF8E9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1" indent="-342900"/>
            <a:r>
              <a:rPr lang="es-ES" sz="18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Documentemos cada uno de los casos de uso</a:t>
            </a:r>
          </a:p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3"/>
            </a:pPr>
            <a:r>
              <a:rPr lang="es-ES"/>
              <a:t>Documentación de casos de uso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F985A7-9733-6F12-B74D-3638D9FEE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tabLst/>
              <a:defRPr/>
            </a:pPr>
            <a:r>
              <a:rPr lang="es-ES" sz="1800" b="1" kern="1200"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rPr>
              <a:t>3.2 </a:t>
            </a:r>
            <a:r>
              <a:rPr lang="es-ES" sz="1800" kern="1200"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rPr>
              <a:t>Ejemplo Biblioteca:</a:t>
            </a:r>
            <a:endParaRPr lang="es-ES" sz="1800">
              <a:effectLst/>
            </a:endParaRPr>
          </a:p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8A0D96D-B74C-F1AC-130B-9DF671DD2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2" y="1647514"/>
            <a:ext cx="4782144" cy="4198277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F217AFA-4BEE-19E8-94A2-109458A9CD94}"/>
              </a:ext>
            </a:extLst>
          </p:cNvPr>
          <p:cNvSpPr txBox="1"/>
          <p:nvPr/>
        </p:nvSpPr>
        <p:spPr>
          <a:xfrm>
            <a:off x="4667617" y="2239804"/>
            <a:ext cx="288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>
                <a:solidFill>
                  <a:srgbClr val="FF0000"/>
                </a:solidFill>
              </a:rPr>
              <a:t>¿qué aspecto tiene el documento que voy a generar?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A574B26-B080-8D30-34F8-8EDA770078D2}"/>
              </a:ext>
            </a:extLst>
          </p:cNvPr>
          <p:cNvSpPr txBox="1"/>
          <p:nvPr/>
        </p:nvSpPr>
        <p:spPr>
          <a:xfrm>
            <a:off x="4680109" y="3295240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>
                <a:solidFill>
                  <a:srgbClr val="FF0000"/>
                </a:solidFill>
              </a:rPr>
              <a:t>¿cuántos voy a generar?</a:t>
            </a:r>
          </a:p>
        </p:txBody>
      </p:sp>
    </p:spTree>
    <p:extLst>
      <p:ext uri="{BB962C8B-B14F-4D97-AF65-F5344CB8AC3E}">
        <p14:creationId xmlns:p14="http://schemas.microsoft.com/office/powerpoint/2010/main" val="29288010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8C5ABB-55DF-F23C-2793-6D44CE70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30</a:t>
            </a:fld>
            <a:endParaRPr lang="en-U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2C903731-2433-3D3B-E595-3448CFF8E9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 indent="-342900"/>
            <a:r>
              <a:rPr lang="es-ES" sz="2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Documentemos los otros dos casos de uso</a:t>
            </a:r>
          </a:p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3"/>
            </a:pPr>
            <a:r>
              <a:rPr lang="es-ES"/>
              <a:t>Documentación de casos de uso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8845F65-1D19-01F3-40EE-61A3C0256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tabLst/>
              <a:defRPr/>
            </a:pPr>
            <a:r>
              <a:rPr lang="es-ES" sz="1800" b="1" kern="1200"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rPr>
              <a:t>3.2 </a:t>
            </a:r>
            <a:r>
              <a:rPr lang="es-ES" sz="1800" kern="1200"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rPr>
              <a:t>Ejemplo Biblioteca:</a:t>
            </a:r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C819C1-E104-CB35-DF1F-49199B9A0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21" y="1516821"/>
            <a:ext cx="6553168" cy="4932749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ADD52E52-4F92-2B9F-9184-98D490AB8A48}"/>
              </a:ext>
            </a:extLst>
          </p:cNvPr>
          <p:cNvGrpSpPr/>
          <p:nvPr/>
        </p:nvGrpSpPr>
        <p:grpSpPr>
          <a:xfrm>
            <a:off x="6948705" y="1518397"/>
            <a:ext cx="2031690" cy="1641330"/>
            <a:chOff x="6959749" y="1419006"/>
            <a:chExt cx="2031690" cy="1641330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48DB13EE-89EF-0784-5C6B-0CEB9FDA27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7978"/>
            <a:stretch/>
          </p:blipFill>
          <p:spPr>
            <a:xfrm>
              <a:off x="6959749" y="1419006"/>
              <a:ext cx="2031690" cy="164133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FAFFFA13-4B76-8F98-B57F-7CC64492B5DD}"/>
                    </a:ext>
                  </a:extLst>
                </p14:cNvPr>
                <p14:cNvContentPartPr/>
                <p14:nvPr/>
              </p14:nvContentPartPr>
              <p14:xfrm>
                <a:off x="7745648" y="2290705"/>
                <a:ext cx="564840" cy="10656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FAFFFA13-4B76-8F98-B57F-7CC64492B5D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91648" y="2182705"/>
                  <a:ext cx="672480" cy="32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594112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8C5ABB-55DF-F23C-2793-6D44CE70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31</a:t>
            </a:fld>
            <a:endParaRPr lang="en-U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2C903731-2433-3D3B-E595-3448CFF8E9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 indent="-342900"/>
            <a:r>
              <a:rPr lang="es-ES" sz="2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Documentemos cada uno de los casos de uso</a:t>
            </a:r>
          </a:p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3"/>
            </a:pPr>
            <a:r>
              <a:rPr lang="es-ES"/>
              <a:t>Documentación de casos de uso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4050EC-D374-43EB-1D27-69BBFD349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tabLst/>
              <a:defRPr/>
            </a:pPr>
            <a:r>
              <a:rPr lang="es-ES" sz="1800" b="1" kern="1200"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rPr>
              <a:t>3.2 </a:t>
            </a:r>
            <a:r>
              <a:rPr lang="es-ES" sz="1800" kern="1200"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rPr>
              <a:t>Ejemplo Biblioteca:</a:t>
            </a:r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4283C67-69E9-21BD-C091-57D14F00E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90" y="1458964"/>
            <a:ext cx="7738126" cy="4697809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09F12706-1F62-811E-6983-E516BFB35504}"/>
              </a:ext>
            </a:extLst>
          </p:cNvPr>
          <p:cNvGrpSpPr/>
          <p:nvPr/>
        </p:nvGrpSpPr>
        <p:grpSpPr>
          <a:xfrm>
            <a:off x="6862034" y="3129629"/>
            <a:ext cx="2031690" cy="1641330"/>
            <a:chOff x="6862034" y="3129629"/>
            <a:chExt cx="2031690" cy="1641330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48DB13EE-89EF-0784-5C6B-0CEB9FDA27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7978"/>
            <a:stretch/>
          </p:blipFill>
          <p:spPr>
            <a:xfrm>
              <a:off x="6862034" y="3129629"/>
              <a:ext cx="2031690" cy="164133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8E80BF5F-E4CC-2B9D-A60F-85D0FBF31DAC}"/>
                    </a:ext>
                  </a:extLst>
                </p14:cNvPr>
                <p14:cNvContentPartPr/>
                <p14:nvPr/>
              </p14:nvContentPartPr>
              <p14:xfrm>
                <a:off x="7725547" y="4433143"/>
                <a:ext cx="535680" cy="4284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8E80BF5F-E4CC-2B9D-A60F-85D0FBF31DA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71547" y="4325143"/>
                  <a:ext cx="643320" cy="258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522412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FEC5EE-9A5B-9447-5889-A3D59CFA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32</a:t>
            </a:fld>
            <a:endParaRPr lang="en-U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03FD58B7-5F60-8ED6-BC4F-7B286447C1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solidFill>
                  <a:schemeClr val="tx2"/>
                </a:solidFill>
                <a:latin typeface="Tahoma"/>
                <a:ea typeface="Tahoma"/>
                <a:cs typeface="Tahoma"/>
              </a:rPr>
              <a:t>Realiza el caso práctico disponible en el repositorio</a:t>
            </a:r>
          </a:p>
          <a:p>
            <a:r>
              <a:rPr lang="es-ES" i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</a:t>
            </a:r>
            <a:r>
              <a:rPr lang="es-ES" b="1" i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puede </a:t>
            </a:r>
            <a:r>
              <a:rPr lang="es-ES" i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representar sistemas externos asociados a un caso de uso</a:t>
            </a:r>
          </a:p>
          <a:p>
            <a:r>
              <a:rPr lang="es-ES" i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Utilizando para ello rectángulos en lugar de monigotes</a:t>
            </a:r>
          </a:p>
          <a:p>
            <a:pPr lv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 startAt="4"/>
            </a:pPr>
            <a:r>
              <a:rPr lang="es-ES"/>
              <a:t>ED6b0302  Práctica:</a:t>
            </a:r>
            <a:r>
              <a:rPr lang="es-ES" baseline="0"/>
              <a:t> residencia de estudiantes</a:t>
            </a:r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1FB271B-271C-2C8D-713F-8217BA7FB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02" y="2513963"/>
            <a:ext cx="3099698" cy="276223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67E6D05-1444-3E64-9E1C-937BF4CCF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93" y="2513963"/>
            <a:ext cx="2877058" cy="276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139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61A08A9-F06D-6F73-C983-B2A43E60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33</a:t>
            </a:fld>
            <a:endParaRPr lang="en-US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2E672CE3-414F-1E3C-9928-F4B6B75687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Diagramas de casos de uso </a:t>
            </a:r>
            <a:r>
              <a:rPr lang="es-ES">
                <a:hlinkClick r:id="rId2"/>
              </a:rPr>
              <a:t>UPV</a:t>
            </a:r>
            <a:endParaRPr lang="es-ES"/>
          </a:p>
          <a:p>
            <a:r>
              <a:rPr lang="es-ES"/>
              <a:t>UML Lucid </a:t>
            </a:r>
            <a:r>
              <a:rPr lang="es-ES">
                <a:hlinkClick r:id="rId3"/>
              </a:rPr>
              <a:t>Software</a:t>
            </a:r>
            <a:r>
              <a:rPr lang="es-ES"/>
              <a:t> explica inclusión y extensión</a:t>
            </a:r>
          </a:p>
          <a:p>
            <a:r>
              <a:rPr lang="es-ES">
                <a:hlinkClick r:id="rId4"/>
              </a:rPr>
              <a:t>Apuntes</a:t>
            </a:r>
            <a:r>
              <a:rPr lang="es-ES"/>
              <a:t> Luis del Moral</a:t>
            </a:r>
          </a:p>
          <a:p>
            <a:r>
              <a:rPr lang="es-ES"/>
              <a:t>Herramienta </a:t>
            </a:r>
            <a:r>
              <a:rPr lang="es-ES">
                <a:hlinkClick r:id="rId5"/>
              </a:rPr>
              <a:t>Draw.io</a:t>
            </a:r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A543D3-C58C-1AE7-0D94-9F33892E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s-ES"/>
              <a:t>9.</a:t>
            </a:r>
            <a:r>
              <a:rPr lang="es-ES" baseline="0"/>
              <a:t> </a:t>
            </a:r>
            <a:r>
              <a:rPr lang="es-ES"/>
              <a:t>Bibliografía y recursos</a:t>
            </a:r>
          </a:p>
        </p:txBody>
      </p:sp>
    </p:spTree>
    <p:extLst>
      <p:ext uri="{BB962C8B-B14F-4D97-AF65-F5344CB8AC3E}">
        <p14:creationId xmlns:p14="http://schemas.microsoft.com/office/powerpoint/2010/main" val="1662085430"/>
      </p:ext>
    </p:extLst>
  </p:cSld>
  <p:clrMapOvr>
    <a:masterClrMapping/>
  </p:clrMapOvr>
</p:sld>
</file>

<file path=ppt/theme/theme1.xml><?xml version="1.0" encoding="utf-8"?>
<a:theme xmlns:a="http://schemas.openxmlformats.org/drawingml/2006/main" name="ED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" id="{025829BB-E26A-4598-9983-78D0A6F490C8}" vid="{8BF71C2D-7F2D-4401-99FE-11211852CF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</Template>
  <Application>Microsoft Office PowerPoint</Application>
  <PresentationFormat>Presentación en pantalla (4:3)</PresentationFormat>
  <Slides>33</Slides>
  <Notes>16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4" baseType="lpstr">
      <vt:lpstr>ED</vt:lpstr>
      <vt:lpstr>UT3 DIAGRAMAS DE COMPORTAMIENTO</vt:lpstr>
      <vt:lpstr>CONTENIDO</vt:lpstr>
      <vt:lpstr>1. INTRODUCCIÓN</vt:lpstr>
      <vt:lpstr>Tipos</vt:lpstr>
      <vt:lpstr>Tipos</vt:lpstr>
      <vt:lpstr>Tipos</vt:lpstr>
      <vt:lpstr>Tipos</vt:lpstr>
      <vt:lpstr>2. Diagramas de casos de uso</vt:lpstr>
      <vt:lpstr>2. Diagramas de casos de uso</vt:lpstr>
      <vt:lpstr>2. Diagramas de casos de uso</vt:lpstr>
      <vt:lpstr>2. Diagramas de casos de uso</vt:lpstr>
      <vt:lpstr>2. Diagramas de casos de uso</vt:lpstr>
      <vt:lpstr>2. Diagramas de casos de uso</vt:lpstr>
      <vt:lpstr>2. Diagramas de casos de uso</vt:lpstr>
      <vt:lpstr>2. Diagramas de casos de uso</vt:lpstr>
      <vt:lpstr>2. Diagramas de casos de uso</vt:lpstr>
      <vt:lpstr>2. Diagramas de casos de uso</vt:lpstr>
      <vt:lpstr>2. Diagramas de casos de uso</vt:lpstr>
      <vt:lpstr>2. Diagramas de casos de uso</vt:lpstr>
      <vt:lpstr>2. Diagramas de casos de uso</vt:lpstr>
      <vt:lpstr>2. ED6b0301#  Diagramas de casos de uso: practica el uso de la herramienta</vt:lpstr>
      <vt:lpstr>2. Diagramas de casos de uso</vt:lpstr>
      <vt:lpstr>2. Diagramas de casos de uso</vt:lpstr>
      <vt:lpstr>2. Diagramas de casos de uso</vt:lpstr>
      <vt:lpstr>2. Diagramas de casos de uso ED6b0301# : todos los ejemplos</vt:lpstr>
      <vt:lpstr>3.   Documentación de casos de uso</vt:lpstr>
      <vt:lpstr>Documentación de casos de uso</vt:lpstr>
      <vt:lpstr>Documentación de casos de uso</vt:lpstr>
      <vt:lpstr>Documentación de casos de uso</vt:lpstr>
      <vt:lpstr>Documentación de casos de uso</vt:lpstr>
      <vt:lpstr>Documentación de casos de uso</vt:lpstr>
      <vt:lpstr>ED6b0302  Práctica: residencia de estudiantes</vt:lpstr>
      <vt:lpstr>9. Bibliografía y recursos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doc2pdf</dc:creator>
  <cp:revision>3</cp:revision>
  <dcterms:modified xsi:type="dcterms:W3CDTF">2025-12-19T08:06:07Z</dcterms:modified>
</cp:coreProperties>
</file>