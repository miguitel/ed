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25"/>
  </p:notesMasterIdLst>
  <p:handoutMasterIdLst>
    <p:handoutMasterId r:id="rId26"/>
  </p:handoutMasterIdLst>
  <p:sldIdLst>
    <p:sldId id="256" r:id="rId2"/>
    <p:sldId id="314" r:id="rId3"/>
    <p:sldId id="321" r:id="rId4"/>
    <p:sldId id="337" r:id="rId5"/>
    <p:sldId id="323" r:id="rId6"/>
    <p:sldId id="324" r:id="rId7"/>
    <p:sldId id="328" r:id="rId8"/>
    <p:sldId id="325" r:id="rId9"/>
    <p:sldId id="326" r:id="rId10"/>
    <p:sldId id="356" r:id="rId11"/>
    <p:sldId id="333" r:id="rId12"/>
    <p:sldId id="341" r:id="rId13"/>
    <p:sldId id="342" r:id="rId14"/>
    <p:sldId id="343" r:id="rId15"/>
    <p:sldId id="350" r:id="rId16"/>
    <p:sldId id="351" r:id="rId17"/>
    <p:sldId id="352" r:id="rId18"/>
    <p:sldId id="353" r:id="rId19"/>
    <p:sldId id="354" r:id="rId20"/>
    <p:sldId id="355" r:id="rId21"/>
    <p:sldId id="302" r:id="rId22"/>
    <p:sldId id="357" r:id="rId23"/>
    <p:sldId id="358" r:id="rId24"/>
  </p:sldIdLst>
  <p:sldSz cx="9144000" cy="6858000" type="screen4x3"/>
  <p:notesSz cx="12192000" cy="6858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Tahoma" panose="020B0604030504040204" pitchFamily="34" charset="0"/>
      <p:regular r:id="rId35"/>
      <p:bold r:id="rId36"/>
    </p:embeddedFont>
    <p:embeddedFont>
      <p:font typeface="Trebuchet MS" panose="020B0603020202020204" pitchFamily="34" charset="0"/>
      <p:regular r:id="rId37"/>
      <p:bold r:id="rId38"/>
      <p:italic r:id="rId39"/>
      <p:boldItalic r:id="rId40"/>
    </p:embeddedFont>
    <p:embeddedFont>
      <p:font typeface="Wingdings 3" panose="05040102010807070707" pitchFamily="18" charset="2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47385B8-8C62-4854-B1B9-CD5033358939}">
          <p14:sldIdLst>
            <p14:sldId id="256"/>
          </p14:sldIdLst>
        </p14:section>
        <p14:section name="." id="{A7719EAC-2FEC-43A1-A51F-3CEBCD789471}">
          <p14:sldIdLst>
            <p14:sldId id="314"/>
          </p14:sldIdLst>
        </p14:section>
        <p14:section name="." id="{35D09197-F951-4513-BE1B-88ED325C60A1}">
          <p14:sldIdLst>
            <p14:sldId id="321"/>
            <p14:sldId id="337"/>
          </p14:sldIdLst>
        </p14:section>
        <p14:section name="." id="{FCE142CC-F8D9-4CCE-A8C3-F3EFAA3F862F}">
          <p14:sldIdLst>
            <p14:sldId id="323"/>
            <p14:sldId id="324"/>
            <p14:sldId id="328"/>
          </p14:sldIdLst>
        </p14:section>
        <p14:section name="." id="{5A9A2E12-7646-41F5-A12A-BD84E5FDFE69}">
          <p14:sldIdLst>
            <p14:sldId id="325"/>
            <p14:sldId id="326"/>
            <p14:sldId id="356"/>
            <p14:sldId id="333"/>
            <p14:sldId id="341"/>
            <p14:sldId id="342"/>
            <p14:sldId id="343"/>
            <p14:sldId id="350"/>
            <p14:sldId id="351"/>
            <p14:sldId id="352"/>
            <p14:sldId id="353"/>
            <p14:sldId id="354"/>
            <p14:sldId id="355"/>
            <p14:sldId id="302"/>
            <p14:sldId id="357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8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3F3F8B-DCA6-FAF0-4A92-A6BBBBCD913E}" name="Miguel" initials="M" userId="Miguel" providerId="None"/>
  <p188:author id="{977F47D7-07F1-85A1-7633-049FB299B8FA}" name="MIGUEL TRIGUEROS MUÑOZ" initials="MT" userId="S::MIGUEL.TRIGUEROS@aulaxxi.murciaeduca.es::a4ee0321-97d7-430f-98a8-7ed13ff9a4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3E8BD-30D6-EBFF-9B8D-B48BEDD0C988}" v="7" dt="2025-11-28T11:18:47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95" autoAdjust="0"/>
    <p:restoredTop sz="86395" autoAdjust="0"/>
  </p:normalViewPr>
  <p:slideViewPr>
    <p:cSldViewPr snapToGrid="0">
      <p:cViewPr varScale="1">
        <p:scale>
          <a:sx n="58" d="100"/>
          <a:sy n="58" d="100"/>
        </p:scale>
        <p:origin x="58" y="341"/>
      </p:cViewPr>
      <p:guideLst>
        <p:guide orient="horz" pos="3168"/>
        <p:guide pos="1836"/>
      </p:guideLst>
    </p:cSldViewPr>
  </p:slideViewPr>
  <p:outlineViewPr>
    <p:cViewPr>
      <p:scale>
        <a:sx n="33" d="100"/>
        <a:sy n="33" d="100"/>
      </p:scale>
      <p:origin x="0" y="-4902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354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TRIGUEROS MUÑOZ" userId="S::miguel.trigueros@aulaxxi.murciaeduca.es::a4ee0321-97d7-430f-98a8-7ed13ff9a4bf" providerId="AD" clId="Web-{31132C14-4F59-9F92-6150-2A4A30A1C9AC}"/>
    <pc:docChg chg="modSld">
      <pc:chgData name="MIGUEL TRIGUEROS MUÑOZ" userId="S::miguel.trigueros@aulaxxi.murciaeduca.es::a4ee0321-97d7-430f-98a8-7ed13ff9a4bf" providerId="AD" clId="Web-{31132C14-4F59-9F92-6150-2A4A30A1C9AC}" dt="2025-11-14T11:40:06.734" v="10" actId="20577"/>
      <pc:docMkLst>
        <pc:docMk/>
      </pc:docMkLst>
      <pc:sldChg chg="modSp">
        <pc:chgData name="MIGUEL TRIGUEROS MUÑOZ" userId="S::miguel.trigueros@aulaxxi.murciaeduca.es::a4ee0321-97d7-430f-98a8-7ed13ff9a4bf" providerId="AD" clId="Web-{31132C14-4F59-9F92-6150-2A4A30A1C9AC}" dt="2025-11-14T10:58:29.825" v="4" actId="14100"/>
        <pc:sldMkLst>
          <pc:docMk/>
          <pc:sldMk cId="308865771" sldId="256"/>
        </pc:sldMkLst>
        <pc:spChg chg="mod">
          <ac:chgData name="MIGUEL TRIGUEROS MUÑOZ" userId="S::miguel.trigueros@aulaxxi.murciaeduca.es::a4ee0321-97d7-430f-98a8-7ed13ff9a4bf" providerId="AD" clId="Web-{31132C14-4F59-9F92-6150-2A4A30A1C9AC}" dt="2025-11-14T10:58:29.825" v="4" actId="14100"/>
          <ac:spMkLst>
            <pc:docMk/>
            <pc:sldMk cId="308865771" sldId="256"/>
            <ac:spMk id="2" creationId="{BB6B5ACD-B995-716B-F5F7-1C14289F141D}"/>
          </ac:spMkLst>
        </pc:spChg>
      </pc:sldChg>
      <pc:sldChg chg="addSp modSp">
        <pc:chgData name="MIGUEL TRIGUEROS MUÑOZ" userId="S::miguel.trigueros@aulaxxi.murciaeduca.es::a4ee0321-97d7-430f-98a8-7ed13ff9a4bf" providerId="AD" clId="Web-{31132C14-4F59-9F92-6150-2A4A30A1C9AC}" dt="2025-11-14T11:25:59.323" v="8" actId="14100"/>
        <pc:sldMkLst>
          <pc:docMk/>
          <pc:sldMk cId="1122745256" sldId="325"/>
        </pc:sldMkLst>
        <pc:cxnChg chg="add mod">
          <ac:chgData name="MIGUEL TRIGUEROS MUÑOZ" userId="S::miguel.trigueros@aulaxxi.murciaeduca.es::a4ee0321-97d7-430f-98a8-7ed13ff9a4bf" providerId="AD" clId="Web-{31132C14-4F59-9F92-6150-2A4A30A1C9AC}" dt="2025-11-14T11:25:59.323" v="8" actId="14100"/>
          <ac:cxnSpMkLst>
            <pc:docMk/>
            <pc:sldMk cId="1122745256" sldId="325"/>
            <ac:cxnSpMk id="6" creationId="{6485B0ED-C1E2-F567-5127-70497427504B}"/>
          </ac:cxnSpMkLst>
        </pc:cxnChg>
      </pc:sldChg>
      <pc:sldChg chg="modSp">
        <pc:chgData name="MIGUEL TRIGUEROS MUÑOZ" userId="S::miguel.trigueros@aulaxxi.murciaeduca.es::a4ee0321-97d7-430f-98a8-7ed13ff9a4bf" providerId="AD" clId="Web-{31132C14-4F59-9F92-6150-2A4A30A1C9AC}" dt="2025-11-14T11:40:01.046" v="9" actId="20577"/>
        <pc:sldMkLst>
          <pc:docMk/>
          <pc:sldMk cId="3761948457" sldId="341"/>
        </pc:sldMkLst>
        <pc:spChg chg="mod">
          <ac:chgData name="MIGUEL TRIGUEROS MUÑOZ" userId="S::miguel.trigueros@aulaxxi.murciaeduca.es::a4ee0321-97d7-430f-98a8-7ed13ff9a4bf" providerId="AD" clId="Web-{31132C14-4F59-9F92-6150-2A4A30A1C9AC}" dt="2025-11-14T11:40:01.046" v="9" actId="20577"/>
          <ac:spMkLst>
            <pc:docMk/>
            <pc:sldMk cId="3761948457" sldId="341"/>
            <ac:spMk id="3" creationId="{67C8410E-0545-8959-3559-84841A36BEE1}"/>
          </ac:spMkLst>
        </pc:spChg>
      </pc:sldChg>
      <pc:sldChg chg="modSp">
        <pc:chgData name="MIGUEL TRIGUEROS MUÑOZ" userId="S::miguel.trigueros@aulaxxi.murciaeduca.es::a4ee0321-97d7-430f-98a8-7ed13ff9a4bf" providerId="AD" clId="Web-{31132C14-4F59-9F92-6150-2A4A30A1C9AC}" dt="2025-11-14T11:40:06.734" v="10" actId="20577"/>
        <pc:sldMkLst>
          <pc:docMk/>
          <pc:sldMk cId="1759713922" sldId="342"/>
        </pc:sldMkLst>
        <pc:spChg chg="mod">
          <ac:chgData name="MIGUEL TRIGUEROS MUÑOZ" userId="S::miguel.trigueros@aulaxxi.murciaeduca.es::a4ee0321-97d7-430f-98a8-7ed13ff9a4bf" providerId="AD" clId="Web-{31132C14-4F59-9F92-6150-2A4A30A1C9AC}" dt="2025-11-14T11:40:06.734" v="10" actId="20577"/>
          <ac:spMkLst>
            <pc:docMk/>
            <pc:sldMk cId="1759713922" sldId="342"/>
            <ac:spMk id="3" creationId="{67C8410E-0545-8959-3559-84841A36BEE1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93F31A34-6DDD-A244-0028-3EFF1DA70E0C}"/>
    <pc:docChg chg="modSld sldOrd">
      <pc:chgData name="MIGUEL TRIGUEROS MUÑOZ" userId="S::miguel.trigueros@aulaxxi.murciaeduca.es::a4ee0321-97d7-430f-98a8-7ed13ff9a4bf" providerId="AD" clId="Web-{93F31A34-6DDD-A244-0028-3EFF1DA70E0C}" dt="2025-11-02T06:41:22.681" v="26" actId="20577"/>
      <pc:docMkLst>
        <pc:docMk/>
      </pc:docMkLst>
      <pc:sldChg chg="ord">
        <pc:chgData name="MIGUEL TRIGUEROS MUÑOZ" userId="S::miguel.trigueros@aulaxxi.murciaeduca.es::a4ee0321-97d7-430f-98a8-7ed13ff9a4bf" providerId="AD" clId="Web-{93F31A34-6DDD-A244-0028-3EFF1DA70E0C}" dt="2025-11-02T06:28:57.394" v="1"/>
        <pc:sldMkLst>
          <pc:docMk/>
          <pc:sldMk cId="1662085430" sldId="302"/>
        </pc:sldMkLst>
      </pc:sldChg>
      <pc:sldChg chg="modSp modNotes">
        <pc:chgData name="MIGUEL TRIGUEROS MUÑOZ" userId="S::miguel.trigueros@aulaxxi.murciaeduca.es::a4ee0321-97d7-430f-98a8-7ed13ff9a4bf" providerId="AD" clId="Web-{93F31A34-6DDD-A244-0028-3EFF1DA70E0C}" dt="2025-11-02T06:41:22.681" v="26" actId="20577"/>
        <pc:sldMkLst>
          <pc:docMk/>
          <pc:sldMk cId="2292523160" sldId="357"/>
        </pc:sldMkLst>
        <pc:spChg chg="mod">
          <ac:chgData name="MIGUEL TRIGUEROS MUÑOZ" userId="S::miguel.trigueros@aulaxxi.murciaeduca.es::a4ee0321-97d7-430f-98a8-7ed13ff9a4bf" providerId="AD" clId="Web-{93F31A34-6DDD-A244-0028-3EFF1DA70E0C}" dt="2025-11-02T06:29:09.676" v="4" actId="20577"/>
          <ac:spMkLst>
            <pc:docMk/>
            <pc:sldMk cId="2292523160" sldId="357"/>
            <ac:spMk id="6" creationId="{B67B854F-C1D3-BD5C-9630-3E0DD86B30E4}"/>
          </ac:spMkLst>
        </pc:spChg>
        <pc:spChg chg="mod">
          <ac:chgData name="MIGUEL TRIGUEROS MUÑOZ" userId="S::miguel.trigueros@aulaxxi.murciaeduca.es::a4ee0321-97d7-430f-98a8-7ed13ff9a4bf" providerId="AD" clId="Web-{93F31A34-6DDD-A244-0028-3EFF1DA70E0C}" dt="2025-11-02T06:41:22.681" v="26" actId="20577"/>
          <ac:spMkLst>
            <pc:docMk/>
            <pc:sldMk cId="2292523160" sldId="357"/>
            <ac:spMk id="7" creationId="{A72D6898-2867-DF20-C7E5-C34CCCB66634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F463E8BD-30D6-EBFF-9B8D-B48BEDD0C988}"/>
    <pc:docChg chg="addSld modSld modSection">
      <pc:chgData name="MIGUEL TRIGUEROS MUÑOZ" userId="S::miguel.trigueros@aulaxxi.murciaeduca.es::a4ee0321-97d7-430f-98a8-7ed13ff9a4bf" providerId="AD" clId="Web-{F463E8BD-30D6-EBFF-9B8D-B48BEDD0C988}" dt="2025-11-28T11:18:47.302" v="5" actId="1076"/>
      <pc:docMkLst>
        <pc:docMk/>
      </pc:docMkLst>
      <pc:sldChg chg="addSp delSp modSp add replId">
        <pc:chgData name="MIGUEL TRIGUEROS MUÑOZ" userId="S::miguel.trigueros@aulaxxi.murciaeduca.es::a4ee0321-97d7-430f-98a8-7ed13ff9a4bf" providerId="AD" clId="Web-{F463E8BD-30D6-EBFF-9B8D-B48BEDD0C988}" dt="2025-11-28T11:18:47.302" v="5" actId="1076"/>
        <pc:sldMkLst>
          <pc:docMk/>
          <pc:sldMk cId="3103405618" sldId="358"/>
        </pc:sldMkLst>
        <pc:spChg chg="add del mod">
          <ac:chgData name="MIGUEL TRIGUEROS MUÑOZ" userId="S::miguel.trigueros@aulaxxi.murciaeduca.es::a4ee0321-97d7-430f-98a8-7ed13ff9a4bf" providerId="AD" clId="Web-{F463E8BD-30D6-EBFF-9B8D-B48BEDD0C988}" dt="2025-11-28T11:18:45.302" v="4"/>
          <ac:spMkLst>
            <pc:docMk/>
            <pc:sldMk cId="3103405618" sldId="358"/>
            <ac:spMk id="4" creationId="{381A2FAC-AFC5-941D-DFA8-AE53777F72AF}"/>
          </ac:spMkLst>
        </pc:spChg>
        <pc:spChg chg="del">
          <ac:chgData name="MIGUEL TRIGUEROS MUÑOZ" userId="S::miguel.trigueros@aulaxxi.murciaeduca.es::a4ee0321-97d7-430f-98a8-7ed13ff9a4bf" providerId="AD" clId="Web-{F463E8BD-30D6-EBFF-9B8D-B48BEDD0C988}" dt="2025-11-28T11:18:37.583" v="1"/>
          <ac:spMkLst>
            <pc:docMk/>
            <pc:sldMk cId="3103405618" sldId="358"/>
            <ac:spMk id="7" creationId="{A358B58F-E252-F4F2-2D23-654BDE082B94}"/>
          </ac:spMkLst>
        </pc:spChg>
        <pc:picChg chg="add mod">
          <ac:chgData name="MIGUEL TRIGUEROS MUÑOZ" userId="S::miguel.trigueros@aulaxxi.murciaeduca.es::a4ee0321-97d7-430f-98a8-7ed13ff9a4bf" providerId="AD" clId="Web-{F463E8BD-30D6-EBFF-9B8D-B48BEDD0C988}" dt="2025-11-28T11:18:47.302" v="5" actId="1076"/>
          <ac:picMkLst>
            <pc:docMk/>
            <pc:sldMk cId="3103405618" sldId="358"/>
            <ac:picMk id="5" creationId="{68E71852-F777-0EA3-CC81-CC97BDB3F360}"/>
          </ac:picMkLst>
        </pc:picChg>
      </pc:sldChg>
    </pc:docChg>
  </pc:docChgLst>
  <pc:docChgLst>
    <pc:chgData name="MIGUEL TRIGUEROS MUÑOZ" userId="S::miguel.trigueros@aulaxxi.murciaeduca.es::a4ee0321-97d7-430f-98a8-7ed13ff9a4bf" providerId="AD" clId="Web-{C2FB6734-11CB-FB4B-2BCC-5A38CE4D6A80}"/>
    <pc:docChg chg="addSld delSld modSection">
      <pc:chgData name="MIGUEL TRIGUEROS MUÑOZ" userId="S::miguel.trigueros@aulaxxi.murciaeduca.es::a4ee0321-97d7-430f-98a8-7ed13ff9a4bf" providerId="AD" clId="Web-{C2FB6734-11CB-FB4B-2BCC-5A38CE4D6A80}" dt="2025-11-02T07:06:54.958" v="33"/>
      <pc:docMkLst>
        <pc:docMk/>
      </pc:docMkLst>
      <pc:sldChg chg="add del">
        <pc:chgData name="MIGUEL TRIGUEROS MUÑOZ" userId="S::miguel.trigueros@aulaxxi.murciaeduca.es::a4ee0321-97d7-430f-98a8-7ed13ff9a4bf" providerId="AD" clId="Web-{C2FB6734-11CB-FB4B-2BCC-5A38CE4D6A80}" dt="2025-11-02T07:05:24.829" v="28"/>
        <pc:sldMkLst>
          <pc:docMk/>
          <pc:sldMk cId="1662085430" sldId="302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3.969" v="15"/>
        <pc:sldMkLst>
          <pc:docMk/>
          <pc:sldMk cId="1122745256" sldId="325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032" v="16"/>
        <pc:sldMkLst>
          <pc:docMk/>
          <pc:sldMk cId="3983183523" sldId="326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188" v="18"/>
        <pc:sldMkLst>
          <pc:docMk/>
          <pc:sldMk cId="2336738011" sldId="333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266" v="19"/>
        <pc:sldMkLst>
          <pc:docMk/>
          <pc:sldMk cId="3761948457" sldId="341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344" v="20"/>
        <pc:sldMkLst>
          <pc:docMk/>
          <pc:sldMk cId="1759713922" sldId="342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407" v="21"/>
        <pc:sldMkLst>
          <pc:docMk/>
          <pc:sldMk cId="1363057816" sldId="343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454" v="22"/>
        <pc:sldMkLst>
          <pc:docMk/>
          <pc:sldMk cId="1188484412" sldId="350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516" v="23"/>
        <pc:sldMkLst>
          <pc:docMk/>
          <pc:sldMk cId="2076484974" sldId="351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563" v="24"/>
        <pc:sldMkLst>
          <pc:docMk/>
          <pc:sldMk cId="683416156" sldId="352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641" v="25"/>
        <pc:sldMkLst>
          <pc:docMk/>
          <pc:sldMk cId="1131165253" sldId="353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719" v="26"/>
        <pc:sldMkLst>
          <pc:docMk/>
          <pc:sldMk cId="3098520206" sldId="354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782" v="27"/>
        <pc:sldMkLst>
          <pc:docMk/>
          <pc:sldMk cId="3753997660" sldId="355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110" v="17"/>
        <pc:sldMkLst>
          <pc:docMk/>
          <pc:sldMk cId="3298005134" sldId="356"/>
        </pc:sldMkLst>
      </pc:sldChg>
      <pc:sldChg chg="add del">
        <pc:chgData name="MIGUEL TRIGUEROS MUÑOZ" userId="S::miguel.trigueros@aulaxxi.murciaeduca.es::a4ee0321-97d7-430f-98a8-7ed13ff9a4bf" providerId="AD" clId="Web-{C2FB6734-11CB-FB4B-2BCC-5A38CE4D6A80}" dt="2025-11-02T07:05:24.876" v="29"/>
        <pc:sldMkLst>
          <pc:docMk/>
          <pc:sldMk cId="2292523160" sldId="3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081A56-CC7C-E6A3-8C00-AB421FDCFD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E5AF2-5A5A-3388-D92E-DA016151F9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FAE3-5837-4C1B-BC4B-90063F16532C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263E9F-C8DC-1F97-AA62-4AAB5BD36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E984C9-C433-F37D-714F-A22D319DF6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2C0DB-E44F-4629-AD09-AAD10AC79FD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6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2F5B8-9C38-4C2F-A3DB-B7BB22627150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01F93-ECE8-401E-83DB-A934B2073D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156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iervos.com/archivo/gadgets/replica-citizen-watch-multi-alarm-iii-diagrama-de-estados.html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iervos.com/archivo/gadgets/replica-citizen-watch-multi-alarm-iii-diagrama-de-estados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62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372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00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¿Siempre importa el orden? Depende de lo que quiera representar.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892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Cascada de interacciones, se aprecia claramente el orden porque representamos el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1452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Ejemplo ventilador</a:t>
            </a:r>
          </a:p>
          <a:p>
            <a:r>
              <a:rPr lang="es-ES" dirty="0" err="1"/>
              <a:t>Juando</a:t>
            </a:r>
            <a:r>
              <a:rPr lang="es-ES" dirty="0"/>
              <a:t> con SecuenceDiagram.org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7656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Los eventos desencadenan las transiciones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dirty="0" err="1">
                <a:solidFill>
                  <a:srgbClr val="000000"/>
                </a:solidFill>
                <a:effectLst/>
                <a:latin typeface="Open Sans"/>
                <a:ea typeface="Open Sans"/>
                <a:cs typeface="Open Sans"/>
              </a:rPr>
              <a:t>g</a:t>
            </a:r>
            <a:r>
              <a:rPr lang="es-ES" sz="1800" b="0" i="1" u="none" strike="noStrike" dirty="0" err="1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Se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 han interpretado diagramas de </a:t>
            </a:r>
            <a:r>
              <a:rPr lang="es-ES" sz="1800" b="1" i="1" u="none" strike="noStrike" dirty="0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estados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. </a:t>
            </a:r>
            <a:r>
              <a:rPr lang="es-ES" sz="1800" b="0" i="0" u="none" strike="noStrike" dirty="0" err="1">
                <a:solidFill>
                  <a:srgbClr val="000000"/>
                </a:solidFill>
                <a:effectLst/>
                <a:latin typeface="Open Sans"/>
                <a:ea typeface="Open Sans"/>
                <a:cs typeface="Open Sans"/>
              </a:rPr>
              <a:t>h</a:t>
            </a:r>
            <a:r>
              <a:rPr lang="es-ES" sz="1800" b="0" i="1" u="none" strike="noStrike" dirty="0" err="1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Se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/>
                <a:ea typeface="Tahoma"/>
                <a:cs typeface="Tahoma"/>
              </a:rPr>
              <a:t> han planteado diagramas de estados sencillos. </a:t>
            </a:r>
            <a:endParaRPr lang="es-ES">
              <a:latin typeface="Tahoma"/>
              <a:ea typeface="Tahoma"/>
              <a:cs typeface="Tahoma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3827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 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Se ha interpretado el significado de diagramas de </a:t>
            </a:r>
            <a:r>
              <a:rPr lang="es-ES" sz="1800" b="1" i="1" u="none" strike="noStrike" dirty="0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actividades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. </a:t>
            </a: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 </a:t>
            </a:r>
            <a:r>
              <a:rPr lang="es-ES" sz="1800" b="0" i="1" u="none" strike="noStrike" dirty="0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Se han elaborado diagramas de actividades sencillos. 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275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https://www.microsiervos.com/archivo/gadgets/replica-citizen-watch-multi-alarm-iii-diagrama-de-estados.html</a:t>
            </a:r>
            <a:r>
              <a:rPr lang="en-US" dirty="0"/>
              <a:t>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33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4C01-698F-8020-A3BF-31305039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AE35D8-2CE3-938B-39C3-4EB677A7E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F73480-9F54-975E-2A74-4529BB22D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https://www.microsiervos.com/archivo/gadgets/replica-citizen-watch-multi-alarm-iii-diagrama-de-estados.html</a:t>
            </a:r>
            <a:r>
              <a:rPr lang="en-US" dirty="0"/>
              <a:t> 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F8FA3-F01F-4572-D326-7FB70AF8D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493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452" y="6318780"/>
            <a:ext cx="51263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47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066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i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8707438" cy="5710555"/>
          </a:xfrm>
        </p:spPr>
        <p:txBody>
          <a:bodyPr/>
          <a:lstStyle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236981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42BE952-E59C-5FD1-133D-D2CA76C44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5" y="738161"/>
            <a:ext cx="8980860" cy="337025"/>
          </a:xfrm>
          <a:solidFill>
            <a:srgbClr val="99C63D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sz="16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1147763"/>
            <a:ext cx="8707438" cy="5446712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0396595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s-ES" dirty="0"/>
              <a:t>TAREA X</a:t>
            </a:r>
            <a:endParaRPr lang="en-US" dirty="0"/>
          </a:p>
        </p:txBody>
      </p:sp>
      <p:pic>
        <p:nvPicPr>
          <p:cNvPr id="3" name="Gráfico 2" descr="Bandeja de entrada marcada contorno">
            <a:extLst>
              <a:ext uri="{FF2B5EF4-FFF2-40B4-BE49-F238E27FC236}">
                <a16:creationId xmlns:a16="http://schemas.microsoft.com/office/drawing/2014/main" id="{6B4C136E-AFD5-F617-9436-896E0EA7B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636" y="152399"/>
            <a:ext cx="1149927" cy="11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438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4573F839-80E0-456A-B4D0-BAFED41946A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437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93C50-AD2B-485A-B3A1-D50376802F8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97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82" y="1"/>
            <a:ext cx="8032580" cy="701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8222" y="615677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589B1CF-02D4-4456-3BF5-4299A2F5FF62}"/>
              </a:ext>
            </a:extLst>
          </p:cNvPr>
          <p:cNvSpPr txBox="1">
            <a:spLocks/>
          </p:cNvSpPr>
          <p:nvPr/>
        </p:nvSpPr>
        <p:spPr>
          <a:xfrm>
            <a:off x="-10311" y="6677891"/>
            <a:ext cx="8209431" cy="188576"/>
          </a:xfrm>
          <a:prstGeom prst="rect">
            <a:avLst/>
          </a:prstGeom>
          <a:solidFill>
            <a:srgbClr val="8CBF2D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800" dirty="0"/>
              <a:t>UT04 OTROS DIAGRAMAS</a:t>
            </a:r>
            <a:endParaRPr lang="en-US" sz="800" dirty="0"/>
          </a:p>
        </p:txBody>
      </p:sp>
      <p:pic>
        <p:nvPicPr>
          <p:cNvPr id="4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C04ECA12-5463-11B2-C38D-08B15A505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372" y="6396288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52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5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id-MVo7M-E&amp;t=29s" TargetMode="External"/><Relationship Id="rId7" Type="http://schemas.openxmlformats.org/officeDocument/2006/relationships/hyperlink" Target="https://sequencediagram.org/" TargetMode="External"/><Relationship Id="rId2" Type="http://schemas.openxmlformats.org/officeDocument/2006/relationships/hyperlink" Target="https://www.youtube.com/watch?v=orvAkFFWo5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.diagrams.net/" TargetMode="External"/><Relationship Id="rId5" Type="http://schemas.openxmlformats.org/officeDocument/2006/relationships/hyperlink" Target="https://github.com/ldmoral1987/temario-ed-dam" TargetMode="External"/><Relationship Id="rId4" Type="http://schemas.openxmlformats.org/officeDocument/2006/relationships/hyperlink" Target="https://youtu.be/C8KKneiXJsg?t=148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B5ACD-B995-716B-F5F7-1C14289F1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138" y="324394"/>
            <a:ext cx="4371603" cy="1743386"/>
          </a:xfrm>
        </p:spPr>
        <p:txBody>
          <a:bodyPr/>
          <a:lstStyle/>
          <a:p>
            <a:pPr algn="l"/>
            <a:r>
              <a:rPr lang="es-ES" dirty="0"/>
              <a:t>UT2b OTROS DIAGRAMAS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DAD067-C904-9067-2E51-E86959F2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0AD6DD5-E1F6-64CE-2264-36D1A0206F5E}"/>
              </a:ext>
            </a:extLst>
          </p:cNvPr>
          <p:cNvSpPr txBox="1"/>
          <p:nvPr/>
        </p:nvSpPr>
        <p:spPr>
          <a:xfrm>
            <a:off x="6588224" y="6521934"/>
            <a:ext cx="3162497" cy="249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7"/>
              </a:lnSpc>
            </a:pP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Entornos</a:t>
            </a:r>
            <a:r>
              <a:rPr sz="1400" spc="25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</a:t>
            </a:r>
            <a:r>
              <a:rPr sz="1400" spc="10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Desarrollo</a:t>
            </a:r>
            <a:r>
              <a:rPr sz="1400" spc="-13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VCWNGD+Century Gothic"/>
                <a:cs typeface="VCWNGD+Century Gothic"/>
              </a:rPr>
              <a:t>–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1º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DA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M</a:t>
            </a:r>
            <a:endParaRPr sz="1400">
              <a:solidFill>
                <a:schemeClr val="accent4"/>
              </a:solidFill>
              <a:latin typeface="MDUHDN+Century Gothic"/>
              <a:cs typeface="MDUHDN+Century Gothic"/>
            </a:endParaRPr>
          </a:p>
        </p:txBody>
      </p:sp>
      <p:pic>
        <p:nvPicPr>
          <p:cNvPr id="3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B4540A4D-DE5D-DF8E-FCB1-EB54AB7AC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12" y="6134875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BDBF776-10F7-F619-6926-A4F7361EC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272" y="2065291"/>
            <a:ext cx="3915321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4D4E08-3CCA-9AD8-5EB3-4A563774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7D569-2E40-41FB-F9B2-C226208559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00050">
              <a:buFont typeface="+mj-lt"/>
              <a:buAutoNum type="arabicPeriod"/>
            </a:pPr>
            <a:r>
              <a:rPr lang="es-ES" dirty="0"/>
              <a:t>Desarrollo de software, documentos y diagramas</a:t>
            </a:r>
          </a:p>
          <a:p>
            <a:pPr marL="400050">
              <a:buFont typeface="+mj-lt"/>
              <a:buAutoNum type="arabicPeriod"/>
            </a:pPr>
            <a:r>
              <a:rPr lang="es-ES" dirty="0"/>
              <a:t>Diagramas de secuencia</a:t>
            </a:r>
          </a:p>
          <a:p>
            <a:pPr marL="400050">
              <a:buFont typeface="+mj-lt"/>
              <a:buAutoNum type="arabicPeriod"/>
            </a:pPr>
            <a:r>
              <a:rPr lang="es-ES" dirty="0"/>
              <a:t>Diagramas de Actividades</a:t>
            </a:r>
          </a:p>
          <a:p>
            <a:pPr marL="400050">
              <a:buFont typeface="+mj-lt"/>
              <a:buAutoNum type="arabicPeriod"/>
            </a:pPr>
            <a:r>
              <a:rPr lang="es-ES" dirty="0"/>
              <a:t>Diagramas de estado</a:t>
            </a:r>
          </a:p>
          <a:p>
            <a:pPr marL="400050">
              <a:buFont typeface="+mj-lt"/>
              <a:buAutoNum type="arabicPeriod"/>
            </a:pPr>
            <a:r>
              <a:rPr lang="es-ES" dirty="0"/>
              <a:t>Recursos</a:t>
            </a:r>
          </a:p>
          <a:p>
            <a:pPr lvl="1"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E806B4-64A7-7098-4FE2-E40610F1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74545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2D7E460-3301-F563-D75E-6947A92E3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8281" y="965924"/>
            <a:ext cx="8707438" cy="2589634"/>
          </a:xfrm>
        </p:spPr>
        <p:txBody>
          <a:bodyPr/>
          <a:lstStyle/>
          <a:p>
            <a:r>
              <a:rPr lang="es-ES" dirty="0"/>
              <a:t>Análisis:</a:t>
            </a:r>
          </a:p>
          <a:p>
            <a:pPr lvl="1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Diagramas de casos de uso</a:t>
            </a:r>
          </a:p>
          <a:p>
            <a:r>
              <a:rPr lang="es-ES" dirty="0"/>
              <a:t>Diseño</a:t>
            </a:r>
          </a:p>
          <a:p>
            <a:pPr lvl="1"/>
            <a:r>
              <a:rPr lang="es-ES" dirty="0"/>
              <a:t>Diagramas de secuencia</a:t>
            </a:r>
          </a:p>
          <a:p>
            <a:pPr lvl="1"/>
            <a:r>
              <a:rPr lang="es-ES" dirty="0"/>
              <a:t>Diagramas de estado, actividad y flujo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 dirty="0"/>
              <a:t>1. INTRODUCCIÓN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83351C-4D5E-30A0-6864-D1F246ECB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kern="1200" dirty="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(De la UT 02: Desarrollo de software)</a:t>
            </a:r>
            <a:r>
              <a:rPr lang="es-ES" dirty="0"/>
              <a:t> SE UTILIZAN DIAGRAMAS</a:t>
            </a:r>
            <a:endParaRPr lang="es-ES" baseline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3D56207-4A7B-BF17-1FCB-0722A8A5A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28" y="3196804"/>
            <a:ext cx="6063249" cy="26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9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4316A8-3740-7724-8BAB-BBD30084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96B52E-494D-3D8C-B385-324FE2A578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Diagrama de secuencia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C811E-805D-D9E6-EA65-A467FD5E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68AAB4-2BBE-5A67-CCAB-C55BC9C3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968" y="621792"/>
            <a:ext cx="3915321" cy="470600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EB64B3D-832D-B41A-D283-DFCC27FF75CA}"/>
              </a:ext>
            </a:extLst>
          </p:cNvPr>
          <p:cNvSpPr/>
          <p:nvPr/>
        </p:nvSpPr>
        <p:spPr>
          <a:xfrm>
            <a:off x="163140" y="5327799"/>
            <a:ext cx="83631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El orden importa: tiempo</a:t>
            </a:r>
          </a:p>
        </p:txBody>
      </p:sp>
    </p:spTree>
    <p:extLst>
      <p:ext uri="{BB962C8B-B14F-4D97-AF65-F5344CB8AC3E}">
        <p14:creationId xmlns:p14="http://schemas.microsoft.com/office/powerpoint/2010/main" val="363463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7FD6D1-8CE4-C76F-865D-8B3A6127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5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8A6193-B6E2-EA1B-7C5F-A2286A7093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Permiten añadir la</a:t>
            </a:r>
            <a:r>
              <a:rPr lang="es-ES" baseline="0" dirty="0"/>
              <a:t> variable TIEMPO </a:t>
            </a:r>
            <a:r>
              <a:rPr lang="es-ES" sz="1400" baseline="0" dirty="0">
                <a:solidFill>
                  <a:srgbClr val="00B0F0"/>
                </a:solidFill>
              </a:rPr>
              <a:t>(dimensión</a:t>
            </a:r>
            <a:r>
              <a:rPr lang="es-ES" sz="1400" dirty="0">
                <a:solidFill>
                  <a:srgbClr val="00B0F0"/>
                </a:solidFill>
              </a:rPr>
              <a:t> y)</a:t>
            </a:r>
            <a:endParaRPr lang="es-ES" sz="1400" baseline="0" dirty="0">
              <a:solidFill>
                <a:srgbClr val="00B0F0"/>
              </a:solidFill>
            </a:endParaRPr>
          </a:p>
          <a:p>
            <a:r>
              <a:rPr lang="es-ES" baseline="0" dirty="0"/>
              <a:t>Secuencian y temporizan las interacciones en el sistema</a:t>
            </a:r>
          </a:p>
          <a:p>
            <a:r>
              <a:rPr lang="es-ES" dirty="0"/>
              <a:t>Detallan los </a:t>
            </a:r>
            <a:r>
              <a:rPr lang="es-ES" b="1" dirty="0">
                <a:solidFill>
                  <a:srgbClr val="FF0000"/>
                </a:solidFill>
              </a:rPr>
              <a:t>casos de uso </a:t>
            </a:r>
            <a:r>
              <a:rPr lang="es-ES" dirty="0"/>
              <a:t>(1 CU → 1 SECUENCIA)</a:t>
            </a:r>
            <a:endParaRPr lang="es-ES" b="1" baseline="0" dirty="0">
              <a:solidFill>
                <a:srgbClr val="FF0000"/>
              </a:solidFill>
            </a:endParaRPr>
          </a:p>
          <a:p>
            <a:r>
              <a:rPr lang="es-ES" baseline="0" dirty="0"/>
              <a:t>ELEMENTOS: </a:t>
            </a:r>
            <a:r>
              <a:rPr lang="es-ES" sz="1400" dirty="0">
                <a:solidFill>
                  <a:schemeClr val="accent4"/>
                </a:solidFill>
              </a:rPr>
              <a:t>(dimensión x)</a:t>
            </a:r>
            <a:endParaRPr lang="es-ES" sz="1400" baseline="0" dirty="0">
              <a:solidFill>
                <a:schemeClr val="accent4"/>
              </a:solidFill>
            </a:endParaRPr>
          </a:p>
          <a:p>
            <a:pPr lvl="1"/>
            <a:r>
              <a:rPr lang="es-ES" dirty="0"/>
              <a:t>OBJETOS</a:t>
            </a:r>
            <a:r>
              <a:rPr lang="es-ES" baseline="0" dirty="0"/>
              <a:t> y ACTORES: originan la secuencia de mensajes</a:t>
            </a:r>
          </a:p>
          <a:p>
            <a:pPr lvl="1"/>
            <a:r>
              <a:rPr lang="es-ES" baseline="0" dirty="0"/>
              <a:t>MENSAJES: representan la interacción entre dos objetos</a:t>
            </a:r>
          </a:p>
          <a:p>
            <a:pPr lvl="2"/>
            <a:r>
              <a:rPr lang="es-ES" dirty="0"/>
              <a:t>Un objeto</a:t>
            </a:r>
            <a:r>
              <a:rPr lang="es-ES" baseline="0" dirty="0"/>
              <a:t> puede interaccionar consigo mismo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300239-6BDC-4818-45BD-A3D430E3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5.</a:t>
            </a:r>
            <a:r>
              <a:rPr lang="es-ES" baseline="0" dirty="0"/>
              <a:t> </a:t>
            </a:r>
            <a:r>
              <a:rPr lang="es-ES" dirty="0"/>
              <a:t>Diagramas de secuencia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1940E8-AA9E-C1D2-96B4-01237B3D3B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88"/>
          <a:stretch/>
        </p:blipFill>
        <p:spPr>
          <a:xfrm>
            <a:off x="6160913" y="4404752"/>
            <a:ext cx="2615617" cy="15354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05E618-42E1-29D9-8F9C-2C9AD3ECF8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254"/>
          <a:stretch/>
        </p:blipFill>
        <p:spPr>
          <a:xfrm>
            <a:off x="6810103" y="2447649"/>
            <a:ext cx="1966427" cy="1681957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40564B9-84B3-C403-AEFC-F56EBC3545BD}"/>
              </a:ext>
            </a:extLst>
          </p:cNvPr>
          <p:cNvGrpSpPr/>
          <p:nvPr/>
        </p:nvGrpSpPr>
        <p:grpSpPr>
          <a:xfrm>
            <a:off x="694481" y="3429000"/>
            <a:ext cx="4741615" cy="3045650"/>
            <a:chOff x="1691680" y="4293096"/>
            <a:chExt cx="3744416" cy="2181554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6DE9303-BBAD-AF25-47B6-5E084C1601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47" r="1540"/>
            <a:stretch/>
          </p:blipFill>
          <p:spPr>
            <a:xfrm>
              <a:off x="1762252" y="4404752"/>
              <a:ext cx="3298088" cy="2069898"/>
            </a:xfrm>
            <a:prstGeom prst="rect">
              <a:avLst/>
            </a:prstGeom>
          </p:spPr>
        </p:pic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6ED21D35-6E87-C277-9D13-E1CE25DE20F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/>
            <p:nvPr/>
          </p:nvCxnSpPr>
          <p:spPr>
            <a:xfrm>
              <a:off x="2051720" y="4293096"/>
              <a:ext cx="338437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C1F9986A-CD1E-25EE-0C0E-5C81073F2C38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/>
            <p:nvPr/>
          </p:nvCxnSpPr>
          <p:spPr>
            <a:xfrm>
              <a:off x="1691680" y="4293096"/>
              <a:ext cx="0" cy="2181554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9880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F78E2-1A5E-B861-6F6B-B3E36BB4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6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85E2DE-FE88-26D0-2548-616EC84B54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Línea de vida de un objeto</a:t>
            </a:r>
          </a:p>
          <a:p>
            <a:pPr lvl="1"/>
            <a:r>
              <a:rPr lang="es-ES" dirty="0"/>
              <a:t>Representa el tiempo de vida del objeto</a:t>
            </a:r>
          </a:p>
          <a:p>
            <a:pPr lvl="1"/>
            <a:r>
              <a:rPr lang="es-ES" dirty="0"/>
              <a:t>El</a:t>
            </a:r>
            <a:r>
              <a:rPr lang="es-ES" baseline="0" dirty="0"/>
              <a:t> objeto cambiará de estado e interaccionará con otros</a:t>
            </a:r>
          </a:p>
          <a:p>
            <a:pPr lvl="0"/>
            <a:r>
              <a:rPr lang="es-ES" dirty="0"/>
              <a:t>Mensajes: </a:t>
            </a:r>
          </a:p>
          <a:p>
            <a:pPr marL="457200" lvl="1" indent="0">
              <a:buNone/>
            </a:pPr>
            <a:r>
              <a:rPr lang="es-ES" b="1" dirty="0"/>
              <a:t>Simples</a:t>
            </a:r>
            <a:r>
              <a:rPr lang="es-ES" dirty="0"/>
              <a:t>: pasan el hilo de ejecución de un objeto a otro</a:t>
            </a:r>
          </a:p>
          <a:p>
            <a:pPr marL="457200" lvl="1" indent="0">
              <a:buNone/>
            </a:pPr>
            <a:r>
              <a:rPr lang="es-ES" dirty="0"/>
              <a:t>HABITUALMENTE nunca habrá dos mensajes al mismo Tiempo</a:t>
            </a:r>
          </a:p>
          <a:p>
            <a:pPr lvl="2"/>
            <a:r>
              <a:rPr lang="es-ES" b="1" dirty="0">
                <a:solidFill>
                  <a:schemeClr val="accent3"/>
                </a:solidFill>
              </a:rPr>
              <a:t>NO DEBERÍA TENER DOS</a:t>
            </a:r>
          </a:p>
          <a:p>
            <a:pPr marL="914400" lvl="2" indent="0">
              <a:buNone/>
            </a:pPr>
            <a:r>
              <a:rPr lang="es-ES" b="1" dirty="0">
                <a:solidFill>
                  <a:schemeClr val="accent3"/>
                </a:solidFill>
              </a:rPr>
              <a:t>FLECHAS A LA MISMA ALTURA</a:t>
            </a:r>
          </a:p>
          <a:p>
            <a:pPr marL="914400" lvl="2" indent="0">
              <a:buNone/>
            </a:pPr>
            <a:r>
              <a:rPr lang="es-ES" b="1" dirty="0">
                <a:solidFill>
                  <a:schemeClr val="accent3"/>
                </a:solidFill>
              </a:rPr>
              <a:t>(ejemplo ventilador)</a:t>
            </a:r>
          </a:p>
          <a:p>
            <a:pPr marL="914400" lvl="2" indent="0">
              <a:buNone/>
            </a:pPr>
            <a:endParaRPr lang="es-ES" b="1" dirty="0">
              <a:solidFill>
                <a:schemeClr val="accent3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AD5347-7056-A04C-6B9C-EC7072A6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Diagramas de</a:t>
            </a:r>
            <a:r>
              <a:rPr lang="es-ES" baseline="0" dirty="0"/>
              <a:t> secuencia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994F069-CBE1-A1A2-A9D1-21BC53880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ELEMENTOS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FA64C52-8FBE-4F77-9877-154230AD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815" y="744659"/>
            <a:ext cx="986754" cy="2376264"/>
          </a:xfrm>
          <a:prstGeom prst="rect">
            <a:avLst/>
          </a:prstGeom>
          <a:ln w="3175">
            <a:solidFill>
              <a:srgbClr val="0070C0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FB396FF-010A-E286-EB76-6537F0C62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18" y="3247813"/>
            <a:ext cx="4812307" cy="31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65BB71-5FAD-A7C1-DF2C-DB3D6DD0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7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193D6E-FC93-9D15-4E43-13A0112BF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088" y="883920"/>
            <a:ext cx="8707438" cy="5710555"/>
          </a:xfrm>
        </p:spPr>
        <p:txBody>
          <a:bodyPr/>
          <a:lstStyle/>
          <a:p>
            <a:r>
              <a:rPr lang="es-ES" dirty="0"/>
              <a:t>Elementos opcionales</a:t>
            </a:r>
          </a:p>
          <a:p>
            <a:pPr marL="457200" lvl="1" indent="0">
              <a:buNone/>
            </a:pPr>
            <a:r>
              <a:rPr lang="es-ES" sz="1200" dirty="0"/>
              <a:t>(solo se representan si aportan valor)</a:t>
            </a:r>
          </a:p>
          <a:p>
            <a:pPr marL="457200" lvl="1" indent="0">
              <a:buNone/>
            </a:pPr>
            <a:endParaRPr lang="es-ES" sz="1200" dirty="0"/>
          </a:p>
          <a:p>
            <a:pPr marL="457200" lvl="1" indent="0">
              <a:buNone/>
            </a:pPr>
            <a:endParaRPr lang="es-ES" sz="1200" dirty="0"/>
          </a:p>
          <a:p>
            <a:pPr marL="457200" lvl="1" indent="0">
              <a:buNone/>
            </a:pPr>
            <a:endParaRPr lang="es-ES" sz="1200" dirty="0"/>
          </a:p>
          <a:p>
            <a:pPr marL="457200" lvl="1" indent="0">
              <a:buNone/>
            </a:pPr>
            <a:endParaRPr lang="es-ES" sz="1200" dirty="0"/>
          </a:p>
          <a:p>
            <a:pPr lvl="1"/>
            <a:r>
              <a:rPr lang="es-ES" dirty="0"/>
              <a:t>Activación</a:t>
            </a:r>
          </a:p>
          <a:p>
            <a:pPr lvl="2"/>
            <a:r>
              <a:rPr lang="es-ES" dirty="0"/>
              <a:t>Rectángulo que representa el tiempo durante</a:t>
            </a:r>
          </a:p>
          <a:p>
            <a:pPr marL="914400" lvl="2" indent="0">
              <a:buNone/>
            </a:pPr>
            <a:r>
              <a:rPr lang="es-ES" dirty="0"/>
              <a:t> el cual se ejecuta la función</a:t>
            </a:r>
          </a:p>
          <a:p>
            <a:pPr lvl="1"/>
            <a:r>
              <a:rPr lang="es-ES" dirty="0"/>
              <a:t>Mensaje de retorno</a:t>
            </a:r>
          </a:p>
          <a:p>
            <a:pPr lvl="2"/>
            <a:r>
              <a:rPr lang="es-ES" dirty="0"/>
              <a:t>Confirmación, devolución del foco</a:t>
            </a:r>
          </a:p>
          <a:p>
            <a:pPr lvl="1"/>
            <a:r>
              <a:rPr lang="es-ES" dirty="0"/>
              <a:t>¿Cómo sería la comunicación con el ventilador</a:t>
            </a:r>
          </a:p>
          <a:p>
            <a:pPr marL="457200" lvl="1" indent="0">
              <a:buNone/>
            </a:pPr>
            <a:r>
              <a:rPr lang="es-ES" dirty="0"/>
              <a:t>de techo de clase a través de su mando?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0AB3F0-126B-2D5E-8793-B40C5070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Diagramas de secuencia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095C0C-2155-D124-E867-8DBC86F3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ELEMENTOS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4AE58C-6581-9D15-0C36-6156D5BC5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68" y="1343952"/>
            <a:ext cx="3915321" cy="4706007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A7F6E5F-AA0B-FE54-9D8A-C835FDB3A9B8}"/>
              </a:ext>
            </a:extLst>
          </p:cNvPr>
          <p:cNvCxnSpPr>
            <a:cxnSpLocks/>
          </p:cNvCxnSpPr>
          <p:nvPr/>
        </p:nvCxnSpPr>
        <p:spPr>
          <a:xfrm>
            <a:off x="5004048" y="3429000"/>
            <a:ext cx="2930912" cy="67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74C76BB-7C88-6460-2900-2F7515C96FD8}"/>
              </a:ext>
            </a:extLst>
          </p:cNvPr>
          <p:cNvCxnSpPr>
            <a:cxnSpLocks/>
          </p:cNvCxnSpPr>
          <p:nvPr/>
        </p:nvCxnSpPr>
        <p:spPr>
          <a:xfrm flipV="1">
            <a:off x="4200939" y="4373217"/>
            <a:ext cx="2663687" cy="92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194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6130B7-B1FF-CAF4-03B4-0EC97777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8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40333-50F7-3E68-759E-ED0299A93C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/>
              <a:t>Interacción usuario, mando y ventilador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3AD150-7CAA-92B5-EFE9-A10D6D7C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Diagramas</a:t>
            </a:r>
            <a:r>
              <a:rPr lang="es-ES" baseline="0" dirty="0"/>
              <a:t> de secuencia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A790ABB-3617-779B-5808-208E8347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kern="1200" dirty="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Ejemplo 1: </a:t>
            </a:r>
            <a:r>
              <a:rPr lang="es-ES" sz="180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inventa otro ejemplo con SecuenceDiagram.org</a:t>
            </a:r>
            <a:endParaRPr lang="es-ES" sz="1800" dirty="0">
              <a:solidFill>
                <a:srgbClr val="FF0000"/>
              </a:solidFill>
              <a:effectLst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D7F797D-399C-0D2C-FB49-A27C3D0FC0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>
          <a:xfrm>
            <a:off x="1829138" y="1872297"/>
            <a:ext cx="4680520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3A5B0B-4D2B-AAAA-C621-914FA33F7E42}"/>
              </a:ext>
            </a:extLst>
          </p:cNvPr>
          <p:cNvSpPr txBox="1"/>
          <p:nvPr/>
        </p:nvSpPr>
        <p:spPr>
          <a:xfrm>
            <a:off x="2304306" y="1482317"/>
            <a:ext cx="4104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accent4"/>
                </a:solidFill>
              </a:rPr>
              <a:t>Dimensión x: objetos, mensajes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5344C8E-0727-2FC0-8F78-7F88B3DD93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>
          <a:xfrm>
            <a:off x="1158465" y="2553937"/>
            <a:ext cx="0" cy="360283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E09DC3F-BD73-0576-C237-6D096921B3ED}"/>
              </a:ext>
            </a:extLst>
          </p:cNvPr>
          <p:cNvSpPr txBox="1"/>
          <p:nvPr/>
        </p:nvSpPr>
        <p:spPr>
          <a:xfrm rot="5400000">
            <a:off x="-713888" y="4443649"/>
            <a:ext cx="3149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rgbClr val="00B0F0"/>
                </a:solidFill>
              </a:rPr>
              <a:t>Dimensión y: tiempo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DB8017F-E0F9-E4D4-BF5C-5F23A77A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412" y="1957806"/>
            <a:ext cx="5598245" cy="453016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485B0ED-C1E2-F567-5127-70497427504B}"/>
              </a:ext>
            </a:extLst>
          </p:cNvPr>
          <p:cNvCxnSpPr/>
          <p:nvPr/>
        </p:nvCxnSpPr>
        <p:spPr>
          <a:xfrm flipH="1" flipV="1">
            <a:off x="1859152" y="4372804"/>
            <a:ext cx="2077321" cy="5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74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0309D1-9195-3F9B-FD4E-245F16D8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9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FF9BF7-4C1C-0C57-B27F-08231093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Diagramas</a:t>
            </a:r>
            <a:r>
              <a:rPr lang="es-ES" baseline="0" dirty="0"/>
              <a:t> de secuencia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A957C-B834-EF70-037F-87153CE59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 2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719DBF-EE82-8694-91BA-D2BF8B28E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0" y="745455"/>
            <a:ext cx="6570330" cy="570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8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4DFA-79E9-9CE3-C3B8-71098AC9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8E3D56E-1B1A-EF97-050C-EFB3292CB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22" y="883920"/>
            <a:ext cx="6147324" cy="5377984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992CCC-93B0-366C-A8F4-9FFA9A6F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10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B57D26-BDA1-FA64-74D6-02DCB5CB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Diagramas</a:t>
            </a:r>
            <a:r>
              <a:rPr lang="es-ES" baseline="0" dirty="0"/>
              <a:t> de secuencia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61886-3949-2E1C-E367-9322C528C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 3</a:t>
            </a:r>
          </a:p>
        </p:txBody>
      </p:sp>
    </p:spTree>
    <p:extLst>
      <p:ext uri="{BB962C8B-B14F-4D97-AF65-F5344CB8AC3E}">
        <p14:creationId xmlns:p14="http://schemas.microsoft.com/office/powerpoint/2010/main" val="329800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EA558A-C941-421E-7A80-FB4F5F37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36" y="1465553"/>
            <a:ext cx="5434118" cy="505634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19D1E-6649-6D07-51F6-63DA24A3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11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064C43-42FF-74E3-08FB-671FF239E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Pueden ser más complejos, detallando la interacción entre funciones, clases</a:t>
            </a:r>
            <a:r>
              <a:rPr lang="es-ES" baseline="0" dirty="0"/>
              <a:t> y objetos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12AFC-3BF0-3D2E-F87E-7A1858E5D29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29D5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5. Diagramas de secuencia</a:t>
            </a:r>
          </a:p>
        </p:txBody>
      </p:sp>
    </p:spTree>
    <p:extLst>
      <p:ext uri="{BB962C8B-B14F-4D97-AF65-F5344CB8AC3E}">
        <p14:creationId xmlns:p14="http://schemas.microsoft.com/office/powerpoint/2010/main" val="233673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2F2CB4-1335-8B2D-1EE4-D33C8E5C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12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C8410E-0545-8959-3559-84841A36BE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 eaLnBrk="1" latinLnBrk="0" hangingPunct="1"/>
            <a:r>
              <a:rPr lang="es-ES" dirty="0"/>
              <a:t>Bloque</a:t>
            </a:r>
            <a:r>
              <a:rPr lang="es-ES" sz="1800" kern="1200" dirty="0">
                <a:effectLst/>
                <a:latin typeface="+mn-lt"/>
                <a:ea typeface="+mn-ea"/>
                <a:cs typeface="+mn-cs"/>
              </a:rPr>
              <a:t> Alt:</a:t>
            </a:r>
            <a:endParaRPr lang="es-ES" dirty="0">
              <a:effectLst/>
            </a:endParaRPr>
          </a:p>
          <a:p>
            <a:pPr lvl="1"/>
            <a:r>
              <a:rPr lang="es-ES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se ejecuta un bloque u otro dependiendo de una condición </a:t>
            </a:r>
            <a:endParaRPr lang="es-ES" dirty="0">
              <a:effectLst/>
            </a:endParaRPr>
          </a:p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FCDC08-9C5D-AEC2-3745-399708B4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</a:t>
            </a:r>
            <a:r>
              <a:rPr lang="es-ES" baseline="0" dirty="0"/>
              <a:t> Diagramas de secuencia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1F567C4-18EC-B334-7FCB-307394DA4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BLOQUES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F7E8DA4-AC96-2275-59DF-B5D4BD015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82" y="1600423"/>
            <a:ext cx="4942501" cy="463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48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2F2CB4-1335-8B2D-1EE4-D33C8E5C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13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C8410E-0545-8959-3559-84841A36BE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Bloque </a:t>
            </a:r>
            <a:r>
              <a:rPr lang="es-ES" dirty="0" err="1"/>
              <a:t>Loop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se repite una acción un número de veces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FCDC08-9C5D-AEC2-3745-399708B4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</a:t>
            </a:r>
            <a:r>
              <a:rPr lang="es-ES" baseline="0" dirty="0"/>
              <a:t> Diagramas de secuencia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BF9DB66-7C3F-C94C-A676-9F500B19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BLOQUES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BF6325-DEAB-A4C1-1F9B-150915FC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32027"/>
            <a:ext cx="6592220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1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2F2CB4-1335-8B2D-1EE4-D33C8E5C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14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C8410E-0545-8959-3559-84841A36BE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6988313" cy="5972683"/>
          </a:xfrm>
        </p:spPr>
        <p:txBody>
          <a:bodyPr/>
          <a:lstStyle/>
          <a:p>
            <a:r>
              <a:rPr lang="es-ES" dirty="0"/>
              <a:t>ED6cd0401:</a:t>
            </a:r>
          </a:p>
          <a:p>
            <a:pPr lvl="1"/>
            <a:r>
              <a:rPr lang="es-ES" dirty="0"/>
              <a:t>Realiza los diagramas de secuencia de los Casos de Uso CU 1, CU 2 y CU 3 del sistema de gestión de bibliotecas de la UT 3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FCDC08-9C5D-AEC2-3745-399708B4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</a:t>
            </a:r>
            <a:r>
              <a:rPr lang="es-ES" baseline="0" dirty="0"/>
              <a:t> Diagramas de secuencia TAREA </a:t>
            </a:r>
            <a:r>
              <a:rPr lang="es-ES" dirty="0"/>
              <a:t>ED6cd0401 BIBLIOTECA</a:t>
            </a:r>
          </a:p>
        </p:txBody>
      </p:sp>
    </p:spTree>
    <p:extLst>
      <p:ext uri="{BB962C8B-B14F-4D97-AF65-F5344CB8AC3E}">
        <p14:creationId xmlns:p14="http://schemas.microsoft.com/office/powerpoint/2010/main" val="136305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761992-94C0-0501-43D5-45BB5AF3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6A73D8-7558-2D31-52D2-B3A0AFFEFC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permiten modelar el comportamiento dinámico de un sistema</a:t>
            </a:r>
          </a:p>
          <a:p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cambia de estado en respuesta a diferentes eventos</a:t>
            </a:r>
            <a:endParaRPr lang="es-ES" dirty="0">
              <a:solidFill>
                <a:srgbClr val="000000"/>
              </a:solidFill>
              <a:latin typeface="-apple-system"/>
            </a:endParaRPr>
          </a:p>
          <a:p>
            <a:r>
              <a:rPr lang="es-ES" dirty="0"/>
              <a:t>Elementos:</a:t>
            </a:r>
          </a:p>
          <a:p>
            <a:pPr lvl="1"/>
            <a:r>
              <a:rPr lang="es-ES" dirty="0"/>
              <a:t>Estados</a:t>
            </a:r>
          </a:p>
          <a:p>
            <a:pPr lvl="1"/>
            <a:r>
              <a:rPr lang="es-ES" dirty="0"/>
              <a:t>Transiciones</a:t>
            </a:r>
          </a:p>
          <a:p>
            <a:pPr lvl="1"/>
            <a:r>
              <a:rPr lang="es-ES" dirty="0"/>
              <a:t>Estado Inicial y final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6BE3EC3-DDBE-3435-489B-788EEA57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Diagramas de estados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5FE5B1-FECD-0248-85A9-A5FDCC3B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414" y="2231165"/>
            <a:ext cx="358190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8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761992-94C0-0501-43D5-45BB5AF3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6A73D8-7558-2D31-52D2-B3A0AFFEFC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Consideremos un ciclo de vida simplificado de un pedido en un sistema de compras en línea. Este objeto "Pedido" podría tener los siguientes estados y transiciones:</a:t>
            </a:r>
          </a:p>
          <a:p>
            <a:r>
              <a:rPr lang="es-E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Pendiente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El pedido ha sido creado, pero no confirmado.</a:t>
            </a:r>
          </a:p>
          <a:p>
            <a:r>
              <a:rPr lang="es-E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Procesando*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El pedido ha sido confirmado y se está preparando para su envío.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Entregado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El pedido ha sido recibido por el cliente.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6BE3EC3-DDBE-3435-489B-788EEA57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Diagramas de estados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855C7-5243-D951-7783-7B6FD383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774D82-204D-1481-6594-609A6FD7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66" y="3477217"/>
            <a:ext cx="6264128" cy="267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84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2EF446-7958-594E-CC44-BFF5B463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EF3C7-3F79-4D38-2943-03C7F8EC9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Actividades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Son las acciones o tareas dentro del proceso, representadas como rectángulos con bordes redondeados. Ejemplos de actividades incluyen "Revisar solicitud", "Enviar notificación" o "Generar reporte".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Flujo de Control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Representado por flechas, indica el orden en que se ejecutan las actividades, mostrando la secuencia del proceso desde el inicio hasta el fin.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Nodos de Decisión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Estos nodos se representan con rombos y muestran los puntos donde el flujo toma un camino dependiendo de una condición. Por ejemplo, una decisión puede dividir el flujo en "Aprobado" o "Rechazado".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 de Inicio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Representado por un círculo negro, marca el inicio del proceso. Es único y muestra el punto de partida del flujo de actividades.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 de Fin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Representado por un círculo negro con un borde, señala el final del proceso. Puede haber varios nodos de fin si hay diferentes resultados posibles.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Bifurcación y Unión (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-apple-system"/>
              </a:rPr>
              <a:t>Fork</a:t>
            </a: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-apple-system"/>
              </a:rPr>
              <a:t>Join</a:t>
            </a: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La bifurcación se muestra con líneas horizontales o verticales que dividen el flujo en varios caminos, permitiendo la ejecución de actividades en paralelo. La unión sincroniza estos caminos en un solo flujo.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Objetos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Representados como rectángulos, muestran los datos u objetos que se utilizan o modifican en el proceso. Se usan para representar entradas y salidas de datos entre actividades.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B76212B-A1B3-99DD-7703-FAFD6EB0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Diagrama de actividades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D9B65F4-C9F0-3340-134D-B44298D6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Elementos</a:t>
            </a:r>
          </a:p>
        </p:txBody>
      </p:sp>
    </p:spTree>
    <p:extLst>
      <p:ext uri="{BB962C8B-B14F-4D97-AF65-F5344CB8AC3E}">
        <p14:creationId xmlns:p14="http://schemas.microsoft.com/office/powerpoint/2010/main" val="68341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2EF446-7958-594E-CC44-BFF5B463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FEF3C7-3F79-4D38-2943-03C7F8EC9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Actividades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Flujo de Control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Nodos de Decisión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 de Inicio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Nodo de Fin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Bifurcación y Unión (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-apple-system"/>
              </a:rPr>
              <a:t>Fork</a:t>
            </a: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-apple-system"/>
              </a:rPr>
              <a:t>Join</a:t>
            </a: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Objetos</a:t>
            </a:r>
            <a:r>
              <a:rPr lang="es-ES" b="0" i="0" dirty="0">
                <a:solidFill>
                  <a:srgbClr val="000000"/>
                </a:solidFill>
                <a:effectLst/>
                <a:latin typeface="-apple-system"/>
              </a:rPr>
              <a:t>:</a:t>
            </a:r>
            <a:endParaRPr lang="es-ES" b="0" i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B76212B-A1B3-99DD-7703-FAFD6EB0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Diagrama de actividades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D9B65F4-C9F0-3340-134D-B44298D6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Elementos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5DB040-3CDA-2208-6A61-F81113C7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306" y="427408"/>
            <a:ext cx="4485040" cy="572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65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68FC639-8CE7-2428-E33D-8F3F8CE9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1D4BE9-8344-7EBD-9ABD-505A76B78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Nodo inicio</a:t>
            </a:r>
          </a:p>
          <a:p>
            <a:r>
              <a:rPr lang="es-ES" dirty="0"/>
              <a:t>Actividad: seleccionar productos</a:t>
            </a:r>
          </a:p>
          <a:p>
            <a:r>
              <a:rPr lang="es-ES" dirty="0"/>
              <a:t>Actividad: agregar al carrito</a:t>
            </a:r>
          </a:p>
          <a:p>
            <a:r>
              <a:rPr lang="es-ES" dirty="0"/>
              <a:t>Actividad: realizar el pago</a:t>
            </a:r>
          </a:p>
          <a:p>
            <a:r>
              <a:rPr lang="es-ES" dirty="0"/>
              <a:t>Decisión: </a:t>
            </a:r>
          </a:p>
          <a:p>
            <a:pPr lvl="1"/>
            <a:r>
              <a:rPr lang="es-ES" dirty="0"/>
              <a:t>Aprobado</a:t>
            </a:r>
          </a:p>
          <a:p>
            <a:pPr lvl="2"/>
            <a:r>
              <a:rPr lang="es-ES" dirty="0"/>
              <a:t>ACT: Verificar inventarios</a:t>
            </a:r>
          </a:p>
          <a:p>
            <a:pPr lvl="2"/>
            <a:r>
              <a:rPr lang="es-ES" dirty="0"/>
              <a:t>ACT: actualizar pedido y confirmar</a:t>
            </a:r>
          </a:p>
          <a:p>
            <a:pPr lvl="2"/>
            <a:r>
              <a:rPr lang="es-ES" dirty="0"/>
              <a:t>ACT: envío de recibo</a:t>
            </a:r>
          </a:p>
          <a:p>
            <a:pPr lvl="1"/>
            <a:r>
              <a:rPr lang="es-ES" dirty="0"/>
              <a:t>No aprobado</a:t>
            </a:r>
          </a:p>
          <a:p>
            <a:pPr lvl="2"/>
            <a:r>
              <a:rPr lang="es-ES" dirty="0"/>
              <a:t>ACT: Notificar al cliente</a:t>
            </a:r>
          </a:p>
          <a:p>
            <a:r>
              <a:rPr lang="es-ES" dirty="0"/>
              <a:t>FIN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F2E988-5D53-3187-11C4-D7217871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Diagrama de actividades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558F731-D0B7-45B8-5F02-EEA80DD50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024327-018A-F2BC-023B-E36461EF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810" y="745455"/>
            <a:ext cx="45910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20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FFC93DE-356C-9004-944C-2667C84B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F3A4586-48F8-E669-FE21-DE5DB38C11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Inventa un diagrama de estado y un diagrama de actividades</a:t>
            </a:r>
          </a:p>
          <a:p>
            <a:pPr lvl="1"/>
            <a:r>
              <a:rPr lang="es-ES" dirty="0"/>
              <a:t>Enunciado completo en el repositorio</a:t>
            </a:r>
            <a:endParaRPr lang="es-ES"/>
          </a:p>
          <a:p>
            <a:r>
              <a:rPr lang="es-ES" dirty="0"/>
              <a:t>Crea los planteamientos y enúncialos</a:t>
            </a:r>
            <a:endParaRPr lang="es-ES"/>
          </a:p>
          <a:p>
            <a:r>
              <a:rPr lang="es-ES" dirty="0"/>
              <a:t>Genera los diagramas correspondientes</a:t>
            </a:r>
            <a:endParaRPr lang="es-ES"/>
          </a:p>
          <a:p>
            <a:r>
              <a:rPr lang="es-ES" dirty="0"/>
              <a:t>Entrega en </a:t>
            </a:r>
            <a:r>
              <a:rPr lang="es-ES" dirty="0" err="1"/>
              <a:t>pdf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1EAD6C0-08AA-6507-F61F-C9C4B83C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TAREA ED6efgh0402 </a:t>
            </a:r>
          </a:p>
        </p:txBody>
      </p:sp>
    </p:spTree>
    <p:extLst>
      <p:ext uri="{BB962C8B-B14F-4D97-AF65-F5344CB8AC3E}">
        <p14:creationId xmlns:p14="http://schemas.microsoft.com/office/powerpoint/2010/main" val="3753997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61A08A9-F06D-6F73-C983-B2A43E60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21</a:t>
            </a:fld>
            <a:endParaRPr lang="en-US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E672CE3-414F-1E3C-9928-F4B6B7568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Diagramas de casos de uso </a:t>
            </a:r>
            <a:r>
              <a:rPr lang="es-ES" dirty="0">
                <a:hlinkClick r:id="rId2"/>
              </a:rPr>
              <a:t>UPV</a:t>
            </a:r>
            <a:endParaRPr lang="es-ES" dirty="0"/>
          </a:p>
          <a:p>
            <a:r>
              <a:rPr lang="es-ES" dirty="0"/>
              <a:t>UML Lucid </a:t>
            </a:r>
            <a:r>
              <a:rPr lang="es-ES" dirty="0">
                <a:hlinkClick r:id="rId3"/>
              </a:rPr>
              <a:t>Software</a:t>
            </a:r>
            <a:r>
              <a:rPr lang="es-ES" dirty="0"/>
              <a:t> explica inclusión y extensión</a:t>
            </a:r>
          </a:p>
          <a:p>
            <a:r>
              <a:rPr lang="es-ES" dirty="0"/>
              <a:t>Diagramas de secuencia </a:t>
            </a:r>
            <a:r>
              <a:rPr lang="es-ES" dirty="0">
                <a:hlinkClick r:id="rId4"/>
              </a:rPr>
              <a:t>Escobar</a:t>
            </a:r>
            <a:endParaRPr lang="es-ES" dirty="0"/>
          </a:p>
          <a:p>
            <a:r>
              <a:rPr lang="es-ES" dirty="0">
                <a:hlinkClick r:id="rId5"/>
              </a:rPr>
              <a:t>Apuntes</a:t>
            </a:r>
            <a:r>
              <a:rPr lang="es-ES" dirty="0"/>
              <a:t> de Luis del Moral</a:t>
            </a:r>
          </a:p>
          <a:p>
            <a:r>
              <a:rPr lang="es-ES" dirty="0"/>
              <a:t>Herramienta </a:t>
            </a:r>
            <a:r>
              <a:rPr lang="es-ES" dirty="0">
                <a:hlinkClick r:id="rId6"/>
              </a:rPr>
              <a:t>Draw.io</a:t>
            </a:r>
            <a:endParaRPr lang="es-ES" dirty="0"/>
          </a:p>
          <a:p>
            <a:r>
              <a:rPr lang="es-ES" dirty="0"/>
              <a:t>Herramienta </a:t>
            </a:r>
            <a:r>
              <a:rPr lang="es-ES" dirty="0">
                <a:hlinkClick r:id="rId7"/>
              </a:rPr>
              <a:t>sequencediagram.org</a:t>
            </a:r>
            <a:r>
              <a:rPr lang="es-ES" dirty="0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 dirty="0"/>
              <a:t>9.</a:t>
            </a:r>
            <a:r>
              <a:rPr lang="es-ES" baseline="0" dirty="0"/>
              <a:t> </a:t>
            </a:r>
            <a:r>
              <a:rPr lang="es-ES" dirty="0"/>
              <a:t>Bibliografía y recursos</a:t>
            </a:r>
          </a:p>
        </p:txBody>
      </p:sp>
    </p:spTree>
    <p:extLst>
      <p:ext uri="{BB962C8B-B14F-4D97-AF65-F5344CB8AC3E}">
        <p14:creationId xmlns:p14="http://schemas.microsoft.com/office/powerpoint/2010/main" val="1662085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381B-4871-3F29-1592-82C7F48E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12BB97F-120D-915C-0A8B-997A58C9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72D6898-2867-DF20-C7E5-C34CCCB666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Fomentar la lectura, la expresión oral y la comunicación audiovisual</a:t>
            </a:r>
          </a:p>
          <a:p>
            <a:pPr lvl="1"/>
            <a:r>
              <a:rPr lang="es-ES" dirty="0"/>
              <a:t>Enunciado</a:t>
            </a:r>
          </a:p>
          <a:p>
            <a:r>
              <a:rPr lang="es-ES" b="1" dirty="0"/>
              <a:t>Búsqueda en periódicos digitales generalistas</a:t>
            </a:r>
            <a:endParaRPr lang="es-ES" dirty="0"/>
          </a:p>
          <a:p>
            <a:pPr lvl="1"/>
            <a:r>
              <a:rPr lang="es-ES" dirty="0"/>
              <a:t>Busca una noticia que describa un sistema</a:t>
            </a:r>
          </a:p>
          <a:p>
            <a:pPr lvl="1"/>
            <a:r>
              <a:rPr lang="es-ES" dirty="0"/>
              <a:t>Describe con tus palabras el sistema</a:t>
            </a:r>
          </a:p>
          <a:p>
            <a:pPr lvl="1"/>
            <a:r>
              <a:rPr lang="es-ES" dirty="0"/>
              <a:t>Describe el sistema utilizando los diagramas de comportamiento que hemos trabajado</a:t>
            </a:r>
          </a:p>
          <a:p>
            <a:pPr lvl="1"/>
            <a:r>
              <a:rPr lang="es-ES" dirty="0"/>
              <a:t>Entrega en </a:t>
            </a:r>
            <a:r>
              <a:rPr lang="es-ES" dirty="0" err="1"/>
              <a:t>pdf</a:t>
            </a:r>
            <a:endParaRPr lang="es-ES" dirty="0"/>
          </a:p>
          <a:p>
            <a:pPr lvl="1"/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(ejemplo en notas: </a:t>
            </a:r>
            <a:r>
              <a:rPr lang="es-ES" err="1">
                <a:solidFill>
                  <a:schemeClr val="bg1">
                    <a:lumMod val="65000"/>
                  </a:schemeClr>
                </a:solidFill>
              </a:rPr>
              <a:t>microsiervos</a:t>
            </a:r>
            <a:r>
              <a:rPr lang="es-E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endParaRPr lang="es-E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67B854F-C1D3-BD5C-9630-3E0DD86B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TAREA ED60403# </a:t>
            </a:r>
          </a:p>
        </p:txBody>
      </p:sp>
    </p:spTree>
    <p:extLst>
      <p:ext uri="{BB962C8B-B14F-4D97-AF65-F5344CB8AC3E}">
        <p14:creationId xmlns:p14="http://schemas.microsoft.com/office/powerpoint/2010/main" val="2292523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A6A7-4CE0-E807-421B-3D22039D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F0117EB-6865-88D7-B0A6-209E8FA8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35C1262-5C86-EB24-C8A0-6F5B18F5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TAREA ED60403# 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68E71852-F777-0EA3-CC81-CC97BDB3F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9" y="862093"/>
            <a:ext cx="495223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05618"/>
      </p:ext>
    </p:extLst>
  </p:cSld>
  <p:clrMapOvr>
    <a:masterClrMapping/>
  </p:clrMapOvr>
</p:sld>
</file>

<file path=ppt/theme/theme1.xml><?xml version="1.0" encoding="utf-8"?>
<a:theme xmlns:a="http://schemas.openxmlformats.org/drawingml/2006/main" name="ED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" id="{025829BB-E26A-4598-9983-78D0A6F490C8}" vid="{8BF71C2D-7F2D-4401-99FE-11211852CF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</Template>
  <TotalTime>1533</TotalTime>
  <Words>1046</Words>
  <Application>Microsoft Office PowerPoint</Application>
  <PresentationFormat>Presentación en pantalla (4:3)</PresentationFormat>
  <Paragraphs>177</Paragraphs>
  <Slides>23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ED</vt:lpstr>
      <vt:lpstr>UT2b OTROS DIAGRAMAS</vt:lpstr>
      <vt:lpstr>CONTENIDO</vt:lpstr>
      <vt:lpstr>1. INTRODUCCIÓN</vt:lpstr>
      <vt:lpstr>Ejemplos</vt:lpstr>
      <vt:lpstr>5. Diagramas de secuencia</vt:lpstr>
      <vt:lpstr>5. Diagramas de secuencia</vt:lpstr>
      <vt:lpstr>5. Diagramas de secuencia</vt:lpstr>
      <vt:lpstr>5. Diagramas de secuencia</vt:lpstr>
      <vt:lpstr>5. Diagramas de secuencia</vt:lpstr>
      <vt:lpstr>5. Diagramas de secuencia</vt:lpstr>
      <vt:lpstr>5. Diagramas de secuencia</vt:lpstr>
      <vt:lpstr>5. Diagramas de secuencia</vt:lpstr>
      <vt:lpstr>5. Diagramas de secuencia</vt:lpstr>
      <vt:lpstr>5. Diagramas de secuencia TAREA ED6cd0401 BIBLIOTECA</vt:lpstr>
      <vt:lpstr>6. Diagramas de estados</vt:lpstr>
      <vt:lpstr>6. Diagramas de estados</vt:lpstr>
      <vt:lpstr>7. Diagrama de actividades</vt:lpstr>
      <vt:lpstr>7. Diagrama de actividades</vt:lpstr>
      <vt:lpstr>7. Diagrama de actividades</vt:lpstr>
      <vt:lpstr>8. TAREA ED6efgh0402 </vt:lpstr>
      <vt:lpstr>9. Bibliografía y recursos</vt:lpstr>
      <vt:lpstr>9. TAREA ED60403# </vt:lpstr>
      <vt:lpstr>9. TAREA ED60403#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Miguel Trigueros Muñoz</cp:lastModifiedBy>
  <cp:revision>73</cp:revision>
  <dcterms:modified xsi:type="dcterms:W3CDTF">2025-11-28T11:18:49Z</dcterms:modified>
</cp:coreProperties>
</file>